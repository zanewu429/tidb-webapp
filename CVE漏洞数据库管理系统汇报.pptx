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362" r:id="rId5"/>
    <p:sldId id="349" r:id="rId6"/>
    <p:sldId id="946" r:id="rId7"/>
    <p:sldId id="941" r:id="rId8"/>
    <p:sldId id="1068" r:id="rId9"/>
    <p:sldId id="1067" r:id="rId10"/>
    <p:sldId id="369" r:id="rId11"/>
    <p:sldId id="968" r:id="rId12"/>
    <p:sldId id="964" r:id="rId13"/>
    <p:sldId id="948" r:id="rId14"/>
    <p:sldId id="944" r:id="rId15"/>
    <p:sldId id="967" r:id="rId16"/>
    <p:sldId id="969" r:id="rId17"/>
    <p:sldId id="970" r:id="rId18"/>
    <p:sldId id="971" r:id="rId19"/>
    <p:sldId id="972" r:id="rId20"/>
    <p:sldId id="977" r:id="rId21"/>
    <p:sldId id="978" r:id="rId22"/>
    <p:sldId id="979" r:id="rId23"/>
    <p:sldId id="980" r:id="rId24"/>
    <p:sldId id="981" r:id="rId25"/>
    <p:sldId id="994" r:id="rId26"/>
    <p:sldId id="995" r:id="rId27"/>
    <p:sldId id="996" r:id="rId28"/>
    <p:sldId id="998" r:id="rId29"/>
    <p:sldId id="997" r:id="rId30"/>
    <p:sldId id="988" r:id="rId31"/>
    <p:sldId id="1000" r:id="rId32"/>
    <p:sldId id="1001" r:id="rId33"/>
    <p:sldId id="1002" r:id="rId34"/>
    <p:sldId id="1003" r:id="rId35"/>
    <p:sldId id="1004" r:id="rId36"/>
    <p:sldId id="999" r:id="rId37"/>
    <p:sldId id="987" r:id="rId38"/>
    <p:sldId id="1005" r:id="rId39"/>
    <p:sldId id="1008" r:id="rId40"/>
    <p:sldId id="1006" r:id="rId41"/>
    <p:sldId id="1007" r:id="rId42"/>
    <p:sldId id="1009" r:id="rId43"/>
    <p:sldId id="1010" r:id="rId44"/>
    <p:sldId id="1011" r:id="rId45"/>
    <p:sldId id="1016" r:id="rId46"/>
    <p:sldId id="1017" r:id="rId47"/>
    <p:sldId id="1018" r:id="rId48"/>
    <p:sldId id="1019" r:id="rId49"/>
    <p:sldId id="1021" r:id="rId50"/>
    <p:sldId id="966" r:id="rId51"/>
    <p:sldId id="1024" r:id="rId52"/>
    <p:sldId id="1028" r:id="rId53"/>
    <p:sldId id="1032" r:id="rId54"/>
    <p:sldId id="799" r:id="rId55"/>
    <p:sldId id="1038" r:id="rId56"/>
    <p:sldId id="1039" r:id="rId57"/>
    <p:sldId id="922" r:id="rId58"/>
    <p:sldId id="1040" r:id="rId59"/>
    <p:sldId id="1041" r:id="rId60"/>
    <p:sldId id="1042" r:id="rId61"/>
    <p:sldId id="1043" r:id="rId62"/>
    <p:sldId id="1044" r:id="rId63"/>
    <p:sldId id="1045" r:id="rId64"/>
    <p:sldId id="1046" r:id="rId65"/>
    <p:sldId id="1047" r:id="rId66"/>
    <p:sldId id="1048" r:id="rId67"/>
    <p:sldId id="1049" r:id="rId68"/>
    <p:sldId id="1050" r:id="rId69"/>
    <p:sldId id="1051" r:id="rId70"/>
    <p:sldId id="1052" r:id="rId71"/>
    <p:sldId id="1053" r:id="rId72"/>
    <p:sldId id="1054" r:id="rId73"/>
    <p:sldId id="1055" r:id="rId74"/>
    <p:sldId id="1056" r:id="rId75"/>
    <p:sldId id="938" r:id="rId76"/>
    <p:sldId id="905" r:id="rId77"/>
    <p:sldId id="781" r:id="rId78"/>
  </p:sldIdLst>
  <p:sldSz cx="12192000" cy="6858000"/>
  <p:notesSz cx="6858000" cy="9144000"/>
  <p:custDataLst>
    <p:tags r:id="rId8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AEAE"/>
    <a:srgbClr val="FFFFFF"/>
    <a:srgbClr val="000000"/>
    <a:srgbClr val="FF7171"/>
    <a:srgbClr val="FF9393"/>
    <a:srgbClr val="FAAD14"/>
    <a:srgbClr val="4472C4"/>
    <a:srgbClr val="7BB05E"/>
    <a:srgbClr val="0A4994"/>
    <a:srgbClr val="C425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30" autoAdjust="0"/>
  </p:normalViewPr>
  <p:slideViewPr>
    <p:cSldViewPr snapToGrid="0" showGuides="1">
      <p:cViewPr varScale="1">
        <p:scale>
          <a:sx n="89" d="100"/>
          <a:sy n="89" d="100"/>
        </p:scale>
        <p:origin x="120" y="49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gs" Target="tags/tag24.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5.xml"/><Relationship Id="rId79" Type="http://schemas.openxmlformats.org/officeDocument/2006/relationships/presProps" Target="presProps.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976AB7-EF00-4120-A6B7-3FF721B5CF5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EBA79-3CC3-488E-AE9E-42A6CE7EDAE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页眉占位符 4"/>
          <p:cNvSpPr>
            <a:spLocks noGrp="1"/>
          </p:cNvSpPr>
          <p:nvPr>
            <p:ph type="hdr" sz="quarter"/>
          </p:nvPr>
        </p:nvSpPr>
        <p:spPr/>
        <p:txBody>
          <a:bodyPr/>
          <a:lstStyle/>
          <a:p>
            <a:r>
              <a:rPr lang="zh-CN" altLang="en-US"/>
              <a:t>4</a:t>
            </a:r>
            <a:endParaRPr lang="zh-CN" altLang="en-US"/>
          </a:p>
        </p:txBody>
      </p:sp>
      <p:sp>
        <p:nvSpPr>
          <p:cNvPr id="4" name="灯片编号占位符 3"/>
          <p:cNvSpPr>
            <a:spLocks noGrp="1"/>
          </p:cNvSpPr>
          <p:nvPr>
            <p:ph type="sldNum" sz="quarter" idx="10"/>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5" name="页眉占位符 4"/>
          <p:cNvSpPr>
            <a:spLocks noGrp="1"/>
          </p:cNvSpPr>
          <p:nvPr>
            <p:ph type="hdr" sz="quarter"/>
          </p:nvPr>
        </p:nvSpPr>
        <p:spPr/>
        <p:txBody>
          <a:bodyPr/>
          <a:lstStyle/>
          <a:p>
            <a:r>
              <a:rPr lang="zh-CN" altLang="en-US"/>
              <a:t>4</a:t>
            </a:r>
            <a:endParaRPr lang="zh-CN" altLang="en-US"/>
          </a:p>
        </p:txBody>
      </p:sp>
      <p:sp>
        <p:nvSpPr>
          <p:cNvPr id="4" name="灯片编号占位符 3"/>
          <p:cNvSpPr>
            <a:spLocks noGrp="1"/>
          </p:cNvSpPr>
          <p:nvPr>
            <p:ph type="sldNum" sz="quarter" idx="10"/>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5" name="页眉占位符 4"/>
          <p:cNvSpPr>
            <a:spLocks noGrp="1"/>
          </p:cNvSpPr>
          <p:nvPr>
            <p:ph type="hdr" sz="quarter"/>
          </p:nvPr>
        </p:nvSpPr>
        <p:spPr/>
        <p:txBody>
          <a:bodyPr/>
          <a:lstStyle/>
          <a:p>
            <a:r>
              <a:rPr lang="zh-CN" altLang="en-US"/>
              <a:t>4</a:t>
            </a:r>
            <a:endParaRPr lang="zh-CN" altLang="en-US"/>
          </a:p>
        </p:txBody>
      </p:sp>
      <p:sp>
        <p:nvSpPr>
          <p:cNvPr id="4" name="灯片编号占位符 3"/>
          <p:cNvSpPr>
            <a:spLocks noGrp="1"/>
          </p:cNvSpPr>
          <p:nvPr>
            <p:ph type="sldNum" sz="quarter" idx="10"/>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endParaRPr lang="zh-CN" altLang="en-US"/>
          </a:p>
        </p:txBody>
      </p:sp>
      <p:sp>
        <p:nvSpPr>
          <p:cNvPr id="5" name="灯片编号占位符 4"/>
          <p:cNvSpPr>
            <a:spLocks noGrp="1"/>
          </p:cNvSpPr>
          <p:nvPr>
            <p:ph type="sldNum" sz="quarter" idx="5"/>
          </p:nvPr>
        </p:nvSpPr>
        <p:spPr/>
        <p:txBody>
          <a:bodyPr/>
          <a:lstStyle/>
          <a:p>
            <a:fld id="{994852F5-CE18-4F26-9A12-70FAE4F7827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endParaRPr lang="zh-CN" altLang="en-US"/>
          </a:p>
        </p:txBody>
      </p:sp>
      <p:sp>
        <p:nvSpPr>
          <p:cNvPr id="5" name="灯片编号占位符 4"/>
          <p:cNvSpPr>
            <a:spLocks noGrp="1"/>
          </p:cNvSpPr>
          <p:nvPr>
            <p:ph type="sldNum" sz="quarter" idx="5"/>
          </p:nvPr>
        </p:nvSpPr>
        <p:spPr/>
        <p:txBody>
          <a:bodyPr/>
          <a:lstStyle/>
          <a:p>
            <a:fld id="{994852F5-CE18-4F26-9A12-70FAE4F7827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5" name="页眉占位符 4"/>
          <p:cNvSpPr>
            <a:spLocks noGrp="1"/>
          </p:cNvSpPr>
          <p:nvPr>
            <p:ph type="hdr" sz="quarter"/>
          </p:nvPr>
        </p:nvSpPr>
        <p:spPr/>
        <p:txBody>
          <a:bodyPr/>
          <a:lstStyle/>
          <a:p>
            <a:r>
              <a:rPr lang="zh-CN" altLang="en-US"/>
              <a:t>4</a:t>
            </a:r>
            <a:endParaRPr lang="zh-CN" altLang="en-US"/>
          </a:p>
        </p:txBody>
      </p:sp>
      <p:sp>
        <p:nvSpPr>
          <p:cNvPr id="4" name="灯片编号占位符 3"/>
          <p:cNvSpPr>
            <a:spLocks noGrp="1"/>
          </p:cNvSpPr>
          <p:nvPr>
            <p:ph type="sldNum" sz="quarter" idx="10"/>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5" name="页眉占位符 4"/>
          <p:cNvSpPr>
            <a:spLocks noGrp="1"/>
          </p:cNvSpPr>
          <p:nvPr>
            <p:ph type="hdr" sz="quarter"/>
          </p:nvPr>
        </p:nvSpPr>
        <p:spPr/>
        <p:txBody>
          <a:bodyPr/>
          <a:lstStyle/>
          <a:p>
            <a:r>
              <a:rPr lang="zh-CN" altLang="en-US"/>
              <a:t>4</a:t>
            </a:r>
            <a:endParaRPr lang="zh-CN" altLang="en-US"/>
          </a:p>
        </p:txBody>
      </p:sp>
      <p:sp>
        <p:nvSpPr>
          <p:cNvPr id="4" name="灯片编号占位符 3"/>
          <p:cNvSpPr>
            <a:spLocks noGrp="1"/>
          </p:cNvSpPr>
          <p:nvPr>
            <p:ph type="sldNum" sz="quarter" idx="10"/>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EBA79-3CC3-488E-AE9E-42A6CE7EDAE2}"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5" name="页眉占位符 4"/>
          <p:cNvSpPr>
            <a:spLocks noGrp="1"/>
          </p:cNvSpPr>
          <p:nvPr>
            <p:ph type="hdr" sz="quarter"/>
          </p:nvPr>
        </p:nvSpPr>
        <p:spPr/>
        <p:txBody>
          <a:bodyPr/>
          <a:lstStyle/>
          <a:p>
            <a:r>
              <a:rPr lang="zh-CN" altLang="en-US"/>
              <a:t>4</a:t>
            </a:r>
            <a:endParaRPr lang="zh-CN" altLang="en-US"/>
          </a:p>
        </p:txBody>
      </p:sp>
      <p:sp>
        <p:nvSpPr>
          <p:cNvPr id="4" name="灯片编号占位符 3"/>
          <p:cNvSpPr>
            <a:spLocks noGrp="1"/>
          </p:cNvSpPr>
          <p:nvPr>
            <p:ph type="sldNum" sz="quarter" idx="10"/>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endParaRPr lang="zh-CN" altLang="en-US"/>
          </a:p>
        </p:txBody>
      </p:sp>
      <p:sp>
        <p:nvSpPr>
          <p:cNvPr id="5" name="灯片编号占位符 4"/>
          <p:cNvSpPr>
            <a:spLocks noGrp="1"/>
          </p:cNvSpPr>
          <p:nvPr>
            <p:ph type="sldNum" sz="quarter" idx="5"/>
          </p:nvPr>
        </p:nvSpPr>
        <p:spPr/>
        <p:txBody>
          <a:bodyPr/>
          <a:lstStyle/>
          <a:p>
            <a:fld id="{994852F5-CE18-4F26-9A12-70FAE4F7827E}"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A40653-0D02-614A-AF76-A6641B0140A3}"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712E4B5-6FCA-4A38-B799-ADF3BC6984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B8643-62D4-457E-8793-38CB241F7B9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标题幻灯片">
    <p:bg>
      <p:bgRef idx="1001">
        <a:schemeClr val="bg1"/>
      </p:bgRef>
    </p:bg>
    <p:spTree>
      <p:nvGrpSpPr>
        <p:cNvPr id="1" name=""/>
        <p:cNvGrpSpPr/>
        <p:nvPr/>
      </p:nvGrpSpPr>
      <p:grpSpPr>
        <a:xfrm>
          <a:off x="0" y="0"/>
          <a:ext cx="0" cy="0"/>
          <a:chOff x="0" y="0"/>
          <a:chExt cx="0" cy="0"/>
        </a:xfrm>
      </p:grpSpPr>
      <p:pic>
        <p:nvPicPr>
          <p:cNvPr id="4" name="图片 3"/>
          <p:cNvPicPr>
            <a:picLocks noChangeAspect="1"/>
          </p:cNvPicPr>
          <p:nvPr/>
        </p:nvPicPr>
        <p:blipFill>
          <a:blip r:embed="rId2">
            <a:alphaModFix amt="5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886" y="1"/>
            <a:ext cx="12192000" cy="6858000"/>
          </a:xfrm>
          <a:prstGeom prst="rect">
            <a:avLst/>
          </a:prstGeom>
        </p:spPr>
      </p:pic>
      <p:sp>
        <p:nvSpPr>
          <p:cNvPr id="9801" name="副标题 2"/>
          <p:cNvSpPr>
            <a:spLocks noGrp="1"/>
          </p:cNvSpPr>
          <p:nvPr>
            <p:ph type="subTitle" idx="1"/>
          </p:nvPr>
        </p:nvSpPr>
        <p:spPr>
          <a:xfrm>
            <a:off x="673100" y="3870251"/>
            <a:ext cx="10845800" cy="468637"/>
          </a:xfrm>
        </p:spPr>
        <p:txBody>
          <a:bodyPr anchor="ctr" anchorCtr="1">
            <a:normAutofit/>
          </a:bodyPr>
          <a:lstStyle>
            <a:lvl1pPr marL="0" indent="0" algn="ctr">
              <a:buNone/>
              <a:defRPr sz="2400">
                <a:solidFill>
                  <a:srgbClr val="38447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sp>
        <p:nvSpPr>
          <p:cNvPr id="9802" name="标题 1"/>
          <p:cNvSpPr>
            <a:spLocks noGrp="1"/>
          </p:cNvSpPr>
          <p:nvPr>
            <p:ph type="ctrTitle"/>
          </p:nvPr>
        </p:nvSpPr>
        <p:spPr>
          <a:xfrm>
            <a:off x="673099" y="2920209"/>
            <a:ext cx="10845800" cy="894050"/>
          </a:xfrm>
        </p:spPr>
        <p:txBody>
          <a:bodyPr anchor="ctr" anchorCtr="1">
            <a:normAutofit/>
          </a:bodyPr>
          <a:lstStyle>
            <a:lvl1pPr algn="ctr">
              <a:defRPr sz="4000">
                <a:solidFill>
                  <a:schemeClr val="tx1"/>
                </a:solidFill>
              </a:defRPr>
            </a:lvl1pPr>
          </a:lstStyle>
          <a:p>
            <a:r>
              <a:rPr lang="zh-CN" altLang="en-US"/>
              <a:t>单击此处编辑母版标题样式</a:t>
            </a:r>
            <a:endParaRPr lang="zh-CN" altLang="en-US" dirty="0"/>
          </a:p>
        </p:txBody>
      </p:sp>
      <p:sp>
        <p:nvSpPr>
          <p:cNvPr id="12" name="文本占位符 13"/>
          <p:cNvSpPr>
            <a:spLocks noGrp="1"/>
          </p:cNvSpPr>
          <p:nvPr>
            <p:ph type="body" sz="quarter" idx="10" hasCustomPrompt="1"/>
          </p:nvPr>
        </p:nvSpPr>
        <p:spPr>
          <a:xfrm>
            <a:off x="673099" y="4394880"/>
            <a:ext cx="10845800" cy="371475"/>
          </a:xfrm>
        </p:spPr>
        <p:txBody>
          <a:bodyPr anchor="ctr">
            <a:normAutofit/>
          </a:bodyPr>
          <a:lstStyle>
            <a:lvl1pPr marL="0" indent="0" algn="ctr">
              <a:buNone/>
              <a:defRPr sz="1200" b="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署名</a:t>
            </a:r>
            <a:endParaRPr lang="zh-CN" altLang="en-US" dirty="0"/>
          </a:p>
        </p:txBody>
      </p:sp>
      <p:sp>
        <p:nvSpPr>
          <p:cNvPr id="13" name="文本占位符 13"/>
          <p:cNvSpPr>
            <a:spLocks noGrp="1"/>
          </p:cNvSpPr>
          <p:nvPr>
            <p:ph type="body" sz="quarter" idx="11" hasCustomPrompt="1"/>
          </p:nvPr>
        </p:nvSpPr>
        <p:spPr>
          <a:xfrm>
            <a:off x="673099" y="4766355"/>
            <a:ext cx="10845800" cy="371475"/>
          </a:xfrm>
        </p:spPr>
        <p:txBody>
          <a:bodyPr anchor="ctr">
            <a:normAutofit/>
          </a:bodyPr>
          <a:lstStyle>
            <a:lvl1pPr marL="0" indent="0" algn="ctr">
              <a:buNone/>
              <a:defRPr sz="1200" b="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日期</a:t>
            </a:r>
            <a:endParaRPr lang="zh-CN" altLang="en-US" dirty="0"/>
          </a:p>
        </p:txBody>
      </p:sp>
      <p:sp>
        <p:nvSpPr>
          <p:cNvPr id="8" name="Rectangle 7"/>
          <p:cNvSpPr/>
          <p:nvPr/>
        </p:nvSpPr>
        <p:spPr>
          <a:xfrm>
            <a:off x="0" y="0"/>
            <a:ext cx="381000" cy="3429000"/>
          </a:xfrm>
          <a:prstGeom prst="rect">
            <a:avLst/>
          </a:prstGeom>
          <a:solidFill>
            <a:srgbClr val="C425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9" name="Rectangle 8"/>
          <p:cNvSpPr/>
          <p:nvPr/>
        </p:nvSpPr>
        <p:spPr>
          <a:xfrm>
            <a:off x="0" y="0"/>
            <a:ext cx="381000" cy="381000"/>
          </a:xfrm>
          <a:prstGeom prst="rect">
            <a:avLst/>
          </a:prstGeom>
          <a:solidFill>
            <a:srgbClr val="006C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Group 1"/>
          <p:cNvGrpSpPr/>
          <p:nvPr/>
        </p:nvGrpSpPr>
        <p:grpSpPr>
          <a:xfrm>
            <a:off x="8763001" y="6477000"/>
            <a:ext cx="3429000" cy="381000"/>
            <a:chOff x="8763001" y="6477000"/>
            <a:chExt cx="3429000" cy="381000"/>
          </a:xfrm>
        </p:grpSpPr>
        <p:sp>
          <p:nvSpPr>
            <p:cNvPr id="10" name="Rectangle 9"/>
            <p:cNvSpPr/>
            <p:nvPr userDrawn="1"/>
          </p:nvSpPr>
          <p:spPr>
            <a:xfrm rot="5400000">
              <a:off x="10287001" y="4953000"/>
              <a:ext cx="381000" cy="3429000"/>
            </a:xfrm>
            <a:prstGeom prst="rect">
              <a:avLst/>
            </a:prstGeom>
            <a:solidFill>
              <a:srgbClr val="C425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4" name="Rectangle 13"/>
            <p:cNvSpPr/>
            <p:nvPr userDrawn="1"/>
          </p:nvSpPr>
          <p:spPr>
            <a:xfrm rot="5400000">
              <a:off x="11811001" y="6477000"/>
              <a:ext cx="381000" cy="381000"/>
            </a:xfrm>
            <a:prstGeom prst="rect">
              <a:avLst/>
            </a:prstGeom>
            <a:solidFill>
              <a:srgbClr val="006C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1028" name="Picture 4" descr="http://zsjy.gzhu.edu.cn/images/pic_logo.png"/>
          <p:cNvPicPr>
            <a:picLocks noChangeAspect="1" noChangeArrowheads="1"/>
          </p:cNvPicPr>
          <p:nvPr/>
        </p:nvPicPr>
        <p:blipFill rotWithShape="1">
          <a:blip r:embed="rId3">
            <a:extLst>
              <a:ext uri="{28A0092B-C50C-407E-A947-70E740481C1C}">
                <a14:useLocalDpi xmlns:a14="http://schemas.microsoft.com/office/drawing/2010/main" val="0"/>
              </a:ext>
            </a:extLst>
          </a:blip>
          <a:srcRect t="-1" r="45034" b="-7143"/>
          <a:stretch>
            <a:fillRect/>
          </a:stretch>
        </p:blipFill>
        <p:spPr bwMode="auto">
          <a:xfrm>
            <a:off x="391886" y="-1"/>
            <a:ext cx="3463289" cy="1028700"/>
          </a:xfrm>
          <a:prstGeom prst="rect">
            <a:avLst/>
          </a:prstGeom>
          <a:noFill/>
          <a:extLst>
            <a:ext uri="{909E8E84-426E-40DD-AFC4-6F175D3DCCD1}">
              <a14:hiddenFill xmlns:a14="http://schemas.microsoft.com/office/drawing/2010/main">
                <a:solidFill>
                  <a:srgbClr val="FFFFFF"/>
                </a:solidFill>
              </a14:hiddenFill>
            </a:ext>
          </a:extLst>
        </p:spPr>
      </p:pic>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95063" y="-19958"/>
            <a:ext cx="1484186" cy="1068614"/>
          </a:xfrm>
          <a:prstGeom prst="rect">
            <a:avLst/>
          </a:prstGeom>
        </p:spPr>
      </p:pic>
      <p:pic>
        <p:nvPicPr>
          <p:cNvPr id="5" name="图片 4"/>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766717" y="-19959"/>
            <a:ext cx="1128346" cy="1115277"/>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目录">
    <p:spTree>
      <p:nvGrpSpPr>
        <p:cNvPr id="1" name=""/>
        <p:cNvGrpSpPr/>
        <p:nvPr/>
      </p:nvGrpSpPr>
      <p:grpSpPr>
        <a:xfrm>
          <a:off x="0" y="0"/>
          <a:ext cx="0" cy="0"/>
          <a:chOff x="0" y="0"/>
          <a:chExt cx="0" cy="0"/>
        </a:xfrm>
      </p:grpSpPr>
      <p:sp>
        <p:nvSpPr>
          <p:cNvPr id="7" name="Rectangle 6"/>
          <p:cNvSpPr/>
          <p:nvPr userDrawn="1"/>
        </p:nvSpPr>
        <p:spPr>
          <a:xfrm>
            <a:off x="11582401" y="381000"/>
            <a:ext cx="609600" cy="6477000"/>
          </a:xfrm>
          <a:prstGeom prst="rect">
            <a:avLst/>
          </a:prstGeom>
          <a:solidFill>
            <a:srgbClr val="006C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8" name="Rectangle 7"/>
          <p:cNvSpPr/>
          <p:nvPr userDrawn="1"/>
        </p:nvSpPr>
        <p:spPr>
          <a:xfrm>
            <a:off x="11582400" y="0"/>
            <a:ext cx="612648"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0" name="Picture Placeholder 28"/>
          <p:cNvSpPr>
            <a:spLocks noGrp="1"/>
          </p:cNvSpPr>
          <p:nvPr>
            <p:ph type="pic" sz="quarter" idx="10"/>
          </p:nvPr>
        </p:nvSpPr>
        <p:spPr>
          <a:xfrm>
            <a:off x="0" y="0"/>
            <a:ext cx="3352800" cy="6858000"/>
          </a:xfrm>
        </p:spPr>
        <p:txBody>
          <a:bodyPr/>
          <a:lstStyle/>
          <a:p>
            <a:endParaRPr lang="en-MY"/>
          </a:p>
        </p:txBody>
      </p:sp>
      <p:sp>
        <p:nvSpPr>
          <p:cNvPr id="11" name="标题 1"/>
          <p:cNvSpPr>
            <a:spLocks noGrp="1"/>
          </p:cNvSpPr>
          <p:nvPr>
            <p:ph type="ctrTitle"/>
          </p:nvPr>
        </p:nvSpPr>
        <p:spPr>
          <a:xfrm>
            <a:off x="3944679" y="0"/>
            <a:ext cx="7575809" cy="1028700"/>
          </a:xfrm>
        </p:spPr>
        <p:txBody>
          <a:bodyPr lIns="0" anchor="b" anchorCtr="0">
            <a:normAutofit/>
          </a:bodyPr>
          <a:lstStyle>
            <a:lvl1pPr algn="l">
              <a:defRPr sz="4000">
                <a:solidFill>
                  <a:schemeClr val="tx1"/>
                </a:solidFill>
              </a:defRPr>
            </a:lvl1pPr>
          </a:lstStyle>
          <a:p>
            <a:endParaRPr lang="zh-CN" altLang="en-US"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自定义版式">
    <p:spTree>
      <p:nvGrpSpPr>
        <p:cNvPr id="1" name=""/>
        <p:cNvGrpSpPr/>
        <p:nvPr/>
      </p:nvGrpSpPr>
      <p:grpSpPr>
        <a:xfrm>
          <a:off x="0" y="0"/>
          <a:ext cx="0" cy="0"/>
          <a:chOff x="0" y="0"/>
          <a:chExt cx="0" cy="0"/>
        </a:xfrm>
      </p:grpSpPr>
      <p:grpSp>
        <p:nvGrpSpPr>
          <p:cNvPr id="8" name="Group 8"/>
          <p:cNvGrpSpPr/>
          <p:nvPr userDrawn="1"/>
        </p:nvGrpSpPr>
        <p:grpSpPr>
          <a:xfrm>
            <a:off x="-795" y="6214369"/>
            <a:ext cx="12192000" cy="647281"/>
            <a:chOff x="0" y="6248400"/>
            <a:chExt cx="12192000" cy="609600"/>
          </a:xfrm>
        </p:grpSpPr>
        <p:sp>
          <p:nvSpPr>
            <p:cNvPr id="9" name="Rectangle 9"/>
            <p:cNvSpPr/>
            <p:nvPr/>
          </p:nvSpPr>
          <p:spPr>
            <a:xfrm>
              <a:off x="0" y="6248400"/>
              <a:ext cx="12192000" cy="609600"/>
            </a:xfrm>
            <a:prstGeom prst="rect">
              <a:avLst/>
            </a:prstGeom>
            <a:solidFill>
              <a:srgbClr val="006C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0" name="Rectangle 12"/>
            <p:cNvSpPr/>
            <p:nvPr userDrawn="1"/>
          </p:nvSpPr>
          <p:spPr>
            <a:xfrm>
              <a:off x="0" y="6248400"/>
              <a:ext cx="152400" cy="609600"/>
            </a:xfrm>
            <a:prstGeom prst="rect">
              <a:avLst/>
            </a:prstGeom>
            <a:solidFill>
              <a:srgbClr val="C425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sp>
        <p:nvSpPr>
          <p:cNvPr id="12" name="标题 1"/>
          <p:cNvSpPr>
            <a:spLocks noGrp="1"/>
          </p:cNvSpPr>
          <p:nvPr>
            <p:ph type="title"/>
          </p:nvPr>
        </p:nvSpPr>
        <p:spPr>
          <a:xfrm>
            <a:off x="669924" y="0"/>
            <a:ext cx="10850563" cy="1028700"/>
          </a:xfrm>
        </p:spPr>
        <p:txBody>
          <a:bodyPr anchor="b" anchorCtr="0">
            <a:normAutofit/>
          </a:bodyPr>
          <a:lstStyle>
            <a:lvl1pPr>
              <a:defRPr sz="4000">
                <a:solidFill>
                  <a:srgbClr val="394479"/>
                </a:solidFill>
              </a:defRPr>
            </a:lvl1pPr>
          </a:lstStyle>
          <a:p>
            <a:r>
              <a:rPr lang="zh-CN" altLang="en-US" dirty="0"/>
              <a:t>单击此处编辑母版标题样式</a:t>
            </a:r>
            <a:endParaRPr lang="zh-CN" altLang="en-US" dirty="0"/>
          </a:p>
        </p:txBody>
      </p:sp>
      <p:grpSp>
        <p:nvGrpSpPr>
          <p:cNvPr id="18" name="Group 13"/>
          <p:cNvGrpSpPr/>
          <p:nvPr userDrawn="1"/>
        </p:nvGrpSpPr>
        <p:grpSpPr>
          <a:xfrm>
            <a:off x="669925" y="1028700"/>
            <a:ext cx="10850563" cy="45719"/>
            <a:chOff x="0" y="990600"/>
            <a:chExt cx="12192001" cy="45719"/>
          </a:xfrm>
          <a:solidFill>
            <a:srgbClr val="C4251F"/>
          </a:solidFill>
        </p:grpSpPr>
        <p:sp>
          <p:nvSpPr>
            <p:cNvPr id="19" name="Rectangle 14"/>
            <p:cNvSpPr/>
            <p:nvPr/>
          </p:nvSpPr>
          <p:spPr>
            <a:xfrm>
              <a:off x="0" y="990600"/>
              <a:ext cx="11811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20" name="Rectangle 15"/>
            <p:cNvSpPr/>
            <p:nvPr/>
          </p:nvSpPr>
          <p:spPr>
            <a:xfrm>
              <a:off x="11623040" y="990600"/>
              <a:ext cx="56896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21" name="图片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4482" y="6206331"/>
            <a:ext cx="963524" cy="693737"/>
          </a:xfrm>
          <a:prstGeom prst="rect">
            <a:avLst/>
          </a:prstGeom>
        </p:spPr>
      </p:pic>
      <p:pic>
        <p:nvPicPr>
          <p:cNvPr id="23" name="图片 2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402572" y="6176962"/>
            <a:ext cx="2438400" cy="752475"/>
          </a:xfrm>
          <a:prstGeom prst="rect">
            <a:avLst/>
          </a:prstGeom>
        </p:spPr>
      </p:pic>
      <p:sp>
        <p:nvSpPr>
          <p:cNvPr id="24" name="灯片编号占位符 1"/>
          <p:cNvSpPr txBox="1"/>
          <p:nvPr userDrawn="1"/>
        </p:nvSpPr>
        <p:spPr>
          <a:xfrm>
            <a:off x="5598901" y="6370636"/>
            <a:ext cx="65353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070043-2444-466C-ADC2-A7E2741F5A19}" type="slidenum">
              <a:rPr lang="zh-CN" altLang="en-US" sz="2400" b="1" smtClean="0">
                <a:solidFill>
                  <a:schemeClr val="bg1"/>
                </a:solidFill>
              </a:rPr>
            </a:fld>
            <a:endParaRPr lang="zh-CN" altLang="en-US" b="1" dirty="0">
              <a:solidFill>
                <a:schemeClr val="bg1"/>
              </a:solidFill>
            </a:endParaRPr>
          </a:p>
        </p:txBody>
      </p:sp>
      <p:pic>
        <p:nvPicPr>
          <p:cNvPr id="4" name="图片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10492" y="6220655"/>
            <a:ext cx="642368" cy="6349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节标题">
    <p:bg>
      <p:bgRef idx="1001">
        <a:schemeClr val="bg1"/>
      </p:bgRef>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1609756" cy="6858000"/>
          </a:xfrm>
          <a:prstGeom prst="rect">
            <a:avLst/>
          </a:prstGeom>
        </p:spPr>
      </p:pic>
      <p:sp>
        <p:nvSpPr>
          <p:cNvPr id="5" name="Rectangle 4"/>
          <p:cNvSpPr/>
          <p:nvPr userDrawn="1"/>
        </p:nvSpPr>
        <p:spPr>
          <a:xfrm>
            <a:off x="11582401" y="381000"/>
            <a:ext cx="609600" cy="6477000"/>
          </a:xfrm>
          <a:prstGeom prst="rect">
            <a:avLst/>
          </a:prstGeom>
          <a:solidFill>
            <a:srgbClr val="006C30"/>
          </a:solidFill>
          <a:ln>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p:grpSpPr>
        <p:sp>
          <p:nvSpPr>
            <p:cNvPr id="8" name="Rectangle 7"/>
            <p:cNvSpPr/>
            <p:nvPr/>
          </p:nvSpPr>
          <p:spPr>
            <a:xfrm>
              <a:off x="4541217" y="1516136"/>
              <a:ext cx="3109566" cy="651569"/>
            </a:xfrm>
            <a:prstGeom prst="rect">
              <a:avLst/>
            </a:prstGeom>
            <a:noFill/>
            <a:ln w="38100">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6C30"/>
          </a:solidFill>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末尾幻灯片">
    <p:bg>
      <p:bgRef idx="1001">
        <a:schemeClr val="bg1"/>
      </p:bgRef>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10000"/>
            <a:extLst>
              <a:ext uri="{28A0092B-C50C-407E-A947-70E740481C1C}">
                <a14:useLocalDpi xmlns:a14="http://schemas.microsoft.com/office/drawing/2010/main" val="0"/>
              </a:ext>
            </a:extLst>
          </a:blip>
          <a:stretch>
            <a:fillRect/>
          </a:stretch>
        </p:blipFill>
        <p:spPr>
          <a:xfrm>
            <a:off x="-1" y="-1"/>
            <a:ext cx="12192000" cy="6858001"/>
          </a:xfrm>
          <a:prstGeom prst="rect">
            <a:avLst/>
          </a:prstGeom>
        </p:spPr>
      </p:pic>
      <p:sp>
        <p:nvSpPr>
          <p:cNvPr id="13" name="标题 1"/>
          <p:cNvSpPr>
            <a:spLocks noGrp="1"/>
          </p:cNvSpPr>
          <p:nvPr>
            <p:ph type="ctrTitle" hasCustomPrompt="1"/>
          </p:nvPr>
        </p:nvSpPr>
        <p:spPr>
          <a:xfrm>
            <a:off x="669924" y="3456451"/>
            <a:ext cx="10850563" cy="869854"/>
          </a:xfrm>
        </p:spPr>
        <p:txBody>
          <a:bodyPr anchor="b">
            <a:normAutofit/>
          </a:bodyPr>
          <a:lstStyle>
            <a:lvl1pPr marL="0" indent="0" algn="ctr">
              <a:buFont typeface="Arial" panose="020B0604020202020204" pitchFamily="34" charset="0"/>
              <a:buNone/>
              <a:defRPr sz="3200">
                <a:solidFill>
                  <a:schemeClr val="tx1"/>
                </a:solidFill>
              </a:defRPr>
            </a:lvl1pPr>
          </a:lstStyle>
          <a:p>
            <a:r>
              <a:rPr lang="zh-CN" altLang="en-US" dirty="0"/>
              <a:t>结束语</a:t>
            </a:r>
            <a:endParaRPr lang="zh-CN" altLang="en-US" dirty="0"/>
          </a:p>
        </p:txBody>
      </p:sp>
      <p:sp>
        <p:nvSpPr>
          <p:cNvPr id="14" name="文本占位符 62"/>
          <p:cNvSpPr>
            <a:spLocks noGrp="1"/>
          </p:cNvSpPr>
          <p:nvPr>
            <p:ph type="body" sz="quarter" idx="17" hasCustomPrompt="1"/>
          </p:nvPr>
        </p:nvSpPr>
        <p:spPr>
          <a:xfrm>
            <a:off x="669924" y="4406734"/>
            <a:ext cx="10850563" cy="310871"/>
          </a:xfrm>
        </p:spPr>
        <p:txBody>
          <a:bodyPr vert="horz" lIns="91440" tIns="45720" rIns="91440" bIns="45720" rtlCol="0">
            <a:normAutofit/>
          </a:bodyPr>
          <a:lstStyle>
            <a:lvl1pPr marL="0" indent="0" algn="ctr">
              <a:buNone/>
              <a:defRPr lang="zh-CN" altLang="en-US" sz="1200" smtClean="0">
                <a:solidFill>
                  <a:schemeClr val="accent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署名</a:t>
            </a:r>
            <a:endParaRPr lang="en-US" altLang="zh-CN" dirty="0"/>
          </a:p>
        </p:txBody>
      </p:sp>
      <p:sp>
        <p:nvSpPr>
          <p:cNvPr id="15" name="文本占位符 62"/>
          <p:cNvSpPr>
            <a:spLocks noGrp="1"/>
          </p:cNvSpPr>
          <p:nvPr>
            <p:ph type="body" sz="quarter" idx="18" hasCustomPrompt="1"/>
          </p:nvPr>
        </p:nvSpPr>
        <p:spPr>
          <a:xfrm>
            <a:off x="669924" y="4722368"/>
            <a:ext cx="10850563" cy="310871"/>
          </a:xfrm>
        </p:spPr>
        <p:txBody>
          <a:bodyPr vert="horz" lIns="91440" tIns="45720" rIns="91440" bIns="45720" rtlCol="0">
            <a:normAutofit/>
          </a:bodyPr>
          <a:lstStyle>
            <a:lvl1pPr marL="0" indent="0" algn="ctr">
              <a:buNone/>
              <a:defRPr lang="zh-CN" altLang="en-US" sz="12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时间日期</a:t>
            </a:r>
            <a:endParaRPr lang="en-US" altLang="zh-CN" dirty="0"/>
          </a:p>
        </p:txBody>
      </p:sp>
      <p:grpSp>
        <p:nvGrpSpPr>
          <p:cNvPr id="6" name="Group 5"/>
          <p:cNvGrpSpPr/>
          <p:nvPr userDrawn="1"/>
        </p:nvGrpSpPr>
        <p:grpSpPr>
          <a:xfrm rot="5400000">
            <a:off x="10442716" y="202243"/>
            <a:ext cx="69568" cy="3429000"/>
            <a:chOff x="0" y="0"/>
            <a:chExt cx="381000" cy="3429000"/>
          </a:xfrm>
        </p:grpSpPr>
        <p:sp>
          <p:nvSpPr>
            <p:cNvPr id="7" name="Rectangle 6"/>
            <p:cNvSpPr/>
            <p:nvPr userDrawn="1"/>
          </p:nvSpPr>
          <p:spPr>
            <a:xfrm>
              <a:off x="0" y="0"/>
              <a:ext cx="381000" cy="3429000"/>
            </a:xfrm>
            <a:prstGeom prst="rect">
              <a:avLst/>
            </a:prstGeom>
            <a:solidFill>
              <a:srgbClr val="006C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8" name="Rectangle 7"/>
            <p:cNvSpPr/>
            <p:nvPr userDrawn="1"/>
          </p:nvSpPr>
          <p:spPr>
            <a:xfrm>
              <a:off x="0" y="0"/>
              <a:ext cx="38100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grpSp>
        <p:nvGrpSpPr>
          <p:cNvPr id="12" name="Group 11"/>
          <p:cNvGrpSpPr/>
          <p:nvPr userDrawn="1"/>
        </p:nvGrpSpPr>
        <p:grpSpPr>
          <a:xfrm rot="16200000">
            <a:off x="1679716" y="202243"/>
            <a:ext cx="69568" cy="3429000"/>
            <a:chOff x="0" y="0"/>
            <a:chExt cx="381000" cy="3429000"/>
          </a:xfrm>
        </p:grpSpPr>
        <p:sp>
          <p:nvSpPr>
            <p:cNvPr id="16" name="Rectangle 15"/>
            <p:cNvSpPr/>
            <p:nvPr userDrawn="1"/>
          </p:nvSpPr>
          <p:spPr>
            <a:xfrm>
              <a:off x="0" y="0"/>
              <a:ext cx="381000" cy="3429000"/>
            </a:xfrm>
            <a:prstGeom prst="rect">
              <a:avLst/>
            </a:prstGeom>
            <a:solidFill>
              <a:srgbClr val="006C30"/>
            </a:solidFill>
            <a:ln>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7" name="Rectangle 16"/>
            <p:cNvSpPr/>
            <p:nvPr userDrawn="1"/>
          </p:nvSpPr>
          <p:spPr>
            <a:xfrm>
              <a:off x="0" y="0"/>
              <a:ext cx="38100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90465" y="1123950"/>
            <a:ext cx="1553273" cy="1553273"/>
          </a:xfrm>
          <a:prstGeom prst="rect">
            <a:avLst/>
          </a:prstGeom>
        </p:spPr>
      </p:pic>
      <p:pic>
        <p:nvPicPr>
          <p:cNvPr id="18" name="图片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68591" y="1140104"/>
            <a:ext cx="2157323" cy="1553273"/>
          </a:xfrm>
          <a:prstGeom prst="rect">
            <a:avLst/>
          </a:prstGeom>
        </p:spPr>
      </p:pic>
      <p:pic>
        <p:nvPicPr>
          <p:cNvPr id="20" name="图片 1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40996" y="1077943"/>
            <a:ext cx="1677597" cy="1677597"/>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12E4B5-6FCA-4A38-B799-ADF3BC6984F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BB8643-62D4-457E-8793-38CB241F7B9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notesSlide" Target="../notesSlides/notesSlide2.xml"/><Relationship Id="rId18" Type="http://schemas.openxmlformats.org/officeDocument/2006/relationships/slideLayout" Target="../slideLayouts/slideLayout13.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4.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3" Type="http://schemas.openxmlformats.org/officeDocument/2006/relationships/notesSlide" Target="../notesSlides/notesSlide11.xml"/><Relationship Id="rId12" Type="http://schemas.openxmlformats.org/officeDocument/2006/relationships/slideLayout" Target="../slideLayouts/slideLayout14.xml"/><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4.xml"/><Relationship Id="rId2" Type="http://schemas.openxmlformats.org/officeDocument/2006/relationships/image" Target="../media/image30.png"/><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4.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4.xml"/><Relationship Id="rId2" Type="http://schemas.openxmlformats.org/officeDocument/2006/relationships/image" Target="../media/image37.png"/><Relationship Id="rId1"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4.xml"/><Relationship Id="rId1" Type="http://schemas.openxmlformats.org/officeDocument/2006/relationships/tags" Target="../tags/tag2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4.xml"/><Relationship Id="rId1"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4.xml"/><Relationship Id="rId1" Type="http://schemas.openxmlformats.org/officeDocument/2006/relationships/image" Target="../media/image40.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4.xml"/><Relationship Id="rId2" Type="http://schemas.openxmlformats.org/officeDocument/2006/relationships/image" Target="../media/image42.png"/><Relationship Id="rId1" Type="http://schemas.openxmlformats.org/officeDocument/2006/relationships/image" Target="../media/image41.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4.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image" Target="../media/image4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4.xml"/><Relationship Id="rId1" Type="http://schemas.openxmlformats.org/officeDocument/2006/relationships/image" Target="../media/image47.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4.xml"/><Relationship Id="rId2" Type="http://schemas.openxmlformats.org/officeDocument/2006/relationships/image" Target="../media/image49.png"/><Relationship Id="rId1"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4.xml"/><Relationship Id="rId1"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4.xml"/><Relationship Id="rId1"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4.xml"/><Relationship Id="rId1"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4.xml"/><Relationship Id="rId1" Type="http://schemas.openxmlformats.org/officeDocument/2006/relationships/image" Target="../media/image5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4.xml"/><Relationship Id="rId1"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4.xml"/><Relationship Id="rId1" Type="http://schemas.openxmlformats.org/officeDocument/2006/relationships/image" Target="../media/image5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4.xml"/><Relationship Id="rId1" Type="http://schemas.openxmlformats.org/officeDocument/2006/relationships/image" Target="../media/image56.png"/></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14.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4.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4.xml"/><Relationship Id="rId2" Type="http://schemas.openxmlformats.org/officeDocument/2006/relationships/image" Target="../media/image64.png"/><Relationship Id="rId1" Type="http://schemas.openxmlformats.org/officeDocument/2006/relationships/image" Target="../media/image63.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4.xml"/><Relationship Id="rId2" Type="http://schemas.openxmlformats.org/officeDocument/2006/relationships/image" Target="../media/image66.png"/><Relationship Id="rId1"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4.xml"/><Relationship Id="rId1" Type="http://schemas.openxmlformats.org/officeDocument/2006/relationships/image" Target="../media/image6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4.xml"/><Relationship Id="rId1" Type="http://schemas.openxmlformats.org/officeDocument/2006/relationships/image" Target="../media/image6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4.xml"/><Relationship Id="rId1" Type="http://schemas.openxmlformats.org/officeDocument/2006/relationships/image" Target="../media/image6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4.xml"/><Relationship Id="rId2" Type="http://schemas.openxmlformats.org/officeDocument/2006/relationships/image" Target="../media/image71.png"/><Relationship Id="rId1" Type="http://schemas.openxmlformats.org/officeDocument/2006/relationships/image" Target="../media/image70.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4.xml"/><Relationship Id="rId1" Type="http://schemas.openxmlformats.org/officeDocument/2006/relationships/image" Target="../media/image7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4.xml"/><Relationship Id="rId1" Type="http://schemas.openxmlformats.org/officeDocument/2006/relationships/image" Target="../media/image73.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4.xml"/><Relationship Id="rId1" Type="http://schemas.openxmlformats.org/officeDocument/2006/relationships/image" Target="../media/image7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4.xml"/><Relationship Id="rId1" Type="http://schemas.openxmlformats.org/officeDocument/2006/relationships/image" Target="../media/image75.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4.xml"/><Relationship Id="rId1" Type="http://schemas.openxmlformats.org/officeDocument/2006/relationships/image" Target="../media/image76.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4.xml"/><Relationship Id="rId1" Type="http://schemas.openxmlformats.org/officeDocument/2006/relationships/image" Target="../media/image77.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4.xml"/><Relationship Id="rId1" Type="http://schemas.openxmlformats.org/officeDocument/2006/relationships/image" Target="../media/image78.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4.xml"/><Relationship Id="rId1" Type="http://schemas.openxmlformats.org/officeDocument/2006/relationships/image" Target="../media/image79.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4.xml"/><Relationship Id="rId1" Type="http://schemas.openxmlformats.org/officeDocument/2006/relationships/image" Target="../media/image8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4.xml"/><Relationship Id="rId1" Type="http://schemas.openxmlformats.org/officeDocument/2006/relationships/image" Target="../media/image81.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3"/>
          <p:cNvSpPr txBox="1"/>
          <p:nvPr/>
        </p:nvSpPr>
        <p:spPr>
          <a:xfrm>
            <a:off x="425903" y="1218724"/>
            <a:ext cx="11516360" cy="2889110"/>
          </a:xfrm>
          <a:prstGeom prst="rect">
            <a:avLst/>
          </a:prstGeom>
        </p:spPr>
        <p:txBody>
          <a:bodyPr vert="horz" lIns="91440" tIns="45720" rIns="91440" bIns="45720" rtlCol="0" anchor="ctr" anchorCtr="1">
            <a:noAutofit/>
          </a:bodyPr>
          <a:lst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a:lstStyle>
          <a:p>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9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CVE</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漏洞数据库管理系统汇报</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占位符 3"/>
          <p:cNvSpPr>
            <a:spLocks noGrp="1"/>
          </p:cNvSpPr>
          <p:nvPr>
            <p:ph type="body" sz="quarter" idx="10"/>
          </p:nvPr>
        </p:nvSpPr>
        <p:spPr>
          <a:xfrm>
            <a:off x="2965682" y="4225491"/>
            <a:ext cx="6260636" cy="1203353"/>
          </a:xfrm>
        </p:spPr>
        <p:txBody>
          <a:bodyPr>
            <a:noAutofit/>
          </a:bodyPr>
          <a:lstStyle/>
          <a:p>
            <a:pPr marL="1524000" algn="l">
              <a:lnSpc>
                <a:spcPct val="150000"/>
              </a:lnSpc>
              <a:spcBef>
                <a:spcPts val="0"/>
              </a:spcBef>
            </a:pPr>
            <a:r>
              <a:rPr lang="zh-CN" altLang="en-US" sz="2400" b="1" dirty="0">
                <a:solidFill>
                  <a:srgbClr val="38437B"/>
                </a:solidFill>
              </a:rPr>
              <a:t>汇  报  人：吴梓锋、王健雄</a:t>
            </a:r>
            <a:endParaRPr lang="zh-CN" altLang="en-US" sz="2400" b="1" dirty="0">
              <a:solidFill>
                <a:srgbClr val="38437B"/>
              </a:solidFil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rotWithShape="1">
          <a:blip r:embed="rId1">
            <a:duotone>
              <a:schemeClr val="bg2">
                <a:shade val="45000"/>
                <a:satMod val="135000"/>
              </a:schemeClr>
              <a:prstClr val="white"/>
            </a:duotone>
            <a:extLst>
              <a:ext uri="{28A0092B-C50C-407E-A947-70E740481C1C}">
                <a14:useLocalDpi xmlns:a14="http://schemas.microsoft.com/office/drawing/2010/main" val="0"/>
              </a:ext>
            </a:extLst>
          </a:blip>
          <a:srcRect l="42597" r="23486" b="18402"/>
          <a:stretch>
            <a:fillRect/>
          </a:stretch>
        </p:blipFill>
        <p:spPr>
          <a:xfrm>
            <a:off x="-4989" y="4327"/>
            <a:ext cx="3637336" cy="6853673"/>
          </a:xfrm>
          <a:prstGeom prst="rect">
            <a:avLst/>
          </a:prstGeom>
        </p:spPr>
      </p:pic>
      <p:cxnSp>
        <p:nvCxnSpPr>
          <p:cNvPr id="3" name="直接连接符 2"/>
          <p:cNvCxnSpPr/>
          <p:nvPr/>
        </p:nvCxnSpPr>
        <p:spPr>
          <a:xfrm>
            <a:off x="3632347" y="1123950"/>
            <a:ext cx="7953012" cy="0"/>
          </a:xfrm>
          <a:prstGeom prst="line">
            <a:avLst/>
          </a:prstGeom>
          <a:ln w="38100">
            <a:solidFill>
              <a:srgbClr val="E82209"/>
            </a:solidFill>
          </a:ln>
        </p:spPr>
        <p:style>
          <a:lnRef idx="1">
            <a:schemeClr val="accent6"/>
          </a:lnRef>
          <a:fillRef idx="0">
            <a:schemeClr val="accent6"/>
          </a:fillRef>
          <a:effectRef idx="0">
            <a:schemeClr val="accent6"/>
          </a:effectRef>
          <a:fontRef idx="minor">
            <a:schemeClr val="tx1"/>
          </a:fontRef>
        </p:style>
      </p:cxnSp>
      <p:grpSp>
        <p:nvGrpSpPr>
          <p:cNvPr id="28" name="组合 27"/>
          <p:cNvGrpSpPr/>
          <p:nvPr/>
        </p:nvGrpSpPr>
        <p:grpSpPr>
          <a:xfrm>
            <a:off x="3636404" y="740007"/>
            <a:ext cx="2753457" cy="763743"/>
            <a:chOff x="3636404" y="740007"/>
            <a:chExt cx="2753457" cy="763743"/>
          </a:xfrm>
        </p:grpSpPr>
        <p:sp>
          <p:nvSpPr>
            <p:cNvPr id="27" name="平行四边形 26"/>
            <p:cNvSpPr/>
            <p:nvPr/>
          </p:nvSpPr>
          <p:spPr bwMode="auto">
            <a:xfrm>
              <a:off x="3658981" y="1143710"/>
              <a:ext cx="2730880" cy="360040"/>
            </a:xfrm>
            <a:prstGeom prst="parallelogram">
              <a:avLst>
                <a:gd name="adj" fmla="val 76283"/>
              </a:avLst>
            </a:prstGeom>
            <a:solidFill>
              <a:srgbClr val="006C30"/>
            </a:solidFill>
            <a:ln w="19050">
              <a:noFill/>
              <a:round/>
            </a:ln>
          </p:spPr>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457200" eaLnBrk="1" fontAlgn="auto" latinLnBrk="0" hangingPunct="1">
                <a:lnSpc>
                  <a:spcPct val="120000"/>
                </a:lnSpc>
                <a:buClrTx/>
                <a:buSzTx/>
                <a:buFontTx/>
                <a:buNone/>
                <a:defRPr/>
              </a:pPr>
              <a:endParaRPr kumimoji="0" lang="zh-CN" altLang="en-US" sz="1200" b="1" i="0" u="none" strike="noStrike" kern="0" cap="none" spc="0" normalizeH="0" baseline="0" noProof="0" dirty="0">
                <a:ln>
                  <a:noFill/>
                </a:ln>
                <a:solidFill>
                  <a:prstClr val="white">
                    <a:lumMod val="100000"/>
                  </a:prstClr>
                </a:solidFill>
                <a:effectLst/>
                <a:uLnTx/>
                <a:uFillTx/>
                <a:cs typeface="+mn-ea"/>
                <a:sym typeface="+mn-lt"/>
              </a:endParaRPr>
            </a:p>
          </p:txBody>
        </p:sp>
        <p:sp>
          <p:nvSpPr>
            <p:cNvPr id="24" name="矩形 23"/>
            <p:cNvSpPr/>
            <p:nvPr/>
          </p:nvSpPr>
          <p:spPr bwMode="auto">
            <a:xfrm>
              <a:off x="3636404" y="740007"/>
              <a:ext cx="2459596" cy="756084"/>
            </a:xfrm>
            <a:prstGeom prst="rect">
              <a:avLst/>
            </a:prstGeom>
            <a:solidFill>
              <a:srgbClr val="006C30"/>
            </a:solidFill>
            <a:ln w="19050">
              <a:solidFill>
                <a:srgbClr val="006C30"/>
              </a:solidFill>
              <a:round/>
            </a:ln>
          </p:spPr>
          <p:txBody>
            <a:bodyPr rot="0" spcFirstLastPara="0" vertOverflow="overflow" horzOverflow="overflow" vert="horz" wrap="square" lIns="91440" tIns="45720" rIns="91440" bIns="45720" numCol="1" spcCol="0" rtlCol="0" fromWordArt="0" anchor="ctr" anchorCtr="1" forceAA="0" compatLnSpc="1">
              <a:noAutofit/>
            </a:bodyPr>
            <a:lstStyle/>
            <a:p>
              <a:pPr marL="0" marR="0" lvl="0" indent="0" algn="ctr" defTabSz="457200" eaLnBrk="1" fontAlgn="auto" latinLnBrk="0" hangingPunct="1">
                <a:lnSpc>
                  <a:spcPct val="120000"/>
                </a:lnSpc>
                <a:buClrTx/>
                <a:buSzTx/>
                <a:buFontTx/>
                <a:buNone/>
                <a:defRPr/>
              </a:pPr>
              <a:r>
                <a:rPr kumimoji="0" lang="zh-CN" altLang="en-US" sz="2400" b="1" i="0" u="none" strike="noStrike" kern="0" cap="none" spc="0" normalizeH="0" baseline="0" noProof="0" dirty="0">
                  <a:ln>
                    <a:noFill/>
                  </a:ln>
                  <a:solidFill>
                    <a:prstClr val="white">
                      <a:lumMod val="100000"/>
                    </a:prstClr>
                  </a:solidFill>
                  <a:effectLst/>
                  <a:uLnTx/>
                  <a:uFillTx/>
                  <a:latin typeface="+mn-ea"/>
                  <a:cs typeface="+mn-ea"/>
                  <a:sym typeface="+mn-lt"/>
                </a:rPr>
                <a:t>目   录</a:t>
              </a:r>
              <a:endParaRPr kumimoji="0" lang="zh-CN" altLang="en-US" sz="2400" b="1" i="0" u="none" strike="noStrike" kern="0" cap="none" spc="0" normalizeH="0" baseline="0" noProof="0" dirty="0">
                <a:ln>
                  <a:noFill/>
                </a:ln>
                <a:solidFill>
                  <a:prstClr val="white">
                    <a:lumMod val="100000"/>
                  </a:prstClr>
                </a:solidFill>
                <a:effectLst/>
                <a:uLnTx/>
                <a:uFillTx/>
                <a:latin typeface="+mn-ea"/>
                <a:cs typeface="+mn-ea"/>
                <a:sym typeface="+mn-lt"/>
              </a:endParaRPr>
            </a:p>
          </p:txBody>
        </p:sp>
      </p:grpSp>
      <p:grpSp>
        <p:nvGrpSpPr>
          <p:cNvPr id="6" name="组合 5"/>
          <p:cNvGrpSpPr/>
          <p:nvPr>
            <p:custDataLst>
              <p:tags r:id="rId2"/>
            </p:custDataLst>
          </p:nvPr>
        </p:nvGrpSpPr>
        <p:grpSpPr>
          <a:xfrm>
            <a:off x="4370705" y="3115628"/>
            <a:ext cx="2675890" cy="583565"/>
            <a:chOff x="6642" y="5066"/>
            <a:chExt cx="4214" cy="919"/>
          </a:xfrm>
        </p:grpSpPr>
        <p:grpSp>
          <p:nvGrpSpPr>
            <p:cNvPr id="11" name="Group 10"/>
            <p:cNvGrpSpPr/>
            <p:nvPr/>
          </p:nvGrpSpPr>
          <p:grpSpPr>
            <a:xfrm>
              <a:off x="6642" y="5066"/>
              <a:ext cx="1036" cy="919"/>
              <a:chOff x="4267199" y="1268631"/>
              <a:chExt cx="1173481" cy="1173480"/>
            </a:xfrm>
          </p:grpSpPr>
          <p:sp>
            <p:nvSpPr>
              <p:cNvPr id="12" name="Rectangle 11"/>
              <p:cNvSpPr/>
              <p:nvPr>
                <p:custDataLst>
                  <p:tags r:id="rId3"/>
                </p:custDataLst>
              </p:nvPr>
            </p:nvSpPr>
            <p:spPr>
              <a:xfrm>
                <a:off x="4343400" y="1344831"/>
                <a:ext cx="1097280" cy="1097280"/>
              </a:xfrm>
              <a:prstGeom prst="rect">
                <a:avLst/>
              </a:prstGeom>
              <a:solidFill>
                <a:srgbClr val="006C30"/>
              </a:solidFill>
              <a:ln w="57150">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b="1" dirty="0">
                    <a:cs typeface="+mn-ea"/>
                    <a:sym typeface="+mn-lt"/>
                  </a:rPr>
                  <a:t>02</a:t>
                </a:r>
                <a:endParaRPr lang="en-MY" b="1" dirty="0">
                  <a:cs typeface="+mn-ea"/>
                  <a:sym typeface="+mn-lt"/>
                </a:endParaRPr>
              </a:p>
            </p:txBody>
          </p:sp>
          <p:sp>
            <p:nvSpPr>
              <p:cNvPr id="13" name="Right Triangle 12"/>
              <p:cNvSpPr/>
              <p:nvPr>
                <p:custDataLst>
                  <p:tags r:id="rId4"/>
                </p:custDataLst>
              </p:nvPr>
            </p:nvSpPr>
            <p:spPr>
              <a:xfrm rot="5400000">
                <a:off x="4267199" y="1268631"/>
                <a:ext cx="455895" cy="455895"/>
              </a:xfrm>
              <a:prstGeom prst="rtTriangl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MY" dirty="0">
                  <a:cs typeface="+mn-ea"/>
                  <a:sym typeface="+mn-lt"/>
                </a:endParaRPr>
              </a:p>
            </p:txBody>
          </p:sp>
        </p:grpSp>
        <p:sp>
          <p:nvSpPr>
            <p:cNvPr id="2" name="文本框 1"/>
            <p:cNvSpPr txBox="1"/>
            <p:nvPr>
              <p:custDataLst>
                <p:tags r:id="rId5"/>
              </p:custDataLst>
            </p:nvPr>
          </p:nvSpPr>
          <p:spPr>
            <a:xfrm>
              <a:off x="8289" y="5066"/>
              <a:ext cx="2567" cy="860"/>
            </a:xfrm>
            <a:prstGeom prst="rect">
              <a:avLst/>
            </a:prstGeom>
            <a:noFill/>
          </p:spPr>
          <p:txBody>
            <a:bodyPr wrap="square" rtlCol="0">
              <a:noAutofit/>
            </a:bodyPr>
            <a:lstStyle/>
            <a:p>
              <a:pPr>
                <a:lnSpc>
                  <a:spcPct val="120000"/>
                </a:lnSpc>
                <a:defRPr/>
              </a:pPr>
              <a:r>
                <a:rPr lang="zh-CN" altLang="en-US" sz="2800" dirty="0">
                  <a:latin typeface="Times New Roman" panose="02020603050405020304" pitchFamily="18" charset="0"/>
                  <a:cs typeface="Times New Roman" panose="02020603050405020304" pitchFamily="18" charset="0"/>
                  <a:sym typeface="+mn-lt"/>
                </a:rPr>
                <a:t>技术方法</a:t>
              </a:r>
              <a:endParaRPr lang="zh-CN" altLang="en-US" sz="2800" dirty="0">
                <a:latin typeface="Times New Roman" panose="02020603050405020304" pitchFamily="18" charset="0"/>
                <a:cs typeface="Times New Roman" panose="02020603050405020304" pitchFamily="18" charset="0"/>
                <a:sym typeface="+mn-lt"/>
              </a:endParaRPr>
            </a:p>
          </p:txBody>
        </p:sp>
      </p:grpSp>
      <p:grpSp>
        <p:nvGrpSpPr>
          <p:cNvPr id="7" name="组合 6"/>
          <p:cNvGrpSpPr/>
          <p:nvPr>
            <p:custDataLst>
              <p:tags r:id="rId6"/>
            </p:custDataLst>
          </p:nvPr>
        </p:nvGrpSpPr>
        <p:grpSpPr>
          <a:xfrm>
            <a:off x="4369813" y="4254936"/>
            <a:ext cx="2675890" cy="583565"/>
            <a:chOff x="6642" y="6307"/>
            <a:chExt cx="4214" cy="919"/>
          </a:xfrm>
        </p:grpSpPr>
        <p:sp>
          <p:nvSpPr>
            <p:cNvPr id="15" name="TextBox 14"/>
            <p:cNvSpPr txBox="1"/>
            <p:nvPr>
              <p:custDataLst>
                <p:tags r:id="rId7"/>
              </p:custDataLst>
            </p:nvPr>
          </p:nvSpPr>
          <p:spPr>
            <a:xfrm>
              <a:off x="8417" y="6423"/>
              <a:ext cx="2439" cy="682"/>
            </a:xfrm>
            <a:prstGeom prst="rect">
              <a:avLst/>
            </a:prstGeom>
            <a:noFill/>
          </p:spPr>
          <p:txBody>
            <a:bodyPr wrap="square" lIns="0" tIns="0" rIns="0" bIns="0" rtlCol="0">
              <a:noAutofit/>
            </a:bodyPr>
            <a:lstStyle/>
            <a:p>
              <a:pPr lvl="0">
                <a:lnSpc>
                  <a:spcPct val="120000"/>
                </a:lnSpc>
                <a:defRPr/>
              </a:pPr>
              <a:r>
                <a:rPr lang="zh-CN" altLang="en-US" sz="2800" dirty="0">
                  <a:latin typeface="Times New Roman" panose="02020603050405020304" pitchFamily="18" charset="0"/>
                  <a:cs typeface="Times New Roman" panose="02020603050405020304" pitchFamily="18" charset="0"/>
                  <a:sym typeface="+mn-lt"/>
                </a:rPr>
                <a:t>评分点</a:t>
              </a:r>
              <a:endParaRPr lang="zh-CN" altLang="en-US" sz="2800" dirty="0">
                <a:latin typeface="Times New Roman" panose="02020603050405020304" pitchFamily="18" charset="0"/>
                <a:cs typeface="Times New Roman" panose="02020603050405020304" pitchFamily="18" charset="0"/>
                <a:sym typeface="+mn-lt"/>
              </a:endParaRPr>
            </a:p>
          </p:txBody>
        </p:sp>
        <p:grpSp>
          <p:nvGrpSpPr>
            <p:cNvPr id="34" name="Group 10"/>
            <p:cNvGrpSpPr/>
            <p:nvPr/>
          </p:nvGrpSpPr>
          <p:grpSpPr>
            <a:xfrm>
              <a:off x="6642" y="6307"/>
              <a:ext cx="1036" cy="919"/>
              <a:chOff x="4267199" y="1268631"/>
              <a:chExt cx="1173481" cy="1173480"/>
            </a:xfrm>
          </p:grpSpPr>
          <p:sp>
            <p:nvSpPr>
              <p:cNvPr id="35" name="Rectangle 11"/>
              <p:cNvSpPr/>
              <p:nvPr>
                <p:custDataLst>
                  <p:tags r:id="rId8"/>
                </p:custDataLst>
              </p:nvPr>
            </p:nvSpPr>
            <p:spPr>
              <a:xfrm>
                <a:off x="4343400" y="1344831"/>
                <a:ext cx="1097280" cy="1097280"/>
              </a:xfrm>
              <a:prstGeom prst="rect">
                <a:avLst/>
              </a:prstGeom>
              <a:solidFill>
                <a:srgbClr val="006C30"/>
              </a:solidFill>
              <a:ln w="57150">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b="1" dirty="0">
                    <a:cs typeface="+mn-ea"/>
                    <a:sym typeface="+mn-lt"/>
                  </a:rPr>
                  <a:t>03</a:t>
                </a:r>
                <a:endParaRPr lang="en-MY" b="1" dirty="0">
                  <a:cs typeface="+mn-ea"/>
                  <a:sym typeface="+mn-lt"/>
                </a:endParaRPr>
              </a:p>
            </p:txBody>
          </p:sp>
          <p:sp>
            <p:nvSpPr>
              <p:cNvPr id="36" name="Right Triangle 12"/>
              <p:cNvSpPr/>
              <p:nvPr>
                <p:custDataLst>
                  <p:tags r:id="rId9"/>
                </p:custDataLst>
              </p:nvPr>
            </p:nvSpPr>
            <p:spPr>
              <a:xfrm rot="5400000">
                <a:off x="4267199" y="1268631"/>
                <a:ext cx="455895" cy="455895"/>
              </a:xfrm>
              <a:prstGeom prst="rtTriangl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MY" dirty="0">
                  <a:cs typeface="+mn-ea"/>
                  <a:sym typeface="+mn-lt"/>
                </a:endParaRPr>
              </a:p>
            </p:txBody>
          </p:sp>
        </p:grpSp>
      </p:grpSp>
      <p:grpSp>
        <p:nvGrpSpPr>
          <p:cNvPr id="5" name="组合 4"/>
          <p:cNvGrpSpPr/>
          <p:nvPr>
            <p:custDataLst>
              <p:tags r:id="rId10"/>
            </p:custDataLst>
          </p:nvPr>
        </p:nvGrpSpPr>
        <p:grpSpPr>
          <a:xfrm>
            <a:off x="4370705" y="1972036"/>
            <a:ext cx="3697605" cy="612140"/>
            <a:chOff x="6642" y="3793"/>
            <a:chExt cx="5823" cy="964"/>
          </a:xfrm>
        </p:grpSpPr>
        <p:grpSp>
          <p:nvGrpSpPr>
            <p:cNvPr id="31" name="Group 10"/>
            <p:cNvGrpSpPr/>
            <p:nvPr/>
          </p:nvGrpSpPr>
          <p:grpSpPr>
            <a:xfrm>
              <a:off x="6642" y="3793"/>
              <a:ext cx="1036" cy="919"/>
              <a:chOff x="4267199" y="1268631"/>
              <a:chExt cx="1173481" cy="1173480"/>
            </a:xfrm>
          </p:grpSpPr>
          <p:sp>
            <p:nvSpPr>
              <p:cNvPr id="32" name="Rectangle 11"/>
              <p:cNvSpPr/>
              <p:nvPr>
                <p:custDataLst>
                  <p:tags r:id="rId11"/>
                </p:custDataLst>
              </p:nvPr>
            </p:nvSpPr>
            <p:spPr>
              <a:xfrm>
                <a:off x="4343400" y="1344831"/>
                <a:ext cx="1097280" cy="1097280"/>
              </a:xfrm>
              <a:prstGeom prst="rect">
                <a:avLst/>
              </a:prstGeom>
              <a:solidFill>
                <a:srgbClr val="006C30"/>
              </a:solidFill>
              <a:ln w="57150">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b="1" dirty="0">
                    <a:cs typeface="+mn-ea"/>
                    <a:sym typeface="+mn-lt"/>
                  </a:rPr>
                  <a:t>01</a:t>
                </a:r>
                <a:endParaRPr lang="en-MY" b="1" dirty="0">
                  <a:cs typeface="+mn-ea"/>
                  <a:sym typeface="+mn-lt"/>
                </a:endParaRPr>
              </a:p>
            </p:txBody>
          </p:sp>
          <p:sp>
            <p:nvSpPr>
              <p:cNvPr id="33" name="Right Triangle 12"/>
              <p:cNvSpPr/>
              <p:nvPr>
                <p:custDataLst>
                  <p:tags r:id="rId12"/>
                </p:custDataLst>
              </p:nvPr>
            </p:nvSpPr>
            <p:spPr>
              <a:xfrm rot="5400000">
                <a:off x="4267199" y="1268631"/>
                <a:ext cx="455895" cy="455895"/>
              </a:xfrm>
              <a:prstGeom prst="rtTriangl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MY" dirty="0">
                  <a:cs typeface="+mn-ea"/>
                  <a:sym typeface="+mn-lt"/>
                </a:endParaRPr>
              </a:p>
            </p:txBody>
          </p:sp>
        </p:grpSp>
        <p:sp>
          <p:nvSpPr>
            <p:cNvPr id="9" name="TextBox 8"/>
            <p:cNvSpPr txBox="1"/>
            <p:nvPr>
              <p:custDataLst>
                <p:tags r:id="rId13"/>
              </p:custDataLst>
            </p:nvPr>
          </p:nvSpPr>
          <p:spPr>
            <a:xfrm>
              <a:off x="8261" y="3935"/>
              <a:ext cx="4204" cy="822"/>
            </a:xfrm>
            <a:prstGeom prst="rect">
              <a:avLst/>
            </a:prstGeom>
            <a:noFill/>
          </p:spPr>
          <p:txBody>
            <a:bodyPr wrap="square" rtlCol="0">
              <a:spAutoFit/>
            </a:bodyPr>
            <a:lstStyle/>
            <a:p>
              <a:r>
                <a:rPr lang="zh-CN" altLang="en-US" sz="2800" dirty="0">
                  <a:latin typeface="Times New Roman" panose="02020603050405020304" pitchFamily="18" charset="0"/>
                  <a:cs typeface="Times New Roman" panose="02020603050405020304" pitchFamily="18" charset="0"/>
                </a:rPr>
                <a:t>背景介绍</a:t>
              </a:r>
              <a:endParaRPr lang="zh-CN" altLang="en-US" sz="2800" dirty="0">
                <a:latin typeface="Times New Roman" panose="02020603050405020304" pitchFamily="18" charset="0"/>
                <a:cs typeface="Times New Roman" panose="02020603050405020304" pitchFamily="18" charset="0"/>
              </a:endParaRPr>
            </a:p>
          </p:txBody>
        </p:sp>
      </p:grpSp>
      <p:grpSp>
        <p:nvGrpSpPr>
          <p:cNvPr id="22" name="组合 21"/>
          <p:cNvGrpSpPr/>
          <p:nvPr>
            <p:custDataLst>
              <p:tags r:id="rId14"/>
            </p:custDataLst>
          </p:nvPr>
        </p:nvGrpSpPr>
        <p:grpSpPr>
          <a:xfrm>
            <a:off x="4369813" y="5394243"/>
            <a:ext cx="3055620" cy="583565"/>
            <a:chOff x="6642" y="6307"/>
            <a:chExt cx="4812" cy="919"/>
          </a:xfrm>
        </p:grpSpPr>
        <p:sp>
          <p:nvSpPr>
            <p:cNvPr id="23" name="TextBox 14"/>
            <p:cNvSpPr txBox="1"/>
            <p:nvPr>
              <p:custDataLst>
                <p:tags r:id="rId15"/>
              </p:custDataLst>
            </p:nvPr>
          </p:nvSpPr>
          <p:spPr>
            <a:xfrm>
              <a:off x="8417" y="6423"/>
              <a:ext cx="3037" cy="682"/>
            </a:xfrm>
            <a:prstGeom prst="rect">
              <a:avLst/>
            </a:prstGeom>
            <a:noFill/>
          </p:spPr>
          <p:txBody>
            <a:bodyPr wrap="square" lIns="0" tIns="0" rIns="0" bIns="0" rtlCol="0">
              <a:noAutofit/>
            </a:bodyPr>
            <a:lstStyle/>
            <a:p>
              <a:pPr lvl="0">
                <a:lnSpc>
                  <a:spcPct val="120000"/>
                </a:lnSpc>
                <a:defRPr/>
              </a:pPr>
              <a:r>
                <a:rPr lang="zh-CN" altLang="en-US" sz="2800" dirty="0">
                  <a:latin typeface="Times New Roman" panose="02020603050405020304" pitchFamily="18" charset="0"/>
                  <a:cs typeface="Times New Roman" panose="02020603050405020304" pitchFamily="18" charset="0"/>
                  <a:sym typeface="+mn-lt"/>
                </a:rPr>
                <a:t>总结与展望</a:t>
              </a:r>
              <a:endParaRPr lang="zh-CN" altLang="en-US" sz="2800" dirty="0">
                <a:latin typeface="Times New Roman" panose="02020603050405020304" pitchFamily="18" charset="0"/>
                <a:cs typeface="Times New Roman" panose="02020603050405020304" pitchFamily="18" charset="0"/>
                <a:sym typeface="+mn-lt"/>
              </a:endParaRPr>
            </a:p>
          </p:txBody>
        </p:sp>
        <p:grpSp>
          <p:nvGrpSpPr>
            <p:cNvPr id="25" name="Group 10"/>
            <p:cNvGrpSpPr/>
            <p:nvPr/>
          </p:nvGrpSpPr>
          <p:grpSpPr>
            <a:xfrm>
              <a:off x="6642" y="6307"/>
              <a:ext cx="1036" cy="919"/>
              <a:chOff x="4267199" y="1268631"/>
              <a:chExt cx="1173481" cy="1173480"/>
            </a:xfrm>
          </p:grpSpPr>
          <p:sp>
            <p:nvSpPr>
              <p:cNvPr id="29" name="Rectangle 11"/>
              <p:cNvSpPr/>
              <p:nvPr>
                <p:custDataLst>
                  <p:tags r:id="rId16"/>
                </p:custDataLst>
              </p:nvPr>
            </p:nvSpPr>
            <p:spPr>
              <a:xfrm>
                <a:off x="4343400" y="1344831"/>
                <a:ext cx="1097280" cy="1097280"/>
              </a:xfrm>
              <a:prstGeom prst="rect">
                <a:avLst/>
              </a:prstGeom>
              <a:solidFill>
                <a:srgbClr val="006C30"/>
              </a:solidFill>
              <a:ln w="57150">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b="1" dirty="0">
                    <a:cs typeface="+mn-ea"/>
                    <a:sym typeface="+mn-lt"/>
                  </a:rPr>
                  <a:t>04</a:t>
                </a:r>
                <a:endParaRPr lang="en-MY" b="1" dirty="0">
                  <a:cs typeface="+mn-ea"/>
                  <a:sym typeface="+mn-lt"/>
                </a:endParaRPr>
              </a:p>
            </p:txBody>
          </p:sp>
          <p:sp>
            <p:nvSpPr>
              <p:cNvPr id="30" name="Right Triangle 12"/>
              <p:cNvSpPr/>
              <p:nvPr>
                <p:custDataLst>
                  <p:tags r:id="rId17"/>
                </p:custDataLst>
              </p:nvPr>
            </p:nvSpPr>
            <p:spPr>
              <a:xfrm rot="5400000">
                <a:off x="4267199" y="1268631"/>
                <a:ext cx="455895" cy="455895"/>
              </a:xfrm>
              <a:prstGeom prst="rtTriangl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MY" dirty="0">
                  <a:cs typeface="+mn-ea"/>
                  <a:sym typeface="+mn-lt"/>
                </a:endParaRPr>
              </a:p>
            </p:txBody>
          </p:sp>
        </p:gr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4545149" y="1536974"/>
            <a:ext cx="3102428" cy="628955"/>
          </a:xfrm>
          <a:prstGeom prst="rect">
            <a:avLst/>
          </a:prstGeom>
          <a:noFill/>
        </p:spPr>
        <p:txBody>
          <a:bodyPr wrap="square" rtlCol="0">
            <a:spAutoFit/>
          </a:bodyPr>
          <a:lstStyle/>
          <a:p>
            <a:pPr algn="ctr">
              <a:lnSpc>
                <a:spcPct val="120000"/>
              </a:lnSpc>
            </a:pPr>
            <a:r>
              <a:rPr lang="en-MY" sz="3200" b="1" dirty="0"/>
              <a:t>PART</a:t>
            </a:r>
            <a:r>
              <a:rPr lang="en-MY" sz="3200" b="1" dirty="0">
                <a:solidFill>
                  <a:srgbClr val="006C30"/>
                </a:solidFill>
              </a:rPr>
              <a:t> </a:t>
            </a:r>
            <a:r>
              <a:rPr lang="en-US" sz="3200" b="1" dirty="0"/>
              <a:t>1</a:t>
            </a:r>
            <a:endParaRPr lang="en-US" altLang="en-MY" sz="3200" b="1" dirty="0"/>
          </a:p>
        </p:txBody>
      </p:sp>
      <p:sp>
        <p:nvSpPr>
          <p:cNvPr id="14" name="矩形 13"/>
          <p:cNvSpPr/>
          <p:nvPr/>
        </p:nvSpPr>
        <p:spPr>
          <a:xfrm>
            <a:off x="4447394" y="2950476"/>
            <a:ext cx="3297211" cy="769441"/>
          </a:xfrm>
          <a:prstGeom prst="rect">
            <a:avLst/>
          </a:prstGeom>
        </p:spPr>
        <p:txBody>
          <a:bodyPr wrap="square">
            <a:spAutoFit/>
          </a:bodyPr>
          <a:lstStyle/>
          <a:p>
            <a:pPr algn="ctr"/>
            <a:r>
              <a:rPr lang="zh-CN" altLang="en-US" sz="4400" dirty="0">
                <a:latin typeface="Times New Roman" panose="02020603050405020304" pitchFamily="18" charset="0"/>
                <a:cs typeface="Times New Roman" panose="02020603050405020304" pitchFamily="18" charset="0"/>
              </a:rPr>
              <a:t>背景介绍</a:t>
            </a:r>
            <a:endParaRPr lang="zh-CN" altLang="en-US" sz="4400" dirty="0">
              <a:latin typeface="Times New Roman" panose="02020603050405020304" pitchFamily="18" charset="0"/>
              <a:cs typeface="Times New Roman" panose="02020603050405020304" pitchFamily="18" charset="0"/>
            </a:endParaRPr>
          </a:p>
        </p:txBody>
      </p:sp>
      <p:cxnSp>
        <p:nvCxnSpPr>
          <p:cNvPr id="16" name="直接连接符 15"/>
          <p:cNvCxnSpPr/>
          <p:nvPr/>
        </p:nvCxnSpPr>
        <p:spPr>
          <a:xfrm>
            <a:off x="4808548" y="3719917"/>
            <a:ext cx="2708451" cy="0"/>
          </a:xfrm>
          <a:prstGeom prst="line">
            <a:avLst/>
          </a:prstGeom>
          <a:ln>
            <a:solidFill>
              <a:srgbClr val="006C3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背景介绍</a:t>
            </a:r>
            <a:endParaRPr lang="zh-CN" altLang="en-US" dirty="0"/>
          </a:p>
        </p:txBody>
      </p:sp>
      <p:cxnSp>
        <p:nvCxnSpPr>
          <p:cNvPr id="9" name="直接箭头连接符 8"/>
          <p:cNvCxnSpPr/>
          <p:nvPr>
            <p:custDataLst>
              <p:tags r:id="rId1"/>
            </p:custDataLst>
          </p:nvPr>
        </p:nvCxnSpPr>
        <p:spPr>
          <a:xfrm flipH="1">
            <a:off x="4325153" y="4952294"/>
            <a:ext cx="541194" cy="0"/>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2"/>
            </p:custDataLst>
          </p:nvPr>
        </p:nvSpPr>
        <p:spPr>
          <a:xfrm>
            <a:off x="4866347" y="4767628"/>
            <a:ext cx="2262158" cy="369332"/>
          </a:xfrm>
          <a:prstGeom prst="rect">
            <a:avLst/>
          </a:prstGeom>
          <a:noFill/>
        </p:spPr>
        <p:txBody>
          <a:bodyPr wrap="none" rtlCol="0">
            <a:spAutoFit/>
          </a:bodyPr>
          <a:lstStyle/>
          <a:p>
            <a:r>
              <a:rPr lang="zh-CN" altLang="en-US" b="1" dirty="0">
                <a:solidFill>
                  <a:schemeClr val="bg1"/>
                </a:solidFill>
              </a:rPr>
              <a:t>浏览记录、搜索记录</a:t>
            </a:r>
            <a:endParaRPr lang="zh-CN" altLang="en-US" b="1" dirty="0">
              <a:solidFill>
                <a:schemeClr val="bg1"/>
              </a:solidFill>
            </a:endParaRPr>
          </a:p>
        </p:txBody>
      </p:sp>
      <p:sp>
        <p:nvSpPr>
          <p:cNvPr id="12" name="文本框 11"/>
          <p:cNvSpPr txBox="1"/>
          <p:nvPr>
            <p:custDataLst>
              <p:tags r:id="rId3"/>
            </p:custDataLst>
          </p:nvPr>
        </p:nvSpPr>
        <p:spPr>
          <a:xfrm>
            <a:off x="4866347" y="5360809"/>
            <a:ext cx="2262158" cy="369332"/>
          </a:xfrm>
          <a:prstGeom prst="rect">
            <a:avLst/>
          </a:prstGeom>
          <a:noFill/>
        </p:spPr>
        <p:txBody>
          <a:bodyPr wrap="none" rtlCol="0">
            <a:spAutoFit/>
          </a:bodyPr>
          <a:lstStyle/>
          <a:p>
            <a:r>
              <a:rPr lang="zh-CN" altLang="en-US" b="1" dirty="0">
                <a:solidFill>
                  <a:schemeClr val="bg1"/>
                </a:solidFill>
              </a:rPr>
              <a:t>点击记录、交互信息</a:t>
            </a:r>
            <a:endParaRPr lang="zh-CN" altLang="en-US" b="1" dirty="0">
              <a:solidFill>
                <a:schemeClr val="bg1"/>
              </a:solidFill>
            </a:endParaRPr>
          </a:p>
        </p:txBody>
      </p:sp>
      <p:cxnSp>
        <p:nvCxnSpPr>
          <p:cNvPr id="4" name="直接箭头连接符 3"/>
          <p:cNvCxnSpPr/>
          <p:nvPr>
            <p:custDataLst>
              <p:tags r:id="rId4"/>
            </p:custDataLst>
          </p:nvPr>
        </p:nvCxnSpPr>
        <p:spPr>
          <a:xfrm flipH="1">
            <a:off x="4325153" y="5545475"/>
            <a:ext cx="541194" cy="0"/>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p:cNvSpPr txBox="1"/>
          <p:nvPr>
            <p:custDataLst>
              <p:tags r:id="rId5"/>
            </p:custDataLst>
          </p:nvPr>
        </p:nvSpPr>
        <p:spPr>
          <a:xfrm>
            <a:off x="4400550" y="4715581"/>
            <a:ext cx="466794" cy="261610"/>
          </a:xfrm>
          <a:prstGeom prst="rect">
            <a:avLst/>
          </a:prstGeom>
          <a:noFill/>
        </p:spPr>
        <p:txBody>
          <a:bodyPr wrap="none" rtlCol="0">
            <a:spAutoFit/>
          </a:bodyPr>
          <a:lstStyle/>
          <a:p>
            <a:r>
              <a:rPr lang="zh-CN" altLang="en-US" sz="1100" b="1" dirty="0">
                <a:solidFill>
                  <a:schemeClr val="bg1"/>
                </a:solidFill>
              </a:rPr>
              <a:t>收集</a:t>
            </a:r>
            <a:endParaRPr lang="zh-CN" altLang="en-US" sz="1100" b="1" dirty="0">
              <a:solidFill>
                <a:schemeClr val="bg1"/>
              </a:solidFill>
            </a:endParaRPr>
          </a:p>
        </p:txBody>
      </p:sp>
      <p:sp>
        <p:nvSpPr>
          <p:cNvPr id="13" name="文本框 12"/>
          <p:cNvSpPr txBox="1"/>
          <p:nvPr>
            <p:custDataLst>
              <p:tags r:id="rId6"/>
            </p:custDataLst>
          </p:nvPr>
        </p:nvSpPr>
        <p:spPr>
          <a:xfrm>
            <a:off x="4400550" y="5302209"/>
            <a:ext cx="466794" cy="261610"/>
          </a:xfrm>
          <a:prstGeom prst="rect">
            <a:avLst/>
          </a:prstGeom>
          <a:noFill/>
        </p:spPr>
        <p:txBody>
          <a:bodyPr wrap="none" rtlCol="0">
            <a:spAutoFit/>
          </a:bodyPr>
          <a:lstStyle/>
          <a:p>
            <a:r>
              <a:rPr lang="zh-CN" altLang="en-US" sz="1100" b="1" dirty="0">
                <a:solidFill>
                  <a:schemeClr val="bg1"/>
                </a:solidFill>
              </a:rPr>
              <a:t>收集</a:t>
            </a:r>
            <a:endParaRPr lang="zh-CN" altLang="en-US" sz="1100" b="1" dirty="0">
              <a:solidFill>
                <a:schemeClr val="bg1"/>
              </a:solidFill>
            </a:endParaRPr>
          </a:p>
        </p:txBody>
      </p:sp>
      <p:sp>
        <p:nvSpPr>
          <p:cNvPr id="3" name="文本框 2"/>
          <p:cNvSpPr txBox="1"/>
          <p:nvPr/>
        </p:nvSpPr>
        <p:spPr>
          <a:xfrm>
            <a:off x="920115" y="1805940"/>
            <a:ext cx="5932805" cy="2363470"/>
          </a:xfrm>
          <a:prstGeom prst="rect">
            <a:avLst/>
          </a:prstGeom>
        </p:spPr>
        <p:txBody>
          <a:bodyPr wrap="square">
            <a:spAutoFit/>
          </a:bodyPr>
          <a:lstStyle/>
          <a:p>
            <a:pPr algn="l">
              <a:spcAft>
                <a:spcPct val="60000"/>
              </a:spcAft>
            </a:pPr>
            <a:r>
              <a:rPr lang="zh-CN" altLang="en-US" sz="1600" b="1"/>
              <a:t>一、漏洞处置流程零散，无法形成闭环</a:t>
            </a:r>
            <a:endParaRPr lang="zh-CN" altLang="en-US" sz="1600" b="1"/>
          </a:p>
          <a:p>
            <a:pPr algn="l">
              <a:spcAft>
                <a:spcPct val="60000"/>
              </a:spcAft>
            </a:pPr>
            <a:r>
              <a:rPr lang="zh-CN" altLang="en-US" sz="1600" b="1"/>
              <a:t>二、缺乏漏洞风险等级量化与优先级排序依据</a:t>
            </a:r>
            <a:endParaRPr lang="zh-CN" altLang="en-US" sz="1600" b="1"/>
          </a:p>
          <a:p>
            <a:pPr algn="l">
              <a:spcAft>
                <a:spcPct val="60000"/>
              </a:spcAft>
            </a:pPr>
            <a:r>
              <a:rPr lang="zh-CN" altLang="en-US" sz="1600" b="1"/>
              <a:t>三、组件版本分布混乱，人工比对成本高</a:t>
            </a:r>
            <a:endParaRPr lang="zh-CN" altLang="en-US" sz="1600" b="1"/>
          </a:p>
          <a:p>
            <a:pPr algn="l">
              <a:spcAft>
                <a:spcPct val="60000"/>
              </a:spcAft>
            </a:pPr>
            <a:r>
              <a:rPr lang="zh-CN" altLang="en-US" sz="1600" b="1"/>
              <a:t>四、缺乏历史数据积累，难以生成趋势报表与支撑决策</a:t>
            </a:r>
            <a:endParaRPr lang="zh-CN" altLang="en-US" sz="1600" b="1"/>
          </a:p>
          <a:p>
            <a:pPr algn="l">
              <a:spcAft>
                <a:spcPct val="60000"/>
              </a:spcAft>
            </a:pPr>
            <a:r>
              <a:rPr lang="zh-CN" altLang="en-US" sz="1600" b="1"/>
              <a:t>五、安全团队资源有限，急需提升响应效率与自动化能力</a:t>
            </a:r>
            <a:endParaRPr lang="zh-CN" altLang="en-US" sz="1600" b="1"/>
          </a:p>
          <a:p>
            <a:pPr algn="l">
              <a:spcAft>
                <a:spcPct val="60000"/>
              </a:spcAft>
            </a:pPr>
            <a:r>
              <a:rPr lang="zh-CN" altLang="en-US" sz="1600" b="1"/>
              <a:t>六、满足合规审计要求，提升安全治理能力</a:t>
            </a:r>
            <a:endParaRPr lang="zh-CN" altLang="en-US" sz="1600" b="1"/>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t>应用场景</a:t>
            </a:r>
            <a:endParaRPr lang="zh-CN" altLang="en-US" dirty="0"/>
          </a:p>
        </p:txBody>
      </p:sp>
      <p:sp>
        <p:nvSpPr>
          <p:cNvPr id="2" name="文本框 1"/>
          <p:cNvSpPr txBox="1"/>
          <p:nvPr/>
        </p:nvSpPr>
        <p:spPr>
          <a:xfrm>
            <a:off x="6954996" y="2171038"/>
            <a:ext cx="184731" cy="369332"/>
          </a:xfrm>
          <a:prstGeom prst="rect">
            <a:avLst/>
          </a:prstGeom>
          <a:noFill/>
        </p:spPr>
        <p:txBody>
          <a:bodyPr wrap="none" rtlCol="0">
            <a:spAutoFit/>
          </a:bodyPr>
          <a:lstStyle/>
          <a:p>
            <a:endParaRPr lang="zh-CN" altLang="en-US" dirty="0"/>
          </a:p>
        </p:txBody>
      </p:sp>
      <p:sp>
        <p:nvSpPr>
          <p:cNvPr id="7" name="文本框 6"/>
          <p:cNvSpPr txBox="1"/>
          <p:nvPr/>
        </p:nvSpPr>
        <p:spPr>
          <a:xfrm>
            <a:off x="812800" y="1833563"/>
            <a:ext cx="5080000" cy="3174365"/>
          </a:xfrm>
          <a:prstGeom prst="rect">
            <a:avLst/>
          </a:prstGeom>
        </p:spPr>
        <p:txBody>
          <a:bodyPr>
            <a:spAutoFit/>
          </a:bodyPr>
          <a:lstStyle/>
          <a:p>
            <a:pPr>
              <a:spcAft>
                <a:spcPct val="60000"/>
              </a:spcAft>
            </a:pPr>
            <a:r>
              <a:rPr lang="zh-CN" altLang="en-US" sz="1600" b="1" dirty="0"/>
              <a:t>一、安全运营人员（</a:t>
            </a:r>
            <a:r>
              <a:rPr lang="en-US" altLang="zh-CN" sz="1600" b="1" dirty="0"/>
              <a:t>SOC Analyst / </a:t>
            </a:r>
            <a:r>
              <a:rPr lang="zh-CN" altLang="en-US" sz="1600" b="1" dirty="0"/>
              <a:t>安全工程师）</a:t>
            </a:r>
            <a:endParaRPr lang="zh-CN" altLang="en-US" sz="1600" b="1" dirty="0"/>
          </a:p>
          <a:p>
            <a:pPr>
              <a:spcAft>
                <a:spcPct val="60000"/>
              </a:spcAft>
            </a:pPr>
            <a:r>
              <a:rPr lang="zh-CN" altLang="en-US" sz="1600" b="1" dirty="0"/>
              <a:t>二、安全架构师</a:t>
            </a:r>
            <a:r>
              <a:rPr lang="en-US" altLang="zh-CN" sz="1600" b="1" dirty="0"/>
              <a:t> / </a:t>
            </a:r>
            <a:r>
              <a:rPr lang="en-US" altLang="zh-CN" sz="1600" b="1" dirty="0" err="1"/>
              <a:t>DevSecOps</a:t>
            </a:r>
            <a:r>
              <a:rPr lang="en-US" altLang="zh-CN" sz="1600" b="1" dirty="0"/>
              <a:t> </a:t>
            </a:r>
            <a:r>
              <a:rPr lang="zh-CN" altLang="en-US" sz="1600" b="1" dirty="0"/>
              <a:t>工程师</a:t>
            </a:r>
            <a:endParaRPr lang="zh-CN" altLang="en-US" sz="1600" b="1" dirty="0"/>
          </a:p>
          <a:p>
            <a:pPr>
              <a:spcAft>
                <a:spcPct val="60000"/>
              </a:spcAft>
            </a:pPr>
            <a:r>
              <a:rPr lang="zh-CN" altLang="en-US" sz="1600" b="1" dirty="0"/>
              <a:t>三、开发人员（</a:t>
            </a:r>
            <a:r>
              <a:rPr lang="en-US" altLang="zh-CN" sz="1600" b="1" dirty="0"/>
              <a:t>Developer / </a:t>
            </a:r>
            <a:r>
              <a:rPr lang="zh-CN" altLang="en-US" sz="1600" b="1" dirty="0"/>
              <a:t>运维）</a:t>
            </a:r>
            <a:endParaRPr lang="zh-CN" altLang="en-US" sz="1600" b="1" dirty="0"/>
          </a:p>
          <a:p>
            <a:pPr>
              <a:spcAft>
                <a:spcPct val="60000"/>
              </a:spcAft>
            </a:pPr>
            <a:r>
              <a:rPr lang="zh-CN" altLang="en-US" sz="1600" b="1" dirty="0"/>
              <a:t>四、安全管理者</a:t>
            </a:r>
            <a:r>
              <a:rPr lang="en-US" altLang="zh-CN" sz="1600" b="1" dirty="0"/>
              <a:t> / </a:t>
            </a:r>
            <a:r>
              <a:rPr lang="zh-CN" altLang="en-US" sz="1600" b="1" dirty="0"/>
              <a:t>风控经理（</a:t>
            </a:r>
            <a:r>
              <a:rPr lang="en-US" altLang="zh-CN" sz="1600" b="1" dirty="0"/>
              <a:t>Security Manager / GRC</a:t>
            </a:r>
            <a:r>
              <a:rPr lang="zh-CN" altLang="en-US" sz="1600" b="1" dirty="0"/>
              <a:t>）</a:t>
            </a:r>
            <a:endParaRPr lang="zh-CN" altLang="en-US" sz="1600" b="1" dirty="0"/>
          </a:p>
          <a:p>
            <a:pPr>
              <a:spcAft>
                <a:spcPct val="60000"/>
              </a:spcAft>
            </a:pPr>
            <a:r>
              <a:rPr lang="zh-CN" altLang="en-US" sz="1600" b="1" dirty="0"/>
              <a:t>五、系统管理员</a:t>
            </a:r>
            <a:r>
              <a:rPr lang="en-US" altLang="zh-CN" sz="1600" b="1" dirty="0"/>
              <a:t> / </a:t>
            </a:r>
            <a:r>
              <a:rPr lang="zh-CN" altLang="en-US" sz="1600" b="1" dirty="0"/>
              <a:t>普通注册用户</a:t>
            </a:r>
            <a:endParaRPr lang="zh-CN" altLang="en-US" sz="1600" b="1" dirty="0"/>
          </a:p>
          <a:p>
            <a:pPr>
              <a:spcAft>
                <a:spcPct val="60000"/>
              </a:spcAft>
            </a:pPr>
            <a:endParaRPr lang="zh-CN" altLang="en-US" sz="1600" b="1" dirty="0"/>
          </a:p>
          <a:p>
            <a:pPr>
              <a:spcAft>
                <a:spcPct val="60000"/>
              </a:spcAft>
            </a:pPr>
            <a:endParaRPr lang="zh-CN" altLang="en-US" sz="1600" b="1" dirty="0"/>
          </a:p>
          <a:p>
            <a:pPr>
              <a:spcAft>
                <a:spcPct val="60000"/>
              </a:spcAft>
            </a:pPr>
            <a:endParaRPr lang="en-US" altLang="zh-CN" sz="1600" b="1" dirty="0"/>
          </a:p>
        </p:txBody>
      </p:sp>
      <p:sp>
        <p:nvSpPr>
          <p:cNvPr id="8" name="文本框 7"/>
          <p:cNvSpPr txBox="1"/>
          <p:nvPr/>
        </p:nvSpPr>
        <p:spPr>
          <a:xfrm>
            <a:off x="812800" y="1465580"/>
            <a:ext cx="4064000" cy="368300"/>
          </a:xfrm>
          <a:prstGeom prst="rect">
            <a:avLst/>
          </a:prstGeom>
          <a:noFill/>
        </p:spPr>
        <p:txBody>
          <a:bodyPr wrap="square" rtlCol="0">
            <a:spAutoFit/>
          </a:bodyPr>
          <a:lstStyle/>
          <a:p>
            <a:r>
              <a:rPr lang="zh-CN" altLang="en-US"/>
              <a:t>专业人员</a:t>
            </a:r>
            <a:endParaRPr lang="zh-CN" altLang="en-US"/>
          </a:p>
        </p:txBody>
      </p:sp>
      <p:sp>
        <p:nvSpPr>
          <p:cNvPr id="10" name="文本框 9"/>
          <p:cNvSpPr txBox="1"/>
          <p:nvPr/>
        </p:nvSpPr>
        <p:spPr>
          <a:xfrm>
            <a:off x="6851015" y="1465580"/>
            <a:ext cx="4064000" cy="368300"/>
          </a:xfrm>
          <a:prstGeom prst="rect">
            <a:avLst/>
          </a:prstGeom>
          <a:noFill/>
        </p:spPr>
        <p:txBody>
          <a:bodyPr wrap="square" rtlCol="0">
            <a:spAutoFit/>
          </a:bodyPr>
          <a:lstStyle/>
          <a:p>
            <a:r>
              <a:rPr lang="zh-CN" altLang="en-US"/>
              <a:t>专业平台</a:t>
            </a:r>
            <a:endParaRPr lang="zh-CN" altLang="en-US"/>
          </a:p>
        </p:txBody>
      </p:sp>
      <p:sp>
        <p:nvSpPr>
          <p:cNvPr id="11" name="文本框 10"/>
          <p:cNvSpPr txBox="1"/>
          <p:nvPr/>
        </p:nvSpPr>
        <p:spPr>
          <a:xfrm>
            <a:off x="6851015" y="1833563"/>
            <a:ext cx="5080000" cy="3174365"/>
          </a:xfrm>
          <a:prstGeom prst="rect">
            <a:avLst/>
          </a:prstGeom>
        </p:spPr>
        <p:txBody>
          <a:bodyPr>
            <a:spAutoFit/>
          </a:bodyPr>
          <a:lstStyle/>
          <a:p>
            <a:pPr>
              <a:spcAft>
                <a:spcPct val="60000"/>
              </a:spcAft>
            </a:pPr>
            <a:r>
              <a:rPr lang="zh-CN" altLang="en-US" sz="1600" b="1"/>
              <a:t>一、企业安全运营平台</a:t>
            </a:r>
            <a:endParaRPr lang="zh-CN" altLang="en-US" sz="1600" b="1"/>
          </a:p>
          <a:p>
            <a:pPr>
              <a:spcAft>
                <a:spcPct val="60000"/>
              </a:spcAft>
            </a:pPr>
            <a:r>
              <a:rPr lang="zh-CN" altLang="en-US" sz="1600" b="1"/>
              <a:t>二、开源漏洞情报平台</a:t>
            </a:r>
            <a:endParaRPr lang="zh-CN" altLang="en-US" sz="1600" b="1"/>
          </a:p>
          <a:p>
            <a:pPr>
              <a:spcAft>
                <a:spcPct val="60000"/>
              </a:spcAft>
            </a:pPr>
            <a:r>
              <a:rPr lang="zh-CN" altLang="en-US" sz="1600" b="1"/>
              <a:t>三、行业监管与合规审计平台</a:t>
            </a:r>
            <a:endParaRPr lang="zh-CN" altLang="en-US" sz="1600" b="1"/>
          </a:p>
          <a:p>
            <a:pPr>
              <a:spcAft>
                <a:spcPct val="60000"/>
              </a:spcAft>
            </a:pPr>
            <a:r>
              <a:rPr lang="zh-CN" altLang="en-US" sz="1600" b="1"/>
              <a:t>四、教育科研与实训平台</a:t>
            </a:r>
            <a:endParaRPr lang="zh-CN" altLang="en-US" sz="1600" b="1"/>
          </a:p>
          <a:p>
            <a:pPr>
              <a:spcAft>
                <a:spcPct val="60000"/>
              </a:spcAft>
            </a:pPr>
            <a:r>
              <a:rPr lang="zh-CN" altLang="en-US" sz="1600" b="1"/>
              <a:t>五、云服务安全平台</a:t>
            </a:r>
            <a:endParaRPr lang="zh-CN" altLang="en-US" sz="1600" b="1"/>
          </a:p>
          <a:p>
            <a:pPr>
              <a:spcAft>
                <a:spcPct val="60000"/>
              </a:spcAft>
            </a:pPr>
            <a:endParaRPr lang="zh-CN" altLang="en-US" sz="1600" b="1"/>
          </a:p>
          <a:p>
            <a:pPr>
              <a:spcAft>
                <a:spcPct val="60000"/>
              </a:spcAft>
            </a:pPr>
            <a:endParaRPr lang="zh-CN" altLang="en-US" sz="1600" b="1"/>
          </a:p>
          <a:p>
            <a:pPr>
              <a:spcAft>
                <a:spcPct val="60000"/>
              </a:spcAft>
            </a:pPr>
            <a:endParaRPr lang="zh-CN" altLang="en-US" sz="16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t>应用场景</a:t>
            </a:r>
            <a:endParaRPr lang="zh-CN" altLang="en-US" dirty="0"/>
          </a:p>
        </p:txBody>
      </p:sp>
      <p:sp>
        <p:nvSpPr>
          <p:cNvPr id="2" name="文本框 1"/>
          <p:cNvSpPr txBox="1"/>
          <p:nvPr/>
        </p:nvSpPr>
        <p:spPr>
          <a:xfrm>
            <a:off x="6954996" y="2171038"/>
            <a:ext cx="184731" cy="369332"/>
          </a:xfrm>
          <a:prstGeom prst="rect">
            <a:avLst/>
          </a:prstGeom>
          <a:noFill/>
        </p:spPr>
        <p:txBody>
          <a:bodyPr wrap="none" rtlCol="0">
            <a:spAutoFit/>
          </a:bodyPr>
          <a:lstStyle/>
          <a:p>
            <a:endParaRPr lang="zh-CN" altLang="en-US" dirty="0"/>
          </a:p>
        </p:txBody>
      </p:sp>
      <p:sp>
        <p:nvSpPr>
          <p:cNvPr id="7" name="文本框 6"/>
          <p:cNvSpPr txBox="1"/>
          <p:nvPr/>
        </p:nvSpPr>
        <p:spPr>
          <a:xfrm>
            <a:off x="812800" y="1927889"/>
            <a:ext cx="10100623" cy="3096232"/>
          </a:xfrm>
          <a:prstGeom prst="rect">
            <a:avLst/>
          </a:prstGeom>
        </p:spPr>
        <p:txBody>
          <a:bodyPr wrap="square">
            <a:spAutoFit/>
          </a:bodyPr>
          <a:lstStyle/>
          <a:p>
            <a:pPr>
              <a:spcAft>
                <a:spcPct val="60000"/>
              </a:spcAft>
            </a:pPr>
            <a:r>
              <a:rPr lang="zh-CN" altLang="en-US" sz="1600" dirty="0"/>
              <a:t>诉求 </a:t>
            </a:r>
            <a:r>
              <a:rPr lang="en-US" altLang="zh-CN" sz="1600" dirty="0"/>
              <a:t>1</a:t>
            </a:r>
            <a:r>
              <a:rPr lang="zh-CN" altLang="en-US" sz="1600" dirty="0"/>
              <a:t>：快速获取各类漏洞统计概览                                        诉求 </a:t>
            </a:r>
            <a:r>
              <a:rPr lang="en-US" altLang="zh-CN" sz="1600" dirty="0"/>
              <a:t>2</a:t>
            </a:r>
            <a:r>
              <a:rPr lang="zh-CN" altLang="en-US" sz="1600" dirty="0"/>
              <a:t>：具备图表化分析能力</a:t>
            </a:r>
            <a:endParaRPr lang="zh-CN" altLang="en-US" sz="1600" dirty="0"/>
          </a:p>
          <a:p>
            <a:pPr>
              <a:spcAft>
                <a:spcPct val="60000"/>
              </a:spcAft>
            </a:pPr>
            <a:r>
              <a:rPr lang="zh-CN" altLang="en-US" sz="1600" dirty="0"/>
              <a:t>诉求 </a:t>
            </a:r>
            <a:r>
              <a:rPr lang="en-US" altLang="zh-CN" sz="1600" dirty="0"/>
              <a:t>3</a:t>
            </a:r>
            <a:r>
              <a:rPr lang="zh-CN" altLang="en-US" sz="1600" dirty="0"/>
              <a:t>：快速定位某类漏洞，追踪修复状态</a:t>
            </a:r>
            <a:r>
              <a:rPr lang="zh-CN" altLang="en-US" sz="1600" b="1" dirty="0"/>
              <a:t>                             </a:t>
            </a:r>
            <a:r>
              <a:rPr lang="zh-CN" altLang="en-US" sz="1600" dirty="0"/>
              <a:t>诉求 </a:t>
            </a:r>
            <a:r>
              <a:rPr lang="en-US" altLang="zh-CN" sz="1600" dirty="0"/>
              <a:t>4</a:t>
            </a:r>
            <a:r>
              <a:rPr lang="zh-CN" altLang="en-US" sz="1600" dirty="0"/>
              <a:t>：细粒度厂商</a:t>
            </a:r>
            <a:r>
              <a:rPr lang="en-US" altLang="zh-CN" sz="1600" dirty="0"/>
              <a:t>/</a:t>
            </a:r>
            <a:r>
              <a:rPr lang="zh-CN" altLang="en-US" sz="1600" dirty="0"/>
              <a:t>产品维度漏洞建模</a:t>
            </a:r>
            <a:endParaRPr lang="zh-CN" altLang="en-US" sz="1600" dirty="0"/>
          </a:p>
          <a:p>
            <a:pPr>
              <a:spcAft>
                <a:spcPct val="60000"/>
              </a:spcAft>
            </a:pPr>
            <a:r>
              <a:rPr lang="zh-CN" altLang="en-US" sz="1600" dirty="0"/>
              <a:t>诉求 </a:t>
            </a:r>
            <a:r>
              <a:rPr lang="en-US" altLang="zh-CN" sz="1600" dirty="0"/>
              <a:t>5</a:t>
            </a:r>
            <a:r>
              <a:rPr lang="zh-CN" altLang="en-US" sz="1600" dirty="0"/>
              <a:t>：分类精细、可聚合分析的漏洞视图                             诉求 </a:t>
            </a:r>
            <a:r>
              <a:rPr lang="en-US" altLang="zh-CN" sz="1600" dirty="0"/>
              <a:t>6</a:t>
            </a:r>
            <a:r>
              <a:rPr lang="zh-CN" altLang="en-US" sz="1600" dirty="0"/>
              <a:t>：精准定位影响自身系统的 </a:t>
            </a:r>
            <a:r>
              <a:rPr lang="en-US" altLang="zh-CN" sz="1600" dirty="0"/>
              <a:t>CVE</a:t>
            </a:r>
            <a:endParaRPr lang="en-US" altLang="zh-CN" sz="1600" dirty="0"/>
          </a:p>
          <a:p>
            <a:pPr>
              <a:spcAft>
                <a:spcPct val="60000"/>
              </a:spcAft>
            </a:pPr>
            <a:r>
              <a:rPr lang="zh-CN" altLang="en-US" sz="1600" dirty="0"/>
              <a:t>诉求 </a:t>
            </a:r>
            <a:r>
              <a:rPr lang="en-US" altLang="zh-CN" sz="1600" dirty="0"/>
              <a:t>7</a:t>
            </a:r>
            <a:r>
              <a:rPr lang="zh-CN" altLang="en-US" sz="1600" dirty="0"/>
              <a:t>：根据 </a:t>
            </a:r>
            <a:r>
              <a:rPr lang="en-US" altLang="zh-CN" sz="1600" dirty="0"/>
              <a:t>CVSS </a:t>
            </a:r>
            <a:r>
              <a:rPr lang="zh-CN" altLang="en-US" sz="1600" dirty="0"/>
              <a:t>分数或攻击向量判断漏洞优先级               诉求 </a:t>
            </a:r>
            <a:r>
              <a:rPr lang="en-US" altLang="zh-CN" sz="1600" dirty="0"/>
              <a:t>8</a:t>
            </a:r>
            <a:r>
              <a:rPr lang="zh-CN" altLang="en-US" sz="1600" dirty="0"/>
              <a:t>：获取可审计、可报告的漏洞视图</a:t>
            </a:r>
            <a:endParaRPr lang="zh-CN" altLang="en-US" sz="1600" dirty="0"/>
          </a:p>
          <a:p>
            <a:pPr>
              <a:spcAft>
                <a:spcPct val="60000"/>
              </a:spcAft>
            </a:pPr>
            <a:r>
              <a:rPr lang="zh-CN" altLang="en-US" sz="1600" dirty="0"/>
              <a:t>诉求 </a:t>
            </a:r>
            <a:r>
              <a:rPr lang="en-US" altLang="zh-CN" sz="1600" dirty="0"/>
              <a:t>9</a:t>
            </a:r>
            <a:r>
              <a:rPr lang="zh-CN" altLang="en-US" sz="1600" dirty="0"/>
              <a:t>：查看某年漏洞响应总量与风险趋势                             诉求 </a:t>
            </a:r>
            <a:r>
              <a:rPr lang="en-US" altLang="zh-CN" sz="1600" dirty="0"/>
              <a:t>10</a:t>
            </a:r>
            <a:r>
              <a:rPr lang="zh-CN" altLang="en-US" sz="1600" dirty="0"/>
              <a:t>：权限管理与后台控制</a:t>
            </a:r>
            <a:endParaRPr lang="zh-CN" altLang="en-US" sz="1600" dirty="0"/>
          </a:p>
          <a:p>
            <a:pPr>
              <a:spcAft>
                <a:spcPct val="60000"/>
              </a:spcAft>
            </a:pPr>
            <a:r>
              <a:rPr lang="zh-CN" altLang="en-US" sz="1600" dirty="0"/>
              <a:t>诉求 </a:t>
            </a:r>
            <a:r>
              <a:rPr lang="en-US" altLang="zh-CN" sz="1600" dirty="0"/>
              <a:t>11</a:t>
            </a:r>
            <a:r>
              <a:rPr lang="zh-CN" altLang="en-US" sz="1600" dirty="0"/>
              <a:t>：无需培训即可使用的便捷界面</a:t>
            </a:r>
            <a:endParaRPr lang="zh-CN" altLang="en-US" sz="1600" dirty="0"/>
          </a:p>
          <a:p>
            <a:pPr>
              <a:spcAft>
                <a:spcPct val="60000"/>
              </a:spcAft>
            </a:pPr>
            <a:endParaRPr lang="zh-CN" altLang="en-US" sz="1600" b="1" dirty="0"/>
          </a:p>
          <a:p>
            <a:pPr>
              <a:spcAft>
                <a:spcPct val="60000"/>
              </a:spcAft>
            </a:pPr>
            <a:endParaRPr lang="en-US" altLang="zh-CN" sz="1600" b="1" dirty="0"/>
          </a:p>
        </p:txBody>
      </p:sp>
      <p:sp>
        <p:nvSpPr>
          <p:cNvPr id="8" name="文本框 7"/>
          <p:cNvSpPr txBox="1"/>
          <p:nvPr/>
        </p:nvSpPr>
        <p:spPr>
          <a:xfrm>
            <a:off x="812800" y="1465580"/>
            <a:ext cx="4064000" cy="368300"/>
          </a:xfrm>
          <a:prstGeom prst="rect">
            <a:avLst/>
          </a:prstGeom>
          <a:noFill/>
        </p:spPr>
        <p:txBody>
          <a:bodyPr wrap="square" rtlCol="0">
            <a:spAutoFit/>
          </a:bodyPr>
          <a:lstStyle/>
          <a:p>
            <a:r>
              <a:rPr lang="zh-CN" altLang="en-US"/>
              <a:t>专业人员</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sym typeface="+mn-lt"/>
              </a:rPr>
              <a:t>技术方法</a:t>
            </a:r>
            <a:r>
              <a:rPr lang="en-US" altLang="zh-CN" dirty="0">
                <a:latin typeface="Times New Roman" panose="02020603050405020304" pitchFamily="18" charset="0"/>
                <a:cs typeface="Times New Roman" panose="02020603050405020304" pitchFamily="18" charset="0"/>
                <a:sym typeface="+mn-lt"/>
              </a:rPr>
              <a:t>-</a:t>
            </a:r>
            <a:r>
              <a:rPr lang="zh-CN" altLang="en-US" sz="2800" dirty="0"/>
              <a:t>功能性需求</a:t>
            </a:r>
            <a:endParaRPr lang="zh-CN" altLang="en-US" sz="2800" dirty="0"/>
          </a:p>
        </p:txBody>
      </p:sp>
      <p:pic>
        <p:nvPicPr>
          <p:cNvPr id="6" name="图片 5"/>
          <p:cNvPicPr>
            <a:picLocks noChangeAspect="1"/>
          </p:cNvPicPr>
          <p:nvPr/>
        </p:nvPicPr>
        <p:blipFill>
          <a:blip r:embed="rId1"/>
          <a:stretch>
            <a:fillRect/>
          </a:stretch>
        </p:blipFill>
        <p:spPr>
          <a:xfrm>
            <a:off x="913130" y="1115060"/>
            <a:ext cx="2968625" cy="5095240"/>
          </a:xfrm>
          <a:prstGeom prst="rect">
            <a:avLst/>
          </a:prstGeom>
        </p:spPr>
      </p:pic>
      <p:sp>
        <p:nvSpPr>
          <p:cNvPr id="8" name="文本框 7"/>
          <p:cNvSpPr txBox="1"/>
          <p:nvPr/>
        </p:nvSpPr>
        <p:spPr>
          <a:xfrm>
            <a:off x="5371036" y="2668792"/>
            <a:ext cx="5080000" cy="1520416"/>
          </a:xfrm>
          <a:prstGeom prst="rect">
            <a:avLst/>
          </a:prstGeom>
        </p:spPr>
        <p:txBody>
          <a:bodyPr>
            <a:spAutoFit/>
          </a:bodyPr>
          <a:lstStyle/>
          <a:p>
            <a:pPr>
              <a:spcAft>
                <a:spcPct val="60000"/>
              </a:spcAft>
            </a:pPr>
            <a:r>
              <a:rPr lang="zh-CN" altLang="en-US" sz="1600" b="1" dirty="0"/>
              <a:t>一、支持基于 </a:t>
            </a:r>
            <a:r>
              <a:rPr lang="en-US" altLang="zh-CN" sz="1600" b="1" dirty="0"/>
              <a:t>JWT </a:t>
            </a:r>
            <a:r>
              <a:rPr lang="zh-CN" altLang="en-US" sz="1600" b="1" dirty="0"/>
              <a:t>的无状态身份认证机制</a:t>
            </a:r>
            <a:endParaRPr lang="zh-CN" altLang="en-US" sz="1600" b="1" dirty="0"/>
          </a:p>
          <a:p>
            <a:pPr>
              <a:spcAft>
                <a:spcPct val="60000"/>
              </a:spcAft>
            </a:pPr>
            <a:r>
              <a:rPr lang="zh-CN" altLang="en-US" sz="1600" b="1" dirty="0"/>
              <a:t>二、提供统一代理入口，实现前后端解耦部署</a:t>
            </a:r>
            <a:endParaRPr lang="zh-CN" altLang="en-US" sz="1600" b="1" dirty="0"/>
          </a:p>
          <a:p>
            <a:pPr>
              <a:spcAft>
                <a:spcPct val="60000"/>
              </a:spcAft>
            </a:pPr>
            <a:r>
              <a:rPr lang="zh-CN" altLang="en-US" sz="1600" b="1" dirty="0"/>
              <a:t>三、支持接口级别权限控制</a:t>
            </a:r>
            <a:endParaRPr lang="zh-CN" altLang="en-US" sz="1600" b="1" dirty="0"/>
          </a:p>
          <a:p>
            <a:pPr>
              <a:spcAft>
                <a:spcPct val="60000"/>
              </a:spcAft>
            </a:pPr>
            <a:r>
              <a:rPr lang="zh-CN" altLang="en-US" sz="1600" b="1" dirty="0"/>
              <a:t>四、支持安全的跨域访问策略（</a:t>
            </a:r>
            <a:r>
              <a:rPr lang="en-US" altLang="zh-CN" sz="1600" b="1" dirty="0"/>
              <a:t>CORS</a:t>
            </a:r>
            <a:r>
              <a:rPr lang="zh-CN" altLang="en-US" sz="1600" b="1" dirty="0"/>
              <a:t>）</a:t>
            </a:r>
            <a:endParaRPr lang="zh-CN" altLang="en-US" sz="1600" b="1"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4545149" y="1536974"/>
            <a:ext cx="3102428" cy="645113"/>
          </a:xfrm>
          <a:prstGeom prst="rect">
            <a:avLst/>
          </a:prstGeom>
          <a:noFill/>
        </p:spPr>
        <p:txBody>
          <a:bodyPr wrap="square" rtlCol="0">
            <a:spAutoFit/>
          </a:bodyPr>
          <a:lstStyle/>
          <a:p>
            <a:pPr algn="ctr">
              <a:lnSpc>
                <a:spcPct val="120000"/>
              </a:lnSpc>
            </a:pPr>
            <a:r>
              <a:rPr lang="en-MY" sz="3200" b="1" dirty="0"/>
              <a:t>PART</a:t>
            </a:r>
            <a:r>
              <a:rPr lang="en-MY" sz="3200" b="1" dirty="0">
                <a:solidFill>
                  <a:srgbClr val="006C30"/>
                </a:solidFill>
              </a:rPr>
              <a:t> </a:t>
            </a:r>
            <a:r>
              <a:rPr lang="en-US" altLang="zh-CN" sz="3200" b="1" dirty="0"/>
              <a:t>2</a:t>
            </a:r>
            <a:endParaRPr lang="en-US" altLang="en-MY" sz="3200" b="1" dirty="0"/>
          </a:p>
        </p:txBody>
      </p:sp>
      <p:sp>
        <p:nvSpPr>
          <p:cNvPr id="14" name="矩形 13"/>
          <p:cNvSpPr/>
          <p:nvPr/>
        </p:nvSpPr>
        <p:spPr>
          <a:xfrm>
            <a:off x="4886166" y="2871480"/>
            <a:ext cx="2419668" cy="848437"/>
          </a:xfrm>
          <a:prstGeom prst="rect">
            <a:avLst/>
          </a:prstGeom>
        </p:spPr>
        <p:txBody>
          <a:bodyPr wrap="square">
            <a:spAutoFit/>
          </a:bodyPr>
          <a:lstStyle/>
          <a:p>
            <a:pPr>
              <a:lnSpc>
                <a:spcPct val="120000"/>
              </a:lnSpc>
              <a:defRPr/>
            </a:pPr>
            <a:r>
              <a:rPr lang="zh-CN" altLang="en-US" sz="4400" dirty="0">
                <a:latin typeface="Times New Roman" panose="02020603050405020304" pitchFamily="18" charset="0"/>
                <a:cs typeface="Times New Roman" panose="02020603050405020304" pitchFamily="18" charset="0"/>
                <a:sym typeface="+mn-lt"/>
              </a:rPr>
              <a:t>技术方法</a:t>
            </a:r>
            <a:endParaRPr lang="en-MY" altLang="zh-CN" sz="4400" dirty="0">
              <a:latin typeface="Times New Roman" panose="02020603050405020304" pitchFamily="18" charset="0"/>
              <a:cs typeface="Times New Roman" panose="02020603050405020304" pitchFamily="18" charset="0"/>
              <a:sym typeface="+mn-lt"/>
            </a:endParaRPr>
          </a:p>
        </p:txBody>
      </p:sp>
      <p:cxnSp>
        <p:nvCxnSpPr>
          <p:cNvPr id="16" name="直接连接符 15"/>
          <p:cNvCxnSpPr/>
          <p:nvPr/>
        </p:nvCxnSpPr>
        <p:spPr>
          <a:xfrm>
            <a:off x="4808548" y="3719917"/>
            <a:ext cx="2708451" cy="0"/>
          </a:xfrm>
          <a:prstGeom prst="line">
            <a:avLst/>
          </a:prstGeom>
          <a:ln>
            <a:solidFill>
              <a:srgbClr val="006C3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建表语言</a:t>
            </a:r>
            <a:endParaRPr lang="zh-CN" altLang="en-US" sz="2800" dirty="0"/>
          </a:p>
        </p:txBody>
      </p:sp>
      <p:sp>
        <p:nvSpPr>
          <p:cNvPr id="3" name="文本框 2"/>
          <p:cNvSpPr txBox="1"/>
          <p:nvPr/>
        </p:nvSpPr>
        <p:spPr>
          <a:xfrm>
            <a:off x="669925" y="1311275"/>
            <a:ext cx="2580005" cy="2245360"/>
          </a:xfrm>
          <a:prstGeom prst="rect">
            <a:avLst/>
          </a:prstGeom>
        </p:spPr>
        <p:txBody>
          <a:bodyPr wrap="square">
            <a:spAutoFit/>
          </a:bodyPr>
          <a:lstStyle/>
          <a:p>
            <a:r>
              <a:rPr lang="en-US" altLang="zh-CN" sz="1000" dirty="0"/>
              <a:t>CREATE TABLE IF NOT EXISTS </a:t>
            </a:r>
            <a:r>
              <a:rPr lang="en-US" altLang="zh-CN" sz="1000" dirty="0" err="1"/>
              <a:t>CVEEntry</a:t>
            </a:r>
            <a:r>
              <a:rPr lang="en-US" altLang="zh-CN" sz="1000" dirty="0"/>
              <a:t> (
    id VARCHAR(50) PRIMARY KEY,
    </a:t>
            </a:r>
            <a:r>
              <a:rPr lang="en-US" altLang="zh-CN" sz="1000" dirty="0" err="1"/>
              <a:t>sourceIdentifier</a:t>
            </a:r>
            <a:r>
              <a:rPr lang="en-US" altLang="zh-CN" sz="1000" dirty="0"/>
              <a:t> VARCHAR(255),
    published DATETIME,
    </a:t>
            </a:r>
            <a:r>
              <a:rPr lang="en-US" altLang="zh-CN" sz="1000" dirty="0" err="1"/>
              <a:t>lastModified</a:t>
            </a:r>
            <a:r>
              <a:rPr lang="en-US" altLang="zh-CN" sz="1000" dirty="0"/>
              <a:t> DATETIME,
    </a:t>
            </a:r>
            <a:r>
              <a:rPr lang="en-US" altLang="zh-CN" sz="1000" dirty="0" err="1"/>
              <a:t>vulnStatus</a:t>
            </a:r>
            <a:r>
              <a:rPr lang="en-US" altLang="zh-CN" sz="1000" dirty="0"/>
              <a:t> VARCHAR(50),
    </a:t>
            </a:r>
            <a:r>
              <a:rPr lang="en-US" altLang="zh-CN" sz="1000" dirty="0" err="1"/>
              <a:t>evaluatorComment</a:t>
            </a:r>
            <a:r>
              <a:rPr lang="en-US" altLang="zh-CN" sz="1000" dirty="0"/>
              <a:t> TEXT,
    </a:t>
            </a:r>
            <a:r>
              <a:rPr lang="en-US" altLang="zh-CN" sz="1000" dirty="0" err="1"/>
              <a:t>evaluatorImpact</a:t>
            </a:r>
            <a:r>
              <a:rPr lang="en-US" altLang="zh-CN" sz="1000" dirty="0"/>
              <a:t> TEXT,
    </a:t>
            </a:r>
            <a:r>
              <a:rPr lang="en-US" altLang="zh-CN" sz="1000" dirty="0" err="1"/>
              <a:t>evaluatorSolution</a:t>
            </a:r>
            <a:r>
              <a:rPr lang="en-US" altLang="zh-CN" sz="1000" dirty="0"/>
              <a:t> TEXT,
    </a:t>
            </a:r>
            <a:r>
              <a:rPr lang="en-US" altLang="zh-CN" sz="1000" dirty="0" err="1"/>
              <a:t>cisaActionDue</a:t>
            </a:r>
            <a:r>
              <a:rPr lang="en-US" altLang="zh-CN" sz="1000" dirty="0"/>
              <a:t> DATETIME,
    </a:t>
            </a:r>
            <a:r>
              <a:rPr lang="en-US" altLang="zh-CN" sz="1000" dirty="0" err="1"/>
              <a:t>cisaExploitAdd</a:t>
            </a:r>
            <a:r>
              <a:rPr lang="en-US" altLang="zh-CN" sz="1000" dirty="0"/>
              <a:t> DATETIME,
    </a:t>
            </a:r>
            <a:r>
              <a:rPr lang="en-US" altLang="zh-CN" sz="1000" dirty="0" err="1"/>
              <a:t>cisaRequiredAction</a:t>
            </a:r>
            <a:r>
              <a:rPr lang="en-US" altLang="zh-CN" sz="1000" dirty="0"/>
              <a:t> TEXT,
    </a:t>
            </a:r>
            <a:r>
              <a:rPr lang="en-US" altLang="zh-CN" sz="1000" dirty="0" err="1"/>
              <a:t>cisaVulnerabilityName</a:t>
            </a:r>
            <a:r>
              <a:rPr lang="en-US" altLang="zh-CN" sz="1000" dirty="0"/>
              <a:t> TEXT
);</a:t>
            </a:r>
            <a:endParaRPr lang="en-US" altLang="zh-CN" sz="1000" dirty="0"/>
          </a:p>
        </p:txBody>
      </p:sp>
      <p:sp>
        <p:nvSpPr>
          <p:cNvPr id="4" name="文本框 3"/>
          <p:cNvSpPr txBox="1"/>
          <p:nvPr/>
        </p:nvSpPr>
        <p:spPr>
          <a:xfrm>
            <a:off x="3556000" y="1311275"/>
            <a:ext cx="5080000" cy="1014730"/>
          </a:xfrm>
          <a:prstGeom prst="rect">
            <a:avLst/>
          </a:prstGeom>
        </p:spPr>
        <p:txBody>
          <a:bodyPr>
            <a:spAutoFit/>
          </a:bodyPr>
          <a:lstStyle/>
          <a:p>
            <a:r>
              <a:rPr lang="en-US" altLang="zh-CN" sz="1000"/>
              <a:t>CREATE TABLE IF NOT EXISTS Description (
    cve_id VARCHAR(50),
    lang VARCHAR(10),
    value TEXT,
    FOREIGN KEY (cve_id) REFERENCES CVEEntry(id) ON DELETE CASCADE
);</a:t>
            </a:r>
            <a:endParaRPr lang="en-US" altLang="zh-CN" sz="1000"/>
          </a:p>
        </p:txBody>
      </p:sp>
      <p:sp>
        <p:nvSpPr>
          <p:cNvPr id="5" name="文本框 4"/>
          <p:cNvSpPr txBox="1"/>
          <p:nvPr/>
        </p:nvSpPr>
        <p:spPr>
          <a:xfrm>
            <a:off x="669925" y="4900295"/>
            <a:ext cx="4222750" cy="1014730"/>
          </a:xfrm>
          <a:prstGeom prst="rect">
            <a:avLst/>
          </a:prstGeom>
        </p:spPr>
        <p:txBody>
          <a:bodyPr wrap="square">
            <a:spAutoFit/>
          </a:bodyPr>
          <a:lstStyle/>
          <a:p>
            <a:r>
              <a:rPr lang="en-US" altLang="zh-CN" sz="1000" dirty="0"/>
              <a:t>CREATE TABLE IF NOT EXISTS </a:t>
            </a:r>
            <a:r>
              <a:rPr lang="en-US" altLang="zh-CN" sz="1000" dirty="0" err="1"/>
              <a:t>CVETag</a:t>
            </a:r>
            <a:r>
              <a:rPr lang="en-US" altLang="zh-CN" sz="1000" dirty="0"/>
              <a:t> (
    </a:t>
            </a:r>
            <a:r>
              <a:rPr lang="en-US" altLang="zh-CN" sz="1000" dirty="0" err="1"/>
              <a:t>cve_id</a:t>
            </a:r>
            <a:r>
              <a:rPr lang="en-US" altLang="zh-CN" sz="1000" dirty="0"/>
              <a:t> VARCHAR(50),
    </a:t>
            </a:r>
            <a:r>
              <a:rPr lang="en-US" altLang="zh-CN" sz="1000" dirty="0" err="1"/>
              <a:t>sourceIdentifier</a:t>
            </a:r>
            <a:r>
              <a:rPr lang="en-US" altLang="zh-CN" sz="1000" dirty="0"/>
              <a:t> VARCHAR(255),
    tag VARCHAR(100),
    FOREIGN KEY (</a:t>
            </a:r>
            <a:r>
              <a:rPr lang="en-US" altLang="zh-CN" sz="1000" dirty="0" err="1"/>
              <a:t>cve_id</a:t>
            </a:r>
            <a:r>
              <a:rPr lang="en-US" altLang="zh-CN" sz="1000" dirty="0"/>
              <a:t>) REFERENCES </a:t>
            </a:r>
            <a:r>
              <a:rPr lang="en-US" altLang="zh-CN" sz="1000" dirty="0" err="1"/>
              <a:t>CVEEntry</a:t>
            </a:r>
            <a:r>
              <a:rPr lang="en-US" altLang="zh-CN" sz="1000" dirty="0"/>
              <a:t>(id) ON DELETE CASCADE
);</a:t>
            </a:r>
            <a:endParaRPr lang="en-US" altLang="zh-CN" sz="1000" dirty="0"/>
          </a:p>
        </p:txBody>
      </p:sp>
      <p:sp>
        <p:nvSpPr>
          <p:cNvPr id="6" name="文本框 5"/>
          <p:cNvSpPr txBox="1"/>
          <p:nvPr/>
        </p:nvSpPr>
        <p:spPr>
          <a:xfrm>
            <a:off x="669925" y="3731895"/>
            <a:ext cx="4222750" cy="1168400"/>
          </a:xfrm>
          <a:prstGeom prst="rect">
            <a:avLst/>
          </a:prstGeom>
        </p:spPr>
        <p:txBody>
          <a:bodyPr wrap="square">
            <a:spAutoFit/>
          </a:bodyPr>
          <a:lstStyle/>
          <a:p>
            <a:r>
              <a:rPr lang="en-US" altLang="zh-CN" sz="1000"/>
              <a:t>CREATE TABLE IF NOT EXISTS Reference (
    cve_id VARCHAR(50),
    url TEXT,
    source VARCHAR(255),
    tag VARCHAR(100),
    FOREIGN KEY (cve_id) REFERENCES CVEEntry(id) ON DELETE CASCADE
);</a:t>
            </a:r>
            <a:endParaRPr lang="en-US" altLang="zh-CN" sz="1000"/>
          </a:p>
        </p:txBody>
      </p:sp>
      <p:sp>
        <p:nvSpPr>
          <p:cNvPr id="7" name="文本框 6"/>
          <p:cNvSpPr txBox="1"/>
          <p:nvPr/>
        </p:nvSpPr>
        <p:spPr>
          <a:xfrm>
            <a:off x="3556000" y="2383155"/>
            <a:ext cx="4305300" cy="2091690"/>
          </a:xfrm>
          <a:prstGeom prst="rect">
            <a:avLst/>
          </a:prstGeom>
        </p:spPr>
        <p:txBody>
          <a:bodyPr wrap="square">
            <a:spAutoFit/>
          </a:bodyPr>
          <a:lstStyle/>
          <a:p>
            <a:r>
              <a:rPr lang="en-US" altLang="zh-CN" sz="1000" dirty="0"/>
              <a:t>CREATE TABLE IF NOT EXISTS Metric (
    </a:t>
            </a:r>
            <a:r>
              <a:rPr lang="en-US" altLang="zh-CN" sz="1000" dirty="0" err="1"/>
              <a:t>cve_id</a:t>
            </a:r>
            <a:r>
              <a:rPr lang="en-US" altLang="zh-CN" sz="1000" dirty="0"/>
              <a:t> VARCHAR(50),
    version VARCHAR(10),
    </a:t>
            </a:r>
            <a:r>
              <a:rPr lang="en-US" altLang="zh-CN" sz="1000" dirty="0" err="1"/>
              <a:t>vectorString</a:t>
            </a:r>
            <a:r>
              <a:rPr lang="en-US" altLang="zh-CN" sz="1000" dirty="0"/>
              <a:t> TEXT,
    </a:t>
            </a:r>
            <a:r>
              <a:rPr lang="en-US" altLang="zh-CN" sz="1000" dirty="0" err="1"/>
              <a:t>baseScore</a:t>
            </a:r>
            <a:r>
              <a:rPr lang="en-US" altLang="zh-CN" sz="1000" dirty="0"/>
              <a:t> FLOAT,
    </a:t>
            </a:r>
            <a:r>
              <a:rPr lang="en-US" altLang="zh-CN" sz="1000" dirty="0" err="1"/>
              <a:t>baseSeverity</a:t>
            </a:r>
            <a:r>
              <a:rPr lang="en-US" altLang="zh-CN" sz="1000" dirty="0"/>
              <a:t> VARCHAR(50),
    </a:t>
            </a:r>
            <a:r>
              <a:rPr lang="en-US" altLang="zh-CN" sz="1000" dirty="0" err="1"/>
              <a:t>impactScore</a:t>
            </a:r>
            <a:r>
              <a:rPr lang="en-US" altLang="zh-CN" sz="1000" dirty="0"/>
              <a:t> FLOAT,
    </a:t>
            </a:r>
            <a:r>
              <a:rPr lang="en-US" altLang="zh-CN" sz="1000" dirty="0" err="1"/>
              <a:t>exploitabilityScore</a:t>
            </a:r>
            <a:r>
              <a:rPr lang="en-US" altLang="zh-CN" sz="1000" dirty="0"/>
              <a:t> FLOAT,
    source VARCHAR(255),
    type VARCHAR(50),
    </a:t>
            </a:r>
            <a:r>
              <a:rPr lang="en-US" altLang="zh-CN" sz="1000" dirty="0" err="1"/>
              <a:t>json_data</a:t>
            </a:r>
            <a:r>
              <a:rPr lang="en-US" altLang="zh-CN" sz="1000" dirty="0"/>
              <a:t> JSON,
    FOREIGN KEY (</a:t>
            </a:r>
            <a:r>
              <a:rPr lang="en-US" altLang="zh-CN" sz="1000" dirty="0" err="1"/>
              <a:t>cve_id</a:t>
            </a:r>
            <a:r>
              <a:rPr lang="en-US" altLang="zh-CN" sz="1000" dirty="0"/>
              <a:t>) REFERENCES </a:t>
            </a:r>
            <a:r>
              <a:rPr lang="en-US" altLang="zh-CN" sz="1000" dirty="0" err="1"/>
              <a:t>CVEEntry</a:t>
            </a:r>
            <a:r>
              <a:rPr lang="en-US" altLang="zh-CN" sz="1000" dirty="0"/>
              <a:t>(id) ON DELETE CASCADE
);</a:t>
            </a:r>
            <a:endParaRPr lang="en-US" altLang="zh-CN" sz="1000" dirty="0"/>
          </a:p>
        </p:txBody>
      </p:sp>
      <p:sp>
        <p:nvSpPr>
          <p:cNvPr id="8" name="文本框 7"/>
          <p:cNvSpPr txBox="1"/>
          <p:nvPr/>
        </p:nvSpPr>
        <p:spPr>
          <a:xfrm>
            <a:off x="4893310" y="4592955"/>
            <a:ext cx="4371975" cy="1322070"/>
          </a:xfrm>
          <a:prstGeom prst="rect">
            <a:avLst/>
          </a:prstGeom>
        </p:spPr>
        <p:txBody>
          <a:bodyPr wrap="square">
            <a:spAutoFit/>
          </a:bodyPr>
          <a:lstStyle/>
          <a:p>
            <a:r>
              <a:rPr lang="en-US" altLang="zh-CN" sz="1000"/>
              <a:t>CREATE TABLE IF NOT EXISTS Weakness (
    cve_id VARCHAR(50),
    source VARCHAR(255),
    type VARCHAR(50),
    lang VARCHAR(10),
    value TEXT,
    FOREIGN KEY (cve_id) REFERENCES CVEEntry(id) ON DELETE CASCADE
);</a:t>
            </a:r>
            <a:endParaRPr lang="en-US" altLang="zh-CN" sz="1000"/>
          </a:p>
        </p:txBody>
      </p:sp>
      <p:sp>
        <p:nvSpPr>
          <p:cNvPr id="9" name="文本框 8"/>
          <p:cNvSpPr txBox="1"/>
          <p:nvPr/>
        </p:nvSpPr>
        <p:spPr>
          <a:xfrm>
            <a:off x="7861300" y="1311275"/>
            <a:ext cx="5080000" cy="2091690"/>
          </a:xfrm>
          <a:prstGeom prst="rect">
            <a:avLst/>
          </a:prstGeom>
        </p:spPr>
        <p:txBody>
          <a:bodyPr>
            <a:spAutoFit/>
          </a:bodyPr>
          <a:lstStyle/>
          <a:p>
            <a:r>
              <a:rPr lang="en-US" altLang="zh-CN" sz="1000" dirty="0"/>
              <a:t>CREATE TABLE IF NOT EXISTS Configuration (
    </a:t>
            </a:r>
            <a:r>
              <a:rPr lang="en-US" altLang="zh-CN" sz="1000" dirty="0" err="1"/>
              <a:t>cve_id</a:t>
            </a:r>
            <a:r>
              <a:rPr lang="en-US" altLang="zh-CN" sz="1000" dirty="0"/>
              <a:t> VARCHAR(50),
    operator VARCHAR(20),
    negate BOOLEAN,
    </a:t>
            </a:r>
            <a:r>
              <a:rPr lang="en-US" altLang="zh-CN" sz="1000" dirty="0" err="1"/>
              <a:t>matchCriteriaId</a:t>
            </a:r>
            <a:r>
              <a:rPr lang="en-US" altLang="zh-CN" sz="1000" dirty="0"/>
              <a:t> VARCHAR(100),
    criteria TEXT,
    vulnerable BOOLEAN,
    </a:t>
            </a:r>
            <a:r>
              <a:rPr lang="en-US" altLang="zh-CN" sz="1000" dirty="0" err="1"/>
              <a:t>versionStartIncluding</a:t>
            </a:r>
            <a:r>
              <a:rPr lang="en-US" altLang="zh-CN" sz="1000" dirty="0"/>
              <a:t> TEXT,
    </a:t>
            </a:r>
            <a:r>
              <a:rPr lang="en-US" altLang="zh-CN" sz="1000" dirty="0" err="1"/>
              <a:t>versionEndIncluding</a:t>
            </a:r>
            <a:r>
              <a:rPr lang="en-US" altLang="zh-CN" sz="1000" dirty="0"/>
              <a:t> TEXT,
    </a:t>
            </a:r>
            <a:r>
              <a:rPr lang="en-US" altLang="zh-CN" sz="1000" dirty="0" err="1"/>
              <a:t>versionStartExcluding</a:t>
            </a:r>
            <a:r>
              <a:rPr lang="en-US" altLang="zh-CN" sz="1000" dirty="0"/>
              <a:t> TEXT,
    </a:t>
            </a:r>
            <a:r>
              <a:rPr lang="en-US" altLang="zh-CN" sz="1000" dirty="0" err="1"/>
              <a:t>versionEndExcluding</a:t>
            </a:r>
            <a:r>
              <a:rPr lang="en-US" altLang="zh-CN" sz="1000" dirty="0"/>
              <a:t> TEXT,
    FOREIGN KEY (</a:t>
            </a:r>
            <a:r>
              <a:rPr lang="en-US" altLang="zh-CN" sz="1000" dirty="0" err="1"/>
              <a:t>cve_id</a:t>
            </a:r>
            <a:r>
              <a:rPr lang="en-US" altLang="zh-CN" sz="1000" dirty="0"/>
              <a:t>) REFERENCES </a:t>
            </a:r>
            <a:r>
              <a:rPr lang="en-US" altLang="zh-CN" sz="1000" dirty="0" err="1"/>
              <a:t>CVEEntry</a:t>
            </a:r>
            <a:r>
              <a:rPr lang="en-US" altLang="zh-CN" sz="1000" dirty="0"/>
              <a:t>(id) ON DELETE CASCADE
);</a:t>
            </a:r>
            <a:endParaRPr lang="en-US" altLang="zh-CN" sz="1000" dirty="0"/>
          </a:p>
        </p:txBody>
      </p:sp>
      <p:sp>
        <p:nvSpPr>
          <p:cNvPr id="10" name="文本框 9"/>
          <p:cNvSpPr txBox="1"/>
          <p:nvPr/>
        </p:nvSpPr>
        <p:spPr>
          <a:xfrm>
            <a:off x="7861300" y="3493770"/>
            <a:ext cx="5080000" cy="1168400"/>
          </a:xfrm>
          <a:prstGeom prst="rect">
            <a:avLst/>
          </a:prstGeom>
        </p:spPr>
        <p:txBody>
          <a:bodyPr>
            <a:spAutoFit/>
          </a:bodyPr>
          <a:lstStyle/>
          <a:p>
            <a:r>
              <a:rPr lang="en-US" altLang="zh-CN" sz="1000" dirty="0"/>
              <a:t>CREATE TABLE IF NOT EXISTS </a:t>
            </a:r>
            <a:r>
              <a:rPr lang="en-US" altLang="zh-CN" sz="1000" dirty="0" err="1"/>
              <a:t>VendorComment</a:t>
            </a:r>
            <a:r>
              <a:rPr lang="en-US" altLang="zh-CN" sz="1000" dirty="0"/>
              <a:t> (
    </a:t>
            </a:r>
            <a:r>
              <a:rPr lang="en-US" altLang="zh-CN" sz="1000" dirty="0" err="1"/>
              <a:t>cve_id</a:t>
            </a:r>
            <a:r>
              <a:rPr lang="en-US" altLang="zh-CN" sz="1000" dirty="0"/>
              <a:t> VARCHAR(50),
    organization VARCHAR(255),
    comment TEXT,
    </a:t>
            </a:r>
            <a:r>
              <a:rPr lang="en-US" altLang="zh-CN" sz="1000" dirty="0" err="1"/>
              <a:t>lastModified</a:t>
            </a:r>
            <a:r>
              <a:rPr lang="en-US" altLang="zh-CN" sz="1000" dirty="0"/>
              <a:t> DATETIME,
    FOREIGN KEY (</a:t>
            </a:r>
            <a:r>
              <a:rPr lang="en-US" altLang="zh-CN" sz="1000" dirty="0" err="1"/>
              <a:t>cve_id</a:t>
            </a:r>
            <a:r>
              <a:rPr lang="en-US" altLang="zh-CN" sz="1000" dirty="0"/>
              <a:t>) REFERENCES </a:t>
            </a:r>
            <a:r>
              <a:rPr lang="en-US" altLang="zh-CN" sz="1000" dirty="0" err="1"/>
              <a:t>CVEEntry</a:t>
            </a:r>
            <a:r>
              <a:rPr lang="en-US" altLang="zh-CN" sz="1000" dirty="0"/>
              <a:t>(id) ON DELETE CASCADE
);</a:t>
            </a:r>
            <a:endParaRPr lang="en-US" altLang="zh-CN" sz="1000"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sym typeface="+mn-ea"/>
              </a:rPr>
              <a:t>建表语言</a:t>
            </a:r>
            <a:endParaRPr lang="zh-CN" altLang="en-US" dirty="0"/>
          </a:p>
        </p:txBody>
      </p:sp>
      <p:sp>
        <p:nvSpPr>
          <p:cNvPr id="17" name="文本框 16"/>
          <p:cNvSpPr txBox="1"/>
          <p:nvPr/>
        </p:nvSpPr>
        <p:spPr>
          <a:xfrm>
            <a:off x="669925" y="1437005"/>
            <a:ext cx="5080000" cy="1630045"/>
          </a:xfrm>
          <a:prstGeom prst="rect">
            <a:avLst/>
          </a:prstGeom>
        </p:spPr>
        <p:txBody>
          <a:bodyPr>
            <a:spAutoFit/>
          </a:bodyPr>
          <a:lstStyle/>
          <a:p>
            <a:r>
              <a:rPr lang="en-US" altLang="zh-CN" sz="1000"/>
              <a:t>CREATE TABLE IF NOT EXISTS users (
   id          BIGINT UNSIGNED AUTO_INCREMENT PRIMARY KEY,
   email        VARCHAR(255) NOT NULL UNIQUE,
   username     VARCHAR(100) NOT NULL UNIQUE,       </a:t>
            </a:r>
            <a:r>
              <a:rPr lang="zh-CN" altLang="en-US" sz="1000"/>
              <a:t>   </a:t>
            </a:r>
            <a:r>
              <a:rPr lang="en-US" altLang="zh-CN" sz="1000"/>
              <a:t>password_hash VARBINARY(60) NOT NULL,
   created_at   TIMESTAMP   DEFAULT CURRENT_TIMESTAMP,
     updated_at    TIMESTAMP    DEFAULT CURRENT_TIMESTAMP ON UPDATE CURRENT_TIMESTAMP
) ENGINE = InnoDB
  DEFAULT CHARSET = utf8mb4;</a:t>
            </a:r>
            <a:endParaRPr lang="en-US" altLang="zh-CN" sz="1000"/>
          </a:p>
        </p:txBody>
      </p:sp>
      <p:sp>
        <p:nvSpPr>
          <p:cNvPr id="19" name="文本框 18"/>
          <p:cNvSpPr txBox="1"/>
          <p:nvPr/>
        </p:nvSpPr>
        <p:spPr>
          <a:xfrm>
            <a:off x="669925" y="3324542"/>
            <a:ext cx="5080000" cy="2707005"/>
          </a:xfrm>
          <a:prstGeom prst="rect">
            <a:avLst/>
          </a:prstGeom>
        </p:spPr>
        <p:txBody>
          <a:bodyPr>
            <a:spAutoFit/>
          </a:bodyPr>
          <a:lstStyle/>
          <a:p>
            <a:r>
              <a:rPr lang="en-US" altLang="zh-CN" sz="1000"/>
              <a:t>CREATE TABLE permissions (
    id          BIGINT UNSIGNED AUTO_INCREMENT PRIMARY KEY,
    user_id      BIGINT UNSIGNED NOT NULL,
    table_name   VARCHAR(64) NOT NULL,
    can_select   BOOLEAN DEFAULT FALSE,
    can_insert   BOOLEAN DEFAULT FALSE,
    can_update   BOOLEAN DEFAULT FALSE,
    can_delete   BOOLEAN DEFAULT FALSE,
    created_at   TIMESTAMP DEFAULT CURRENT_TIMESTAMP,
   updated_at   TIMESTAMP DEFAULT CURRENT_TIMESTAMP ON UPDATE CURRENT_TIMESTAMP,
    CONSTRAINT fk_perm_user
       FOREIGN KEY (user_id) REFERENCES users(id)
       ON DELETE CASCADE
       ON UPDATE CASCADE,
    UNIQUE KEY uk_user_table (user_id, table_name)
) ENGINE=InnoDB DEFAULT CHARSET=utf8mb4;</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5" y="167005"/>
            <a:ext cx="10850880" cy="861695"/>
          </a:xfrm>
        </p:spPr>
        <p:txBody>
          <a:bodyPr/>
          <a:lstStyle/>
          <a:p>
            <a:r>
              <a:rPr lang="zh-CN" altLang="en-US" dirty="0">
                <a:latin typeface="Times New Roman" panose="02020603050405020304" pitchFamily="18" charset="0"/>
                <a:cs typeface="Times New Roman" panose="02020603050405020304" pitchFamily="18" charset="0"/>
                <a:sym typeface="+mn-lt"/>
              </a:rPr>
              <a:t>技术方法</a:t>
            </a:r>
            <a:r>
              <a:rPr lang="en-US" altLang="zh-CN" dirty="0">
                <a:latin typeface="Times New Roman" panose="02020603050405020304" pitchFamily="18" charset="0"/>
                <a:cs typeface="Times New Roman" panose="02020603050405020304" pitchFamily="18" charset="0"/>
                <a:sym typeface="+mn-lt"/>
              </a:rPr>
              <a:t>-</a:t>
            </a:r>
            <a:r>
              <a:rPr lang="zh-CN" altLang="en-US" sz="2800" dirty="0">
                <a:latin typeface="Times New Roman" panose="02020603050405020304" pitchFamily="18" charset="0"/>
                <a:cs typeface="Times New Roman" panose="02020603050405020304" pitchFamily="18" charset="0"/>
                <a:sym typeface="+mn-lt"/>
              </a:rPr>
              <a:t>数据库规范化验证</a:t>
            </a:r>
            <a:endParaRPr lang="zh-CN" altLang="en-US" sz="2800" dirty="0">
              <a:latin typeface="Times New Roman" panose="02020603050405020304" pitchFamily="18" charset="0"/>
              <a:cs typeface="Times New Roman" panose="02020603050405020304" pitchFamily="18" charset="0"/>
              <a:sym typeface="+mn-lt"/>
            </a:endParaRPr>
          </a:p>
        </p:txBody>
      </p:sp>
      <p:pic>
        <p:nvPicPr>
          <p:cNvPr id="3" name="图片 2"/>
          <p:cNvPicPr>
            <a:picLocks noChangeAspect="1"/>
          </p:cNvPicPr>
          <p:nvPr/>
        </p:nvPicPr>
        <p:blipFill>
          <a:blip r:embed="rId1"/>
          <a:stretch>
            <a:fillRect/>
          </a:stretch>
        </p:blipFill>
        <p:spPr>
          <a:xfrm>
            <a:off x="814070" y="1092835"/>
            <a:ext cx="7219315" cy="4993005"/>
          </a:xfrm>
          <a:prstGeom prst="rect">
            <a:avLst/>
          </a:prstGeom>
        </p:spPr>
      </p:pic>
      <p:pic>
        <p:nvPicPr>
          <p:cNvPr id="5" name="图片 4"/>
          <p:cNvPicPr>
            <a:picLocks noChangeAspect="1"/>
          </p:cNvPicPr>
          <p:nvPr/>
        </p:nvPicPr>
        <p:blipFill>
          <a:blip r:embed="rId2"/>
          <a:stretch>
            <a:fillRect/>
          </a:stretch>
        </p:blipFill>
        <p:spPr>
          <a:xfrm>
            <a:off x="1131452" y="1679813"/>
            <a:ext cx="8219048" cy="3819048"/>
          </a:xfrm>
          <a:prstGeom prst="rect">
            <a:avLst/>
          </a:prstGeom>
        </p:spPr>
      </p:pic>
      <p:pic>
        <p:nvPicPr>
          <p:cNvPr id="7" name="图片 6"/>
          <p:cNvPicPr>
            <a:picLocks noChangeAspect="1"/>
          </p:cNvPicPr>
          <p:nvPr/>
        </p:nvPicPr>
        <p:blipFill>
          <a:blip r:embed="rId3"/>
          <a:stretch>
            <a:fillRect/>
          </a:stretch>
        </p:blipFill>
        <p:spPr>
          <a:xfrm>
            <a:off x="1666771" y="1562333"/>
            <a:ext cx="8485714" cy="3733333"/>
          </a:xfrm>
          <a:prstGeom prst="rect">
            <a:avLst/>
          </a:prstGeom>
        </p:spPr>
      </p:pic>
      <p:pic>
        <p:nvPicPr>
          <p:cNvPr id="9" name="图片 8"/>
          <p:cNvPicPr>
            <a:picLocks noChangeAspect="1"/>
          </p:cNvPicPr>
          <p:nvPr/>
        </p:nvPicPr>
        <p:blipFill>
          <a:blip r:embed="rId4"/>
          <a:stretch>
            <a:fillRect/>
          </a:stretch>
        </p:blipFill>
        <p:spPr>
          <a:xfrm>
            <a:off x="2039515" y="1452808"/>
            <a:ext cx="8285714" cy="3952381"/>
          </a:xfrm>
          <a:prstGeom prst="rect">
            <a:avLst/>
          </a:prstGeom>
        </p:spPr>
      </p:pic>
      <p:pic>
        <p:nvPicPr>
          <p:cNvPr id="11" name="图片 10"/>
          <p:cNvPicPr>
            <a:picLocks noChangeAspect="1"/>
          </p:cNvPicPr>
          <p:nvPr/>
        </p:nvPicPr>
        <p:blipFill>
          <a:blip r:embed="rId5"/>
          <a:stretch>
            <a:fillRect/>
          </a:stretch>
        </p:blipFill>
        <p:spPr>
          <a:xfrm>
            <a:off x="2724789" y="1109353"/>
            <a:ext cx="7800440" cy="4959968"/>
          </a:xfrm>
          <a:prstGeom prst="rect">
            <a:avLst/>
          </a:prstGeom>
        </p:spPr>
      </p:pic>
      <p:pic>
        <p:nvPicPr>
          <p:cNvPr id="13" name="图片 12"/>
          <p:cNvPicPr>
            <a:picLocks noChangeAspect="1"/>
          </p:cNvPicPr>
          <p:nvPr/>
        </p:nvPicPr>
        <p:blipFill>
          <a:blip r:embed="rId6"/>
          <a:stretch>
            <a:fillRect/>
          </a:stretch>
        </p:blipFill>
        <p:spPr>
          <a:xfrm>
            <a:off x="1957905" y="1357571"/>
            <a:ext cx="8276190" cy="4142857"/>
          </a:xfrm>
          <a:prstGeom prst="rect">
            <a:avLst/>
          </a:prstGeom>
        </p:spPr>
      </p:pic>
      <p:pic>
        <p:nvPicPr>
          <p:cNvPr id="15" name="图片 14"/>
          <p:cNvPicPr>
            <a:picLocks noChangeAspect="1"/>
          </p:cNvPicPr>
          <p:nvPr/>
        </p:nvPicPr>
        <p:blipFill>
          <a:blip r:embed="rId7"/>
          <a:stretch>
            <a:fillRect/>
          </a:stretch>
        </p:blipFill>
        <p:spPr>
          <a:xfrm>
            <a:off x="2681274" y="1133566"/>
            <a:ext cx="7354500" cy="4911541"/>
          </a:xfrm>
          <a:prstGeom prst="rect">
            <a:avLst/>
          </a:prstGeom>
        </p:spPr>
      </p:pic>
      <p:pic>
        <p:nvPicPr>
          <p:cNvPr id="17" name="图片 16"/>
          <p:cNvPicPr>
            <a:picLocks noChangeAspect="1"/>
          </p:cNvPicPr>
          <p:nvPr/>
        </p:nvPicPr>
        <p:blipFill>
          <a:blip r:embed="rId8"/>
          <a:stretch>
            <a:fillRect/>
          </a:stretch>
        </p:blipFill>
        <p:spPr>
          <a:xfrm>
            <a:off x="3282710" y="1433760"/>
            <a:ext cx="8238095" cy="3990476"/>
          </a:xfrm>
          <a:prstGeom prst="rect">
            <a:avLst/>
          </a:prstGeom>
        </p:spPr>
      </p:pic>
      <p:pic>
        <p:nvPicPr>
          <p:cNvPr id="19" name="图片 18"/>
          <p:cNvPicPr>
            <a:picLocks noChangeAspect="1"/>
          </p:cNvPicPr>
          <p:nvPr/>
        </p:nvPicPr>
        <p:blipFill>
          <a:blip r:embed="rId9"/>
          <a:stretch>
            <a:fillRect/>
          </a:stretch>
        </p:blipFill>
        <p:spPr>
          <a:xfrm>
            <a:off x="1575637" y="1789336"/>
            <a:ext cx="8390476" cy="3600000"/>
          </a:xfrm>
          <a:prstGeom prst="rect">
            <a:avLst/>
          </a:prstGeom>
        </p:spPr>
      </p:pic>
      <p:pic>
        <p:nvPicPr>
          <p:cNvPr id="21" name="图片 20"/>
          <p:cNvPicPr>
            <a:picLocks noChangeAspect="1"/>
          </p:cNvPicPr>
          <p:nvPr/>
        </p:nvPicPr>
        <p:blipFill>
          <a:blip r:embed="rId10"/>
          <a:stretch>
            <a:fillRect/>
          </a:stretch>
        </p:blipFill>
        <p:spPr>
          <a:xfrm>
            <a:off x="1981714" y="1267095"/>
            <a:ext cx="8228571" cy="4323809"/>
          </a:xfrm>
          <a:prstGeom prst="rect">
            <a:avLst/>
          </a:prstGeom>
        </p:spPr>
      </p:pic>
      <p:pic>
        <p:nvPicPr>
          <p:cNvPr id="23" name="图片 22"/>
          <p:cNvPicPr>
            <a:picLocks noChangeAspect="1"/>
          </p:cNvPicPr>
          <p:nvPr/>
        </p:nvPicPr>
        <p:blipFill>
          <a:blip r:embed="rId11"/>
          <a:stretch>
            <a:fillRect/>
          </a:stretch>
        </p:blipFill>
        <p:spPr>
          <a:xfrm>
            <a:off x="3113439" y="1126416"/>
            <a:ext cx="6936621" cy="493520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5"/>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9"/>
                                        </p:tgtEl>
                                        <p:attrNameLst>
                                          <p:attrName>style.visibility</p:attrName>
                                        </p:attrNameLst>
                                      </p:cBhvr>
                                      <p:to>
                                        <p:strVal val="hidden"/>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nodeType="clickEffect">
                                  <p:stCondLst>
                                    <p:cond delay="0"/>
                                  </p:stCondLst>
                                  <p:childTnLst>
                                    <p:set>
                                      <p:cBhvr>
                                        <p:cTn id="45" dur="1" fill="hold">
                                          <p:stCondLst>
                                            <p:cond delay="0"/>
                                          </p:stCondLst>
                                        </p:cTn>
                                        <p:tgtEl>
                                          <p:spTgt spid="13"/>
                                        </p:tgtEl>
                                        <p:attrNameLst>
                                          <p:attrName>style.visibility</p:attrName>
                                        </p:attrNameLst>
                                      </p:cBhvr>
                                      <p:to>
                                        <p:strVal val="hidden"/>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15"/>
                                        </p:tgtEl>
                                        <p:attrNameLst>
                                          <p:attrName>style.visibility</p:attrName>
                                        </p:attrNameLst>
                                      </p:cBhvr>
                                      <p:to>
                                        <p:strVal val="hidden"/>
                                      </p:to>
                                    </p:set>
                                  </p:childTnLst>
                                </p:cTn>
                              </p:par>
                            </p:childTnLst>
                          </p:cTn>
                        </p:par>
                        <p:par>
                          <p:cTn id="53" fill="hold">
                            <p:stCondLst>
                              <p:cond delay="0"/>
                            </p:stCondLst>
                            <p:childTnLst>
                              <p:par>
                                <p:cTn id="54" presetID="1" presetClass="entr" presetSubtype="0" fill="hold" nodeType="after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nodeType="clickEffect">
                                  <p:stCondLst>
                                    <p:cond delay="0"/>
                                  </p:stCondLst>
                                  <p:childTnLst>
                                    <p:set>
                                      <p:cBhvr>
                                        <p:cTn id="59" dur="1" fill="hold">
                                          <p:stCondLst>
                                            <p:cond delay="0"/>
                                          </p:stCondLst>
                                        </p:cTn>
                                        <p:tgtEl>
                                          <p:spTgt spid="17"/>
                                        </p:tgtEl>
                                        <p:attrNameLst>
                                          <p:attrName>style.visibility</p:attrName>
                                        </p:attrNameLst>
                                      </p:cBhvr>
                                      <p:to>
                                        <p:strVal val="hidden"/>
                                      </p:to>
                                    </p:set>
                                  </p:childTnLst>
                                </p:cTn>
                              </p:par>
                            </p:childTnLst>
                          </p:cTn>
                        </p:par>
                        <p:par>
                          <p:cTn id="60" fill="hold">
                            <p:stCondLst>
                              <p:cond delay="0"/>
                            </p:stCondLst>
                            <p:childTnLst>
                              <p:par>
                                <p:cTn id="61" presetID="1"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19"/>
                                        </p:tgtEl>
                                        <p:attrNameLst>
                                          <p:attrName>style.visibility</p:attrName>
                                        </p:attrNameLst>
                                      </p:cBhvr>
                                      <p:to>
                                        <p:strVal val="hidden"/>
                                      </p:to>
                                    </p:set>
                                  </p:childTnLst>
                                </p:cTn>
                              </p:par>
                            </p:childTnLst>
                          </p:cTn>
                        </p:par>
                        <p:par>
                          <p:cTn id="67" fill="hold">
                            <p:stCondLst>
                              <p:cond delay="0"/>
                            </p:stCondLst>
                            <p:childTnLst>
                              <p:par>
                                <p:cTn id="68" presetID="1" presetClass="entr" presetSubtype="0" fill="hold" nodeType="afterEffect">
                                  <p:stCondLst>
                                    <p:cond delay="0"/>
                                  </p:stCondLst>
                                  <p:childTnLst>
                                    <p:set>
                                      <p:cBhvr>
                                        <p:cTn id="69" dur="1" fill="hold">
                                          <p:stCondLst>
                                            <p:cond delay="0"/>
                                          </p:stCondLst>
                                        </p:cTn>
                                        <p:tgtEl>
                                          <p:spTgt spid="2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nodeType="clickEffect">
                                  <p:stCondLst>
                                    <p:cond delay="0"/>
                                  </p:stCondLst>
                                  <p:childTnLst>
                                    <p:set>
                                      <p:cBhvr>
                                        <p:cTn id="73" dur="1" fill="hold">
                                          <p:stCondLst>
                                            <p:cond delay="0"/>
                                          </p:stCondLst>
                                        </p:cTn>
                                        <p:tgtEl>
                                          <p:spTgt spid="21"/>
                                        </p:tgtEl>
                                        <p:attrNameLst>
                                          <p:attrName>style.visibility</p:attrName>
                                        </p:attrNameLst>
                                      </p:cBhvr>
                                      <p:to>
                                        <p:strVal val="hidden"/>
                                      </p:to>
                                    </p:set>
                                  </p:childTnLst>
                                </p:cTn>
                              </p:par>
                            </p:childTnLst>
                          </p:cTn>
                        </p:par>
                        <p:par>
                          <p:cTn id="74" fill="hold">
                            <p:stCondLst>
                              <p:cond delay="0"/>
                            </p:stCondLst>
                            <p:childTnLst>
                              <p:par>
                                <p:cTn id="75" presetID="1" presetClass="entr" presetSubtype="0" fill="hold" nodeType="after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nodeType="click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特色描述</a:t>
            </a:r>
            <a:endParaRPr lang="zh-CN" altLang="en-US" sz="2800" dirty="0"/>
          </a:p>
        </p:txBody>
      </p:sp>
      <p:sp>
        <p:nvSpPr>
          <p:cNvPr id="17" name="文本框 16"/>
          <p:cNvSpPr txBox="1"/>
          <p:nvPr/>
        </p:nvSpPr>
        <p:spPr>
          <a:xfrm>
            <a:off x="1250838" y="1975803"/>
            <a:ext cx="5080000" cy="3984625"/>
          </a:xfrm>
          <a:prstGeom prst="rect">
            <a:avLst/>
          </a:prstGeom>
        </p:spPr>
        <p:txBody>
          <a:bodyPr>
            <a:spAutoFit/>
          </a:bodyPr>
          <a:lstStyle/>
          <a:p>
            <a:pPr>
              <a:spcAft>
                <a:spcPct val="60000"/>
              </a:spcAft>
            </a:pPr>
            <a:r>
              <a:rPr lang="zh-CN" altLang="en-US" sz="1600" b="1" dirty="0"/>
              <a:t>一、多维度漏洞数据聚合能力</a:t>
            </a:r>
            <a:endParaRPr lang="zh-CN" altLang="en-US" sz="1600" b="1" dirty="0"/>
          </a:p>
          <a:p>
            <a:pPr>
              <a:spcAft>
                <a:spcPct val="60000"/>
              </a:spcAft>
            </a:pPr>
            <a:r>
              <a:rPr lang="zh-CN" altLang="en-US" sz="1600" b="1" dirty="0"/>
              <a:t>二、基于</a:t>
            </a:r>
            <a:r>
              <a:rPr lang="en-US" altLang="zh-CN" sz="1600" b="1" dirty="0"/>
              <a:t> CVSS </a:t>
            </a:r>
            <a:r>
              <a:rPr lang="zh-CN" altLang="en-US" sz="1600" b="1" dirty="0"/>
              <a:t>的风险评估体系</a:t>
            </a:r>
            <a:endParaRPr lang="zh-CN" altLang="en-US" sz="1600" b="1" dirty="0"/>
          </a:p>
          <a:p>
            <a:pPr>
              <a:spcAft>
                <a:spcPct val="60000"/>
              </a:spcAft>
            </a:pPr>
            <a:r>
              <a:rPr lang="zh-CN" altLang="en-US" sz="1600" b="1" dirty="0"/>
              <a:t>三、智能漏洞分类与趋势分析</a:t>
            </a:r>
            <a:endParaRPr lang="zh-CN" altLang="en-US" sz="1600" b="1" dirty="0"/>
          </a:p>
          <a:p>
            <a:pPr>
              <a:spcAft>
                <a:spcPct val="60000"/>
              </a:spcAft>
            </a:pPr>
            <a:r>
              <a:rPr lang="zh-CN" altLang="en-US" sz="1600" b="1" dirty="0"/>
              <a:t>四、面向资产的漏洞关联建模</a:t>
            </a:r>
            <a:endParaRPr lang="zh-CN" altLang="en-US" sz="1600" b="1" dirty="0"/>
          </a:p>
          <a:p>
            <a:pPr>
              <a:spcAft>
                <a:spcPct val="60000"/>
              </a:spcAft>
            </a:pPr>
            <a:r>
              <a:rPr lang="zh-CN" altLang="en-US" sz="1600" b="1" dirty="0"/>
              <a:t>五、安全增强的身份认证与访问控制</a:t>
            </a:r>
            <a:endParaRPr lang="zh-CN" altLang="en-US" sz="1600" b="1" dirty="0"/>
          </a:p>
          <a:p>
            <a:pPr>
              <a:spcAft>
                <a:spcPct val="60000"/>
              </a:spcAft>
            </a:pPr>
            <a:r>
              <a:rPr lang="zh-CN" altLang="en-US" sz="1600" b="1" dirty="0"/>
              <a:t>六、统一服务代理与</a:t>
            </a:r>
            <a:r>
              <a:rPr lang="en-US" altLang="zh-CN" sz="1600" b="1" dirty="0"/>
              <a:t> TLS </a:t>
            </a:r>
            <a:r>
              <a:rPr lang="zh-CN" altLang="en-US" sz="1600" b="1" dirty="0"/>
              <a:t>自动化</a:t>
            </a:r>
            <a:endParaRPr lang="zh-CN" altLang="en-US" sz="1600" b="1" dirty="0"/>
          </a:p>
          <a:p>
            <a:pPr>
              <a:spcAft>
                <a:spcPct val="60000"/>
              </a:spcAft>
            </a:pPr>
            <a:endParaRPr lang="zh-CN" altLang="en-US" sz="1600" b="1" dirty="0"/>
          </a:p>
          <a:p>
            <a:pPr>
              <a:spcAft>
                <a:spcPct val="60000"/>
              </a:spcAft>
            </a:pPr>
            <a:endParaRPr lang="zh-CN" altLang="en-US" sz="1600" b="1" dirty="0"/>
          </a:p>
          <a:p>
            <a:pPr>
              <a:spcAft>
                <a:spcPct val="60000"/>
              </a:spcAft>
            </a:pPr>
            <a:endParaRPr lang="zh-CN" altLang="en-US" sz="1600" b="1" dirty="0"/>
          </a:p>
          <a:p>
            <a:pPr>
              <a:spcAft>
                <a:spcPct val="60000"/>
              </a:spcAft>
            </a:pPr>
            <a:endParaRPr lang="zh-CN" altLang="en-US" sz="1600" b="1"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系统整体功能框架</a:t>
            </a:r>
            <a:endParaRPr lang="zh-CN" altLang="en-US" sz="2800" dirty="0"/>
          </a:p>
        </p:txBody>
      </p:sp>
      <p:pic>
        <p:nvPicPr>
          <p:cNvPr id="3" name="图片 2"/>
          <p:cNvPicPr/>
          <p:nvPr/>
        </p:nvPicPr>
        <p:blipFill>
          <a:blip r:embed="rId1"/>
          <a:stretch>
            <a:fillRect/>
          </a:stretch>
        </p:blipFill>
        <p:spPr>
          <a:xfrm>
            <a:off x="669925" y="1357313"/>
            <a:ext cx="5638800" cy="3762374"/>
          </a:xfrm>
          <a:prstGeom prst="rect">
            <a:avLst/>
          </a:prstGeom>
        </p:spPr>
      </p:pic>
      <p:sp>
        <p:nvSpPr>
          <p:cNvPr id="4" name="文本框 3"/>
          <p:cNvSpPr txBox="1"/>
          <p:nvPr/>
        </p:nvSpPr>
        <p:spPr>
          <a:xfrm>
            <a:off x="6598920" y="2407920"/>
            <a:ext cx="5080000" cy="1661160"/>
          </a:xfrm>
          <a:prstGeom prst="rect">
            <a:avLst/>
          </a:prstGeom>
        </p:spPr>
        <p:txBody>
          <a:bodyPr>
            <a:noAutofit/>
          </a:bodyPr>
          <a:lstStyle/>
          <a:p>
            <a:r>
              <a:rPr lang="zh-CN" altLang="en-US" sz="1600" dirty="0"/>
              <a:t>本系统包括六个主要功能模块，分别为：</a:t>
            </a:r>
            <a:r>
              <a:rPr lang="en-US" altLang="zh-CN" sz="1600" dirty="0"/>
              <a:t>CVE </a:t>
            </a:r>
            <a:r>
              <a:rPr lang="zh-CN" altLang="en-US" sz="1600" dirty="0"/>
              <a:t>数据总览与统计分析、时间维度查询与可视化、厂商与产品信息管理、</a:t>
            </a:r>
            <a:r>
              <a:rPr lang="en-US" altLang="zh-CN" sz="1600" dirty="0"/>
              <a:t>CVE </a:t>
            </a:r>
            <a:r>
              <a:rPr lang="zh-CN" altLang="en-US" sz="1600" dirty="0"/>
              <a:t>具体信息查询、高级搜索功能，以及安全认证与用户管理系统，全面支持对漏洞数据的可视化展示、精确查询与安全访问。</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en-US" altLang="zh-CN" sz="2800" dirty="0"/>
              <a:t>E-R</a:t>
            </a:r>
            <a:r>
              <a:rPr lang="zh-CN" altLang="en-US" sz="2800" dirty="0"/>
              <a:t>图</a:t>
            </a:r>
            <a:endParaRPr lang="zh-CN" altLang="en-US" sz="2800" dirty="0"/>
          </a:p>
        </p:txBody>
      </p:sp>
      <p:pic>
        <p:nvPicPr>
          <p:cNvPr id="5" name="图片 4" descr="image"/>
          <p:cNvPicPr>
            <a:picLocks noChangeAspect="1"/>
          </p:cNvPicPr>
          <p:nvPr/>
        </p:nvPicPr>
        <p:blipFill>
          <a:blip r:embed="rId1"/>
          <a:stretch>
            <a:fillRect/>
          </a:stretch>
        </p:blipFill>
        <p:spPr>
          <a:xfrm>
            <a:off x="1913890" y="1101090"/>
            <a:ext cx="8224520" cy="51111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系统架构简图</a:t>
            </a:r>
            <a:endParaRPr lang="zh-CN" altLang="en-US" sz="2800" dirty="0"/>
          </a:p>
        </p:txBody>
      </p:sp>
      <p:pic>
        <p:nvPicPr>
          <p:cNvPr id="3" name="图片 2"/>
          <p:cNvPicPr>
            <a:picLocks noChangeAspect="1"/>
          </p:cNvPicPr>
          <p:nvPr/>
        </p:nvPicPr>
        <p:blipFill>
          <a:blip r:embed="rId1"/>
          <a:stretch>
            <a:fillRect/>
          </a:stretch>
        </p:blipFill>
        <p:spPr>
          <a:xfrm>
            <a:off x="1334135" y="1245235"/>
            <a:ext cx="9524365" cy="43668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模块划分</a:t>
            </a:r>
            <a:endParaRPr lang="zh-CN" altLang="en-US" sz="2800" dirty="0"/>
          </a:p>
        </p:txBody>
      </p:sp>
      <p:sp>
        <p:nvSpPr>
          <p:cNvPr id="3" name="文本框 2"/>
          <p:cNvSpPr txBox="1"/>
          <p:nvPr/>
        </p:nvSpPr>
        <p:spPr>
          <a:xfrm>
            <a:off x="669925" y="1316355"/>
            <a:ext cx="5063490" cy="2553335"/>
          </a:xfrm>
          <a:prstGeom prst="rect">
            <a:avLst/>
          </a:prstGeom>
        </p:spPr>
        <p:txBody>
          <a:bodyPr>
            <a:noAutofit/>
          </a:bodyPr>
          <a:lstStyle/>
          <a:p>
            <a:r>
              <a:rPr lang="en-US" altLang="zh-CN" sz="1600"/>
              <a:t>  ① </a:t>
            </a:r>
            <a:r>
              <a:rPr lang="zh-CN" altLang="en-US" sz="1600"/>
              <a:t>用户管理模块（</a:t>
            </a:r>
            <a:r>
              <a:rPr lang="en-US" altLang="zh-CN" sz="1600"/>
              <a:t>User Management</a:t>
            </a:r>
            <a:r>
              <a:rPr lang="zh-CN" altLang="en-US" sz="1600"/>
              <a:t>）</a:t>
            </a:r>
            <a:endParaRPr lang="zh-CN" altLang="en-US" sz="1600"/>
          </a:p>
          <a:p>
            <a:pPr indent="0" algn="l">
              <a:buFont typeface="Arial" panose="020B0604020202020204"/>
              <a:buNone/>
            </a:pPr>
            <a:r>
              <a:rPr lang="zh-CN" altLang="en-US" sz="1600"/>
              <a:t>功能描述 ：负责用户的注册、登录、登出、信息修改及身份验证。</a:t>
            </a:r>
            <a:endParaRPr lang="zh-CN" altLang="en-US" sz="1600"/>
          </a:p>
          <a:p>
            <a:pPr indent="0" algn="l">
              <a:buFont typeface="Arial" panose="020B0604020202020204"/>
              <a:buNone/>
            </a:pPr>
            <a:r>
              <a:rPr lang="zh-CN" altLang="en-US" sz="1600"/>
              <a:t>关键操作 ：</a:t>
            </a:r>
            <a:endParaRPr lang="zh-CN" altLang="en-US" sz="1600"/>
          </a:p>
          <a:p>
            <a:pPr lvl="1" algn="l">
              <a:buFont typeface="Arial" panose="020B0604020202020204"/>
              <a:buChar char="◦"/>
            </a:pPr>
            <a:r>
              <a:rPr lang="zh-CN" altLang="en-US" sz="1600"/>
              <a:t>用户注册与邮箱</a:t>
            </a:r>
            <a:r>
              <a:rPr lang="en-US" altLang="zh-CN" sz="1600"/>
              <a:t>/</a:t>
            </a:r>
            <a:r>
              <a:rPr lang="zh-CN" altLang="en-US" sz="1600"/>
              <a:t>用户名唯一性校验；</a:t>
            </a:r>
            <a:endParaRPr lang="zh-CN" altLang="en-US" sz="1600"/>
          </a:p>
          <a:p>
            <a:pPr lvl="1" algn="l">
              <a:buFont typeface="Arial" panose="020B0604020202020204"/>
              <a:buChar char="◦"/>
            </a:pPr>
            <a:r>
              <a:rPr lang="zh-CN" altLang="en-US" sz="1600"/>
              <a:t>基于 </a:t>
            </a:r>
            <a:r>
              <a:rPr lang="en-US" altLang="zh-CN" sz="1600"/>
              <a:t>JWT </a:t>
            </a:r>
            <a:r>
              <a:rPr lang="zh-CN" altLang="en-US" sz="1600"/>
              <a:t>的无状态认证机制；</a:t>
            </a:r>
            <a:endParaRPr lang="zh-CN" altLang="en-US" sz="1600"/>
          </a:p>
          <a:p>
            <a:pPr lvl="1" algn="l">
              <a:buFont typeface="Arial" panose="020B0604020202020204"/>
              <a:buChar char="◦"/>
            </a:pPr>
            <a:r>
              <a:rPr lang="zh-CN" altLang="en-US" sz="1600"/>
              <a:t>用户信息查询与更新；</a:t>
            </a:r>
            <a:endParaRPr lang="zh-CN" altLang="en-US" sz="1600"/>
          </a:p>
          <a:p>
            <a:pPr lvl="1" algn="l">
              <a:buFont typeface="Arial" panose="020B0604020202020204"/>
              <a:buChar char="◦"/>
            </a:pPr>
            <a:r>
              <a:rPr lang="zh-CN" altLang="en-US" sz="1600"/>
              <a:t>登录失败次数限制与安全策略控制。</a:t>
            </a:r>
            <a:endParaRPr lang="zh-CN" altLang="en-US" sz="1600"/>
          </a:p>
          <a:p>
            <a:pPr indent="0" algn="l">
              <a:buFont typeface="Arial" panose="020B0604020202020204"/>
              <a:buNone/>
            </a:pPr>
            <a:r>
              <a:rPr lang="zh-CN" altLang="en-US" sz="1600"/>
              <a:t>涉及表结构 ：</a:t>
            </a:r>
            <a:r>
              <a:rPr lang="en-US" altLang="zh-CN" sz="1600"/>
              <a:t>users</a:t>
            </a:r>
            <a:r>
              <a:rPr lang="zh-CN" altLang="en-US" sz="1600"/>
              <a:t>、</a:t>
            </a:r>
            <a:r>
              <a:rPr lang="en-US" altLang="zh-CN" sz="1600"/>
              <a:t>permissions</a:t>
            </a:r>
            <a:endParaRPr lang="en-US" altLang="zh-CN" sz="1600"/>
          </a:p>
        </p:txBody>
      </p:sp>
      <p:sp>
        <p:nvSpPr>
          <p:cNvPr id="4" name="文本框 3"/>
          <p:cNvSpPr txBox="1"/>
          <p:nvPr/>
        </p:nvSpPr>
        <p:spPr>
          <a:xfrm>
            <a:off x="5967095" y="1316355"/>
            <a:ext cx="6128385" cy="2306955"/>
          </a:xfrm>
          <a:prstGeom prst="rect">
            <a:avLst/>
          </a:prstGeom>
        </p:spPr>
        <p:txBody>
          <a:bodyPr wrap="square">
            <a:spAutoFit/>
          </a:bodyPr>
          <a:lstStyle/>
          <a:p>
            <a:r>
              <a:rPr lang="en-US" altLang="zh-CN" sz="1600"/>
              <a:t>  ② </a:t>
            </a:r>
            <a:r>
              <a:rPr lang="zh-CN" altLang="en-US" sz="1600"/>
              <a:t>权限控制模块（</a:t>
            </a:r>
            <a:r>
              <a:rPr lang="en-US" altLang="zh-CN" sz="1600"/>
              <a:t>Permission Control</a:t>
            </a:r>
            <a:r>
              <a:rPr lang="zh-CN" altLang="en-US" sz="1600"/>
              <a:t>）</a:t>
            </a:r>
            <a:endParaRPr lang="zh-CN" altLang="en-US" sz="1600"/>
          </a:p>
          <a:p>
            <a:pPr indent="0" algn="l">
              <a:buFont typeface="Arial" panose="020B0604020202020204"/>
              <a:buNone/>
            </a:pPr>
            <a:r>
              <a:rPr lang="zh-CN" altLang="en-US" sz="1600"/>
              <a:t>功能描述 ：实现基于用户角色的细粒度访问控制，保障系统安全性。</a:t>
            </a:r>
            <a:endParaRPr lang="zh-CN" altLang="en-US" sz="1600"/>
          </a:p>
          <a:p>
            <a:pPr indent="0" algn="l">
              <a:buFont typeface="Arial" panose="020B0604020202020204"/>
              <a:buNone/>
            </a:pPr>
            <a:r>
              <a:rPr lang="zh-CN" altLang="en-US" sz="1600"/>
              <a:t>关键操作 ：</a:t>
            </a:r>
            <a:endParaRPr lang="zh-CN" altLang="en-US" sz="1600"/>
          </a:p>
          <a:p>
            <a:pPr lvl="1" algn="l">
              <a:buFont typeface="Arial" panose="020B0604020202020204"/>
              <a:buChar char="◦"/>
            </a:pPr>
            <a:r>
              <a:rPr lang="zh-CN" altLang="en-US" sz="1600"/>
              <a:t>接口级别的权限配置（</a:t>
            </a:r>
            <a:r>
              <a:rPr lang="en-US" altLang="zh-CN" sz="1600"/>
              <a:t>SELECT / INSERT /UPDATE / DELETE</a:t>
            </a:r>
            <a:r>
              <a:rPr lang="zh-CN" altLang="en-US" sz="1600"/>
              <a:t>）；</a:t>
            </a:r>
            <a:endParaRPr lang="zh-CN" altLang="en-US" sz="1600"/>
          </a:p>
          <a:p>
            <a:pPr lvl="1" algn="l">
              <a:buFont typeface="Arial" panose="020B0604020202020204"/>
              <a:buChar char="◦"/>
            </a:pPr>
            <a:r>
              <a:rPr lang="zh-CN" altLang="en-US" sz="1600"/>
              <a:t>动态权限加载与中间件拦截判断；</a:t>
            </a:r>
            <a:endParaRPr lang="zh-CN" altLang="en-US" sz="1600"/>
          </a:p>
          <a:p>
            <a:pPr lvl="1" algn="l">
              <a:buFont typeface="Arial" panose="020B0604020202020204"/>
              <a:buChar char="◦"/>
            </a:pPr>
            <a:r>
              <a:rPr lang="zh-CN" altLang="en-US" sz="1600"/>
              <a:t>支持管理员对用户权限的增删改查；</a:t>
            </a:r>
            <a:endParaRPr lang="zh-CN" altLang="en-US" sz="1600"/>
          </a:p>
          <a:p>
            <a:pPr lvl="1" algn="l">
              <a:buFont typeface="Arial" panose="020B0604020202020204"/>
              <a:buChar char="◦"/>
            </a:pPr>
            <a:r>
              <a:rPr lang="zh-CN" altLang="en-US" sz="1600"/>
              <a:t>权限变更日志记录。</a:t>
            </a:r>
            <a:endParaRPr lang="zh-CN" altLang="en-US" sz="1600"/>
          </a:p>
          <a:p>
            <a:pPr indent="0" algn="l">
              <a:buFont typeface="Arial" panose="020B0604020202020204"/>
              <a:buNone/>
            </a:pPr>
            <a:r>
              <a:rPr lang="zh-CN" altLang="en-US" sz="1600"/>
              <a:t>涉及表结构 ：</a:t>
            </a:r>
            <a:r>
              <a:rPr lang="en-US" altLang="zh-CN" sz="1600"/>
              <a:t>permissions</a:t>
            </a:r>
            <a:endParaRPr lang="en-US" altLang="zh-CN" sz="1600"/>
          </a:p>
        </p:txBody>
      </p:sp>
      <p:sp>
        <p:nvSpPr>
          <p:cNvPr id="5" name="文本框 4"/>
          <p:cNvSpPr txBox="1"/>
          <p:nvPr/>
        </p:nvSpPr>
        <p:spPr>
          <a:xfrm>
            <a:off x="669925" y="3735070"/>
            <a:ext cx="10953750" cy="2306955"/>
          </a:xfrm>
          <a:prstGeom prst="rect">
            <a:avLst/>
          </a:prstGeom>
        </p:spPr>
        <p:txBody>
          <a:bodyPr wrap="square">
            <a:spAutoFit/>
          </a:bodyPr>
          <a:lstStyle/>
          <a:p>
            <a:r>
              <a:rPr lang="en-US" altLang="zh-CN" sz="1600"/>
              <a:t>  ③ </a:t>
            </a:r>
            <a:r>
              <a:rPr lang="zh-CN" altLang="en-US" sz="1600"/>
              <a:t>数据采集与处理模块（</a:t>
            </a:r>
            <a:r>
              <a:rPr lang="en-US" altLang="zh-CN" sz="1600"/>
              <a:t>Data Collection &amp; Processing</a:t>
            </a:r>
            <a:r>
              <a:rPr lang="zh-CN" altLang="en-US" sz="1600"/>
              <a:t>）</a:t>
            </a:r>
            <a:endParaRPr lang="zh-CN" altLang="en-US" sz="1600"/>
          </a:p>
          <a:p>
            <a:pPr algn="l">
              <a:buFont typeface="Arial" panose="020B0604020202020204"/>
              <a:buChar char="•"/>
            </a:pPr>
            <a:r>
              <a:rPr lang="zh-CN" altLang="en-US" sz="1600"/>
              <a:t>功能描述 ：处理从</a:t>
            </a:r>
            <a:r>
              <a:rPr lang="en-US" altLang="zh-CN" sz="1600"/>
              <a:t>github</a:t>
            </a:r>
            <a:r>
              <a:rPr lang="zh-CN" altLang="en-US" sz="1600"/>
              <a:t>下载下来的</a:t>
            </a:r>
            <a:r>
              <a:rPr lang="en-US" altLang="zh-CN" sz="1600"/>
              <a:t>CVE</a:t>
            </a:r>
            <a:r>
              <a:rPr lang="zh-CN" altLang="en-US" sz="1600"/>
              <a:t>数据集，解析原始漏洞数据，清洗后写入数据库。</a:t>
            </a:r>
            <a:endParaRPr lang="zh-CN" altLang="en-US" sz="1600"/>
          </a:p>
          <a:p>
            <a:pPr algn="l">
              <a:buFont typeface="Arial" panose="020B0604020202020204"/>
              <a:buChar char="•"/>
            </a:pPr>
            <a:r>
              <a:rPr lang="zh-CN" altLang="en-US" sz="1600"/>
              <a:t>关键操作 ：</a:t>
            </a:r>
            <a:endParaRPr lang="zh-CN" altLang="en-US" sz="1600"/>
          </a:p>
          <a:p>
            <a:pPr lvl="1" algn="l">
              <a:buFont typeface="Arial" panose="020B0604020202020204"/>
              <a:buChar char="◦"/>
            </a:pPr>
            <a:r>
              <a:rPr lang="zh-CN" altLang="en-US" sz="1600"/>
              <a:t>解析 </a:t>
            </a:r>
            <a:r>
              <a:rPr lang="en-US" altLang="zh-CN" sz="1600"/>
              <a:t>JSON </a:t>
            </a:r>
            <a:r>
              <a:rPr lang="zh-CN" altLang="en-US" sz="1600"/>
              <a:t>并映射为数据库表结构；</a:t>
            </a:r>
            <a:endParaRPr lang="zh-CN" altLang="en-US" sz="1600"/>
          </a:p>
          <a:p>
            <a:pPr lvl="1" algn="l">
              <a:buFont typeface="Arial" panose="020B0604020202020204"/>
              <a:buChar char="◦"/>
            </a:pPr>
            <a:r>
              <a:rPr lang="zh-CN" altLang="en-US" sz="1600"/>
              <a:t>数据去重、字段标准化、版本比对；</a:t>
            </a:r>
            <a:endParaRPr lang="zh-CN" altLang="en-US" sz="1600"/>
          </a:p>
          <a:p>
            <a:pPr lvl="1" algn="l">
              <a:buFont typeface="Arial" panose="020B0604020202020204"/>
              <a:buChar char="◦"/>
            </a:pPr>
            <a:r>
              <a:rPr lang="zh-CN" altLang="en-US" sz="1600"/>
              <a:t>异常日志记录与失败重试机制；</a:t>
            </a:r>
            <a:endParaRPr lang="zh-CN" altLang="en-US" sz="1600"/>
          </a:p>
          <a:p>
            <a:pPr lvl="1" algn="l">
              <a:buFont typeface="Arial" panose="020B0604020202020204"/>
              <a:buChar char="◦"/>
            </a:pPr>
            <a:r>
              <a:rPr lang="zh-CN" altLang="en-US" sz="1600"/>
              <a:t>支持增量更新与全量导入。</a:t>
            </a:r>
            <a:endParaRPr lang="zh-CN" altLang="en-US" sz="1600"/>
          </a:p>
          <a:p>
            <a:pPr algn="l">
              <a:buFont typeface="Arial" panose="020B0604020202020204"/>
              <a:buChar char="•"/>
            </a:pPr>
            <a:r>
              <a:rPr lang="zh-CN" altLang="en-US" sz="1600"/>
              <a:t>使用语言</a:t>
            </a:r>
            <a:r>
              <a:rPr lang="en-US" altLang="zh-CN" sz="1600"/>
              <a:t>/</a:t>
            </a:r>
            <a:r>
              <a:rPr lang="zh-CN" altLang="en-US" sz="1600"/>
              <a:t>工具 ：</a:t>
            </a:r>
            <a:r>
              <a:rPr lang="en-US" altLang="zh-CN" sz="1600"/>
              <a:t>Python + json + glob + tqdm</a:t>
            </a:r>
            <a:endParaRPr lang="en-US" altLang="zh-CN" sz="1600"/>
          </a:p>
          <a:p>
            <a:pPr algn="l">
              <a:buFont typeface="Arial" panose="020B0604020202020204"/>
              <a:buChar char="•"/>
            </a:pPr>
            <a:r>
              <a:rPr lang="zh-CN" altLang="en-US" sz="1600"/>
              <a:t>涉及表结构 ：</a:t>
            </a:r>
            <a:r>
              <a:rPr lang="en-US" altLang="zh-CN" sz="1600"/>
              <a:t>CVEEntry</a:t>
            </a:r>
            <a:r>
              <a:rPr lang="zh-CN" altLang="en-US" sz="1600"/>
              <a:t>、</a:t>
            </a:r>
            <a:r>
              <a:rPr lang="en-US" altLang="zh-CN" sz="1600"/>
              <a:t>Description</a:t>
            </a:r>
            <a:r>
              <a:rPr lang="zh-CN" altLang="en-US" sz="1600"/>
              <a:t>、</a:t>
            </a:r>
            <a:r>
              <a:rPr lang="en-US" altLang="zh-CN" sz="1600"/>
              <a:t>Metric</a:t>
            </a:r>
            <a:r>
              <a:rPr lang="zh-CN" altLang="en-US" sz="1600"/>
              <a:t>、</a:t>
            </a:r>
            <a:r>
              <a:rPr lang="en-US" altLang="zh-CN" sz="1600"/>
              <a:t>Reference</a:t>
            </a:r>
            <a:r>
              <a:rPr lang="zh-CN" altLang="en-US" sz="1600"/>
              <a:t>、</a:t>
            </a:r>
            <a:r>
              <a:rPr lang="en-US" altLang="zh-CN" sz="1600"/>
              <a:t>Configuration</a:t>
            </a:r>
            <a:r>
              <a:rPr lang="zh-CN" altLang="en-US" sz="1600"/>
              <a:t>、</a:t>
            </a:r>
            <a:r>
              <a:rPr lang="en-US" altLang="zh-CN" sz="1600"/>
              <a:t>VendorComment</a:t>
            </a:r>
            <a:r>
              <a:rPr lang="zh-CN" altLang="en-US" sz="1600"/>
              <a:t>、</a:t>
            </a:r>
            <a:r>
              <a:rPr lang="en-US" altLang="zh-CN" sz="1600"/>
              <a:t>Weakness</a:t>
            </a:r>
            <a:r>
              <a:rPr lang="zh-CN" altLang="en-US" sz="1600"/>
              <a:t>、</a:t>
            </a:r>
            <a:r>
              <a:rPr lang="en-US" altLang="zh-CN" sz="1600"/>
              <a:t>CVETag</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sym typeface="+mn-ea"/>
              </a:rPr>
              <a:t>模块划分</a:t>
            </a:r>
            <a:endParaRPr lang="zh-CN" altLang="en-US" dirty="0"/>
          </a:p>
        </p:txBody>
      </p:sp>
      <p:sp>
        <p:nvSpPr>
          <p:cNvPr id="3" name="文本框 2"/>
          <p:cNvSpPr txBox="1"/>
          <p:nvPr/>
        </p:nvSpPr>
        <p:spPr>
          <a:xfrm>
            <a:off x="669925" y="1201420"/>
            <a:ext cx="10850880" cy="2306955"/>
          </a:xfrm>
          <a:prstGeom prst="rect">
            <a:avLst/>
          </a:prstGeom>
        </p:spPr>
        <p:txBody>
          <a:bodyPr wrap="square">
            <a:spAutoFit/>
          </a:bodyPr>
          <a:lstStyle/>
          <a:p>
            <a:r>
              <a:rPr lang="en-US" altLang="zh-CN" sz="1600"/>
              <a:t>  ④ </a:t>
            </a:r>
            <a:r>
              <a:rPr lang="zh-CN" altLang="en-US" sz="1600"/>
              <a:t>漏洞查询与展示模块（</a:t>
            </a:r>
            <a:r>
              <a:rPr lang="en-US" altLang="zh-CN" sz="1600"/>
              <a:t>CVE Query &amp; Display</a:t>
            </a:r>
            <a:r>
              <a:rPr lang="zh-CN" altLang="en-US" sz="1600"/>
              <a:t>）</a:t>
            </a:r>
            <a:endParaRPr lang="zh-CN" altLang="en-US" sz="1600"/>
          </a:p>
          <a:p>
            <a:pPr algn="l">
              <a:buFont typeface="Arial" panose="020B0604020202020204"/>
              <a:buChar char="•"/>
            </a:pPr>
            <a:r>
              <a:rPr lang="zh-CN" altLang="en-US" sz="1600"/>
              <a:t>功能描述 ：提供对漏洞数据的多条件检索、详情展示与分类浏览功能。</a:t>
            </a:r>
            <a:endParaRPr lang="zh-CN" altLang="en-US" sz="1600"/>
          </a:p>
          <a:p>
            <a:pPr algn="l">
              <a:buFont typeface="Arial" panose="020B0604020202020204"/>
              <a:buChar char="•"/>
            </a:pPr>
            <a:r>
              <a:rPr lang="zh-CN" altLang="en-US" sz="1600"/>
              <a:t>关键操作 ：</a:t>
            </a:r>
            <a:endParaRPr lang="zh-CN" altLang="en-US" sz="1600"/>
          </a:p>
          <a:p>
            <a:pPr lvl="1" algn="l">
              <a:buFont typeface="Arial" panose="020B0604020202020204"/>
              <a:buChar char="◦"/>
            </a:pPr>
            <a:r>
              <a:rPr lang="zh-CN" altLang="en-US" sz="1600"/>
              <a:t>支持按 </a:t>
            </a:r>
            <a:r>
              <a:rPr lang="en-US" altLang="zh-CN" sz="1600"/>
              <a:t>CVE </a:t>
            </a:r>
            <a:r>
              <a:rPr lang="zh-CN" altLang="en-US" sz="1600"/>
              <a:t>编号、发布时间、厂商、产品、关键词等搜索；</a:t>
            </a:r>
            <a:endParaRPr lang="zh-CN" altLang="en-US" sz="1600"/>
          </a:p>
          <a:p>
            <a:pPr lvl="1" algn="l">
              <a:buFont typeface="Arial" panose="020B0604020202020204"/>
              <a:buChar char="◦"/>
            </a:pPr>
            <a:r>
              <a:rPr lang="zh-CN" altLang="en-US" sz="1600"/>
              <a:t>支持分页显示与结果排序；</a:t>
            </a:r>
            <a:endParaRPr lang="zh-CN" altLang="en-US" sz="1600"/>
          </a:p>
          <a:p>
            <a:pPr lvl="1" algn="l">
              <a:buFont typeface="Arial" panose="020B0604020202020204"/>
              <a:buChar char="◦"/>
            </a:pPr>
            <a:r>
              <a:rPr lang="zh-CN" altLang="en-US" sz="1600"/>
              <a:t>展示漏洞详情页面（含 </a:t>
            </a:r>
            <a:r>
              <a:rPr lang="en-US" altLang="zh-CN" sz="1600"/>
              <a:t>CVSS </a:t>
            </a:r>
            <a:r>
              <a:rPr lang="zh-CN" altLang="en-US" sz="1600"/>
              <a:t>分数、影响等级、修复建议等）；</a:t>
            </a:r>
            <a:endParaRPr lang="zh-CN" altLang="en-US" sz="1600"/>
          </a:p>
          <a:p>
            <a:pPr lvl="1" algn="l">
              <a:buFont typeface="Arial" panose="020B0604020202020204"/>
              <a:buChar char="◦"/>
            </a:pPr>
            <a:r>
              <a:rPr lang="zh-CN" altLang="en-US" sz="1600"/>
              <a:t>支持多语言描述切换；</a:t>
            </a:r>
            <a:endParaRPr lang="zh-CN" altLang="en-US" sz="1600"/>
          </a:p>
          <a:p>
            <a:pPr lvl="1" algn="l">
              <a:buFont typeface="Arial" panose="020B0604020202020204"/>
              <a:buChar char="◦"/>
            </a:pPr>
            <a:r>
              <a:rPr lang="zh-CN" altLang="en-US" sz="1600"/>
              <a:t>支持标签筛选与关联参考链接展示。</a:t>
            </a:r>
            <a:endParaRPr lang="zh-CN" altLang="en-US" sz="1600"/>
          </a:p>
          <a:p>
            <a:pPr algn="l">
              <a:buFont typeface="Arial" panose="020B0604020202020204"/>
              <a:buChar char="•"/>
            </a:pPr>
            <a:r>
              <a:rPr lang="zh-CN" altLang="en-US" sz="1600"/>
              <a:t>涉及表结构 ：</a:t>
            </a:r>
            <a:r>
              <a:rPr lang="en-US" altLang="zh-CN" sz="1600"/>
              <a:t>CVEEntry</a:t>
            </a:r>
            <a:r>
              <a:rPr lang="zh-CN" altLang="en-US" sz="1600"/>
              <a:t>、</a:t>
            </a:r>
            <a:r>
              <a:rPr lang="en-US" altLang="zh-CN" sz="1600"/>
              <a:t>Description</a:t>
            </a:r>
            <a:r>
              <a:rPr lang="zh-CN" altLang="en-US" sz="1600"/>
              <a:t>、</a:t>
            </a:r>
            <a:r>
              <a:rPr lang="en-US" altLang="zh-CN" sz="1600"/>
              <a:t>Metric</a:t>
            </a:r>
            <a:r>
              <a:rPr lang="zh-CN" altLang="en-US" sz="1600"/>
              <a:t>、</a:t>
            </a:r>
            <a:r>
              <a:rPr lang="en-US" altLang="zh-CN" sz="1600"/>
              <a:t>Reference</a:t>
            </a:r>
            <a:r>
              <a:rPr lang="zh-CN" altLang="en-US" sz="1600"/>
              <a:t>、</a:t>
            </a:r>
            <a:r>
              <a:rPr lang="en-US" altLang="zh-CN" sz="1600"/>
              <a:t>Configuration</a:t>
            </a:r>
            <a:r>
              <a:rPr lang="zh-CN" altLang="en-US" sz="1600"/>
              <a:t>、</a:t>
            </a:r>
            <a:r>
              <a:rPr lang="en-US" altLang="zh-CN" sz="1600"/>
              <a:t>VendorComment</a:t>
            </a:r>
            <a:r>
              <a:rPr lang="zh-CN" altLang="en-US" sz="1600"/>
              <a:t>、</a:t>
            </a:r>
            <a:r>
              <a:rPr lang="en-US" altLang="zh-CN" sz="1600"/>
              <a:t>Weakness</a:t>
            </a:r>
            <a:r>
              <a:rPr lang="zh-CN" altLang="en-US" sz="1600"/>
              <a:t>、</a:t>
            </a:r>
            <a:r>
              <a:rPr lang="en-US" altLang="zh-CN" sz="1600"/>
              <a:t>CVETag</a:t>
            </a:r>
            <a:endParaRPr lang="en-US" altLang="zh-CN" sz="1600"/>
          </a:p>
        </p:txBody>
      </p:sp>
      <p:sp>
        <p:nvSpPr>
          <p:cNvPr id="4" name="文本框 3"/>
          <p:cNvSpPr txBox="1"/>
          <p:nvPr/>
        </p:nvSpPr>
        <p:spPr>
          <a:xfrm>
            <a:off x="669925" y="3566160"/>
            <a:ext cx="10850880" cy="2061210"/>
          </a:xfrm>
          <a:prstGeom prst="rect">
            <a:avLst/>
          </a:prstGeom>
        </p:spPr>
        <p:txBody>
          <a:bodyPr wrap="square">
            <a:spAutoFit/>
          </a:bodyPr>
          <a:lstStyle/>
          <a:p>
            <a:r>
              <a:rPr lang="en-US" altLang="zh-CN" sz="1600"/>
              <a:t>  ⑤ </a:t>
            </a:r>
            <a:r>
              <a:rPr lang="zh-CN" altLang="en-US" sz="1600"/>
              <a:t>高级搜索与风险评估模块（</a:t>
            </a:r>
            <a:r>
              <a:rPr lang="en-US" altLang="zh-CN" sz="1600"/>
              <a:t>Advanced Search</a:t>
            </a:r>
            <a:r>
              <a:rPr lang="zh-CN" altLang="en-US" sz="1600"/>
              <a:t>）</a:t>
            </a:r>
            <a:endParaRPr lang="zh-CN" altLang="en-US" sz="1600"/>
          </a:p>
          <a:p>
            <a:pPr algn="l">
              <a:buFont typeface="Arial" panose="020B0604020202020204"/>
              <a:buChar char="•"/>
            </a:pPr>
            <a:r>
              <a:rPr lang="zh-CN" altLang="en-US" sz="1600"/>
              <a:t>功能描述 ：提供基于 </a:t>
            </a:r>
            <a:r>
              <a:rPr lang="en-US" altLang="zh-CN" sz="1600"/>
              <a:t>CVSS </a:t>
            </a:r>
            <a:r>
              <a:rPr lang="zh-CN" altLang="en-US" sz="1600"/>
              <a:t>向量、漏洞类型、影响范围的高级搜索与评分分析功能。</a:t>
            </a:r>
            <a:endParaRPr lang="zh-CN" altLang="en-US" sz="1600"/>
          </a:p>
          <a:p>
            <a:pPr algn="l">
              <a:buFont typeface="Arial" panose="020B0604020202020204"/>
              <a:buChar char="•"/>
            </a:pPr>
            <a:r>
              <a:rPr lang="zh-CN" altLang="en-US" sz="1600"/>
              <a:t>关键操作 ：</a:t>
            </a:r>
            <a:endParaRPr lang="zh-CN" altLang="en-US" sz="1600"/>
          </a:p>
          <a:p>
            <a:pPr lvl="1" algn="l">
              <a:buFont typeface="Arial" panose="020B0604020202020204"/>
              <a:buChar char="◦"/>
            </a:pPr>
            <a:r>
              <a:rPr lang="zh-CN" altLang="en-US" sz="1600"/>
              <a:t>按 </a:t>
            </a:r>
            <a:r>
              <a:rPr lang="en-US" altLang="zh-CN" sz="1600"/>
              <a:t>CVSS </a:t>
            </a:r>
            <a:r>
              <a:rPr lang="zh-CN" altLang="en-US" sz="1600"/>
              <a:t>评分区间筛选高危漏洞；</a:t>
            </a:r>
            <a:endParaRPr lang="zh-CN" altLang="en-US" sz="1600"/>
          </a:p>
          <a:p>
            <a:pPr lvl="1" algn="l">
              <a:buFont typeface="Arial" panose="020B0604020202020204"/>
              <a:buChar char="◦"/>
            </a:pPr>
            <a:r>
              <a:rPr lang="zh-CN" altLang="en-US" sz="1600"/>
              <a:t>按攻击向量（</a:t>
            </a:r>
            <a:r>
              <a:rPr lang="en-US" altLang="zh-CN" sz="1600"/>
              <a:t>AV</a:t>
            </a:r>
            <a:r>
              <a:rPr lang="zh-CN" altLang="en-US" sz="1600"/>
              <a:t>）、攻击复杂度（</a:t>
            </a:r>
            <a:r>
              <a:rPr lang="en-US" altLang="zh-CN" sz="1600"/>
              <a:t>AC</a:t>
            </a:r>
            <a:r>
              <a:rPr lang="zh-CN" altLang="en-US" sz="1600"/>
              <a:t>）、权限要求（</a:t>
            </a:r>
            <a:r>
              <a:rPr lang="en-US" altLang="zh-CN" sz="1600"/>
              <a:t>PR</a:t>
            </a:r>
            <a:r>
              <a:rPr lang="zh-CN" altLang="en-US" sz="1600"/>
              <a:t>）等字段组合查询；</a:t>
            </a:r>
            <a:endParaRPr lang="zh-CN" altLang="en-US" sz="1600"/>
          </a:p>
          <a:p>
            <a:pPr lvl="1" algn="l">
              <a:buFont typeface="Arial" panose="020B0604020202020204"/>
              <a:buChar char="◦"/>
            </a:pPr>
            <a:r>
              <a:rPr lang="zh-CN" altLang="en-US" sz="1600"/>
              <a:t>显示 </a:t>
            </a:r>
            <a:r>
              <a:rPr lang="en-US" altLang="zh-CN" sz="1600"/>
              <a:t>CVSS </a:t>
            </a:r>
            <a:r>
              <a:rPr lang="zh-CN" altLang="en-US" sz="1600"/>
              <a:t>评分分布直方图；</a:t>
            </a:r>
            <a:endParaRPr lang="zh-CN" altLang="en-US" sz="1600"/>
          </a:p>
          <a:p>
            <a:pPr lvl="1" algn="l">
              <a:buFont typeface="Arial" panose="020B0604020202020204"/>
              <a:buChar char="◦"/>
            </a:pPr>
            <a:r>
              <a:rPr lang="zh-CN" altLang="en-US" sz="1600"/>
              <a:t>自动计算漏洞严重性等级（如 </a:t>
            </a:r>
            <a:r>
              <a:rPr lang="en-US" altLang="zh-CN" sz="1600"/>
              <a:t>LOW/MEDIUM/HIGH/CRITICAL</a:t>
            </a:r>
            <a:r>
              <a:rPr lang="zh-CN" altLang="en-US" sz="1600"/>
              <a:t>）；</a:t>
            </a:r>
            <a:endParaRPr lang="zh-CN" altLang="en-US" sz="1600"/>
          </a:p>
          <a:p>
            <a:pPr algn="l">
              <a:buFont typeface="Arial" panose="020B0604020202020204"/>
              <a:buChar char="•"/>
            </a:pPr>
            <a:r>
              <a:rPr lang="zh-CN" altLang="en-US" sz="1600"/>
              <a:t>涉及表结构 ：</a:t>
            </a:r>
            <a:r>
              <a:rPr lang="en-US" altLang="zh-CN" sz="1600"/>
              <a:t>Metric</a:t>
            </a:r>
            <a:r>
              <a:rPr lang="zh-CN" altLang="en-US" sz="1600"/>
              <a:t>、</a:t>
            </a:r>
            <a:r>
              <a:rPr lang="en-US" altLang="zh-CN" sz="1600"/>
              <a:t>ParsedVector</a:t>
            </a:r>
            <a:r>
              <a:rPr lang="zh-CN" altLang="en-US" sz="1600"/>
              <a:t>、</a:t>
            </a:r>
            <a:r>
              <a:rPr lang="en-US" altLang="zh-CN" sz="1600"/>
              <a:t>cve_category_match</a:t>
            </a:r>
            <a:r>
              <a:rPr lang="zh-CN" altLang="en-US" sz="1600"/>
              <a:t>、</a:t>
            </a:r>
            <a:r>
              <a:rPr lang="en-US" altLang="zh-CN" sz="1600"/>
              <a:t>category_lookup</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sym typeface="+mn-ea"/>
              </a:rPr>
              <a:t>模块划分</a:t>
            </a:r>
            <a:endParaRPr lang="zh-CN" altLang="en-US" dirty="0"/>
          </a:p>
        </p:txBody>
      </p:sp>
      <p:sp>
        <p:nvSpPr>
          <p:cNvPr id="3" name="文本框 2"/>
          <p:cNvSpPr txBox="1"/>
          <p:nvPr/>
        </p:nvSpPr>
        <p:spPr>
          <a:xfrm>
            <a:off x="669925" y="1783080"/>
            <a:ext cx="7414260" cy="2799715"/>
          </a:xfrm>
          <a:prstGeom prst="rect">
            <a:avLst/>
          </a:prstGeom>
        </p:spPr>
        <p:txBody>
          <a:bodyPr wrap="square">
            <a:spAutoFit/>
          </a:bodyPr>
          <a:lstStyle/>
          <a:p>
            <a:r>
              <a:rPr lang="en-US" altLang="zh-CN" sz="1600"/>
              <a:t>  ⑥ </a:t>
            </a:r>
            <a:r>
              <a:rPr lang="zh-CN" altLang="en-US" sz="1600"/>
              <a:t>统计分析与可视化模块（</a:t>
            </a:r>
            <a:r>
              <a:rPr lang="en-US" altLang="zh-CN" sz="1600"/>
              <a:t>Statistics &amp; Visualization</a:t>
            </a:r>
            <a:r>
              <a:rPr lang="zh-CN" altLang="en-US" sz="1600"/>
              <a:t>）</a:t>
            </a:r>
            <a:endParaRPr lang="zh-CN" altLang="en-US" sz="1600"/>
          </a:p>
          <a:p>
            <a:pPr algn="l">
              <a:buFont typeface="Arial" panose="020B0604020202020204"/>
              <a:buChar char="•"/>
            </a:pPr>
            <a:r>
              <a:rPr lang="zh-CN" altLang="en-US" sz="1600"/>
              <a:t>功能描述 ：对历史漏洞数据进行聚合统计，并以图表形式呈现趋势与分布。</a:t>
            </a:r>
            <a:endParaRPr lang="zh-CN" altLang="en-US" sz="1600"/>
          </a:p>
          <a:p>
            <a:pPr algn="l">
              <a:buFont typeface="Arial" panose="020B0604020202020204"/>
              <a:buChar char="•"/>
            </a:pPr>
            <a:r>
              <a:rPr lang="zh-CN" altLang="en-US" sz="1600"/>
              <a:t>关键操作 ：</a:t>
            </a:r>
            <a:endParaRPr lang="zh-CN" altLang="en-US" sz="1600"/>
          </a:p>
          <a:p>
            <a:pPr lvl="1" algn="l">
              <a:buFont typeface="Arial" panose="020B0604020202020204"/>
              <a:buChar char="◦"/>
            </a:pPr>
            <a:r>
              <a:rPr lang="zh-CN" altLang="en-US" sz="1600"/>
              <a:t>按年份、厂商、产品维度统计漏洞数量；</a:t>
            </a:r>
            <a:endParaRPr lang="zh-CN" altLang="en-US" sz="1600"/>
          </a:p>
          <a:p>
            <a:pPr lvl="1" algn="l">
              <a:buFont typeface="Arial" panose="020B0604020202020204"/>
              <a:buChar char="◦"/>
            </a:pPr>
            <a:r>
              <a:rPr lang="zh-CN" altLang="en-US" sz="1600"/>
              <a:t>漏洞类型分布饼图；</a:t>
            </a:r>
            <a:endParaRPr lang="zh-CN" altLang="en-US" sz="1600"/>
          </a:p>
          <a:p>
            <a:pPr lvl="1" algn="l">
              <a:buFont typeface="Arial" panose="020B0604020202020204"/>
              <a:buChar char="◦"/>
            </a:pPr>
            <a:r>
              <a:rPr lang="en-US" altLang="zh-CN" sz="1600"/>
              <a:t>CVSS </a:t>
            </a:r>
            <a:r>
              <a:rPr lang="zh-CN" altLang="en-US" sz="1600"/>
              <a:t>分数分布柱状图；</a:t>
            </a:r>
            <a:endParaRPr lang="zh-CN" altLang="en-US" sz="1600"/>
          </a:p>
          <a:p>
            <a:pPr lvl="1" algn="l">
              <a:buFont typeface="Arial" panose="020B0604020202020204"/>
              <a:buChar char="◦"/>
            </a:pPr>
            <a:r>
              <a:rPr lang="zh-CN" altLang="en-US" sz="1600"/>
              <a:t>高风险漏洞增长趋势折线图；</a:t>
            </a:r>
            <a:endParaRPr lang="zh-CN" altLang="en-US" sz="1600"/>
          </a:p>
          <a:p>
            <a:pPr algn="l">
              <a:buFont typeface="Arial" panose="020B0604020202020204"/>
              <a:buChar char="•"/>
            </a:pPr>
            <a:r>
              <a:rPr lang="zh-CN" altLang="en-US" sz="1600"/>
              <a:t>使用前端库 ：</a:t>
            </a:r>
            <a:r>
              <a:rPr lang="en-US" altLang="zh-CN" sz="1600"/>
              <a:t>ECharts / Chart.js</a:t>
            </a:r>
            <a:endParaRPr lang="en-US" altLang="zh-CN" sz="1600"/>
          </a:p>
          <a:p>
            <a:pPr algn="l">
              <a:buFont typeface="Arial" panose="020B0604020202020204"/>
              <a:buChar char="•"/>
            </a:pPr>
            <a:r>
              <a:rPr lang="zh-CN" altLang="en-US" sz="1600"/>
              <a:t>涉及视图结构 ：</a:t>
            </a:r>
            <a:r>
              <a:rPr lang="en-US" altLang="zh-CN" sz="1600"/>
              <a:t>vuln_stats_per_year</a:t>
            </a:r>
            <a:r>
              <a:rPr lang="zh-CN" altLang="en-US" sz="1600"/>
              <a:t>、</a:t>
            </a:r>
            <a:r>
              <a:rPr lang="en-US" altLang="zh-CN" sz="1600"/>
              <a:t>vuln_impact_types_per_year</a:t>
            </a:r>
            <a:r>
              <a:rPr lang="zh-CN" altLang="en-US" sz="1600"/>
              <a:t>、</a:t>
            </a:r>
            <a:r>
              <a:rPr lang="en-US" altLang="zh-CN" sz="1600"/>
              <a:t>base_score_distribution</a:t>
            </a:r>
            <a:r>
              <a:rPr lang="zh-CN" altLang="en-US" sz="1600"/>
              <a:t>、</a:t>
            </a:r>
            <a:r>
              <a:rPr lang="en-US" altLang="zh-CN" sz="1600"/>
              <a:t>impact_score_distribution</a:t>
            </a:r>
            <a:r>
              <a:rPr lang="zh-CN" altLang="en-US" sz="1600"/>
              <a:t>、</a:t>
            </a:r>
            <a:r>
              <a:rPr lang="en-US" altLang="zh-CN" sz="1600"/>
              <a:t>exploitability_score_distribution</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模块划分的优势</a:t>
            </a:r>
            <a:endParaRPr lang="zh-CN" altLang="en-US" sz="2800" dirty="0"/>
          </a:p>
        </p:txBody>
      </p:sp>
      <p:graphicFrame>
        <p:nvGraphicFramePr>
          <p:cNvPr id="3" name="表格 2"/>
          <p:cNvGraphicFramePr/>
          <p:nvPr/>
        </p:nvGraphicFramePr>
        <p:xfrm>
          <a:off x="2342355" y="1173480"/>
          <a:ext cx="7505700" cy="3105150"/>
        </p:xfrm>
        <a:graphic>
          <a:graphicData uri="http://schemas.openxmlformats.org/drawingml/2006/table">
            <a:tbl>
              <a:tblPr/>
              <a:tblGrid>
                <a:gridCol w="1381125"/>
                <a:gridCol w="3181350"/>
                <a:gridCol w="2867025"/>
                <a:gridCol w="25400"/>
                <a:gridCol w="25400"/>
                <a:gridCol w="25400"/>
              </a:tblGrid>
              <a:tr h="304800">
                <a:tc>
                  <a:txBody>
                    <a:bodyPr/>
                    <a:lstStyle/>
                    <a:p>
                      <a:pPr algn="ctr" fontAlgn="ctr" latinLnBrk="0"/>
                      <a:r>
                        <a:rPr lang="zh-CN" altLang="en-US" sz="1000" b="0" i="0">
                          <a:solidFill>
                            <a:srgbClr val="000000"/>
                          </a:solidFill>
                        </a:rPr>
                        <a:t>模块名称</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CE2FE"/>
                    </a:solidFill>
                  </a:tcPr>
                </a:tc>
                <a:tc>
                  <a:txBody>
                    <a:bodyPr/>
                    <a:lstStyle/>
                    <a:p>
                      <a:pPr algn="ctr" fontAlgn="ctr" latinLnBrk="0"/>
                      <a:r>
                        <a:rPr lang="zh-CN" altLang="en-US" sz="1000" b="0" i="0" dirty="0">
                          <a:solidFill>
                            <a:srgbClr val="000000"/>
                          </a:solidFill>
                        </a:rPr>
                        <a:t>功能说明</a:t>
                      </a:r>
                      <a:endParaRPr lang="zh-CN" altLang="en-US" sz="1000" b="0" i="0" dirty="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CE2FE"/>
                    </a:solidFill>
                  </a:tcPr>
                </a:tc>
                <a:tc>
                  <a:txBody>
                    <a:bodyPr/>
                    <a:lstStyle/>
                    <a:p>
                      <a:pPr algn="ctr" fontAlgn="ctr" latinLnBrk="0"/>
                      <a:r>
                        <a:rPr lang="zh-CN" altLang="en-US" sz="1000" b="0" i="0">
                          <a:solidFill>
                            <a:srgbClr val="000000"/>
                          </a:solidFill>
                        </a:rPr>
                        <a:t>技术实现</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CE2FE"/>
                    </a:solid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1. </a:t>
                      </a:r>
                      <a:r>
                        <a:rPr lang="zh-CN" altLang="en-US" sz="1000" b="0" i="0">
                          <a:solidFill>
                            <a:srgbClr val="000000"/>
                          </a:solidFill>
                        </a:rPr>
                        <a:t>用户管理模块</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用户注册、登录、登出、权限分配</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Gin + JWT + TiDB(users, permissions)</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2. </a:t>
                      </a:r>
                      <a:r>
                        <a:rPr lang="zh-CN" altLang="en-US" sz="1000" b="0" i="0">
                          <a:solidFill>
                            <a:srgbClr val="000000"/>
                          </a:solidFill>
                        </a:rPr>
                        <a:t>数据处理模块</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解析 </a:t>
                      </a:r>
                      <a:r>
                        <a:rPr lang="en-US" altLang="zh-CN" sz="1000" b="0" i="0">
                          <a:solidFill>
                            <a:srgbClr val="000000"/>
                          </a:solidFill>
                        </a:rPr>
                        <a:t>JSON </a:t>
                      </a:r>
                      <a:r>
                        <a:rPr lang="zh-CN" altLang="en-US" sz="1000" b="0" i="0">
                          <a:solidFill>
                            <a:srgbClr val="000000"/>
                          </a:solidFill>
                        </a:rPr>
                        <a:t>漏洞数据</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Python + glob + tqdm + json</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3. </a:t>
                      </a:r>
                      <a:r>
                        <a:rPr lang="zh-CN" altLang="en-US" sz="1000" b="0" i="0">
                          <a:solidFill>
                            <a:srgbClr val="000000"/>
                          </a:solidFill>
                        </a:rPr>
                        <a:t>漏洞查询模块</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dirty="0">
                          <a:solidFill>
                            <a:srgbClr val="000000"/>
                          </a:solidFill>
                        </a:rPr>
                        <a:t>支持按关键词、时间、厂商、产品等条件检索 </a:t>
                      </a:r>
                      <a:r>
                        <a:rPr lang="en-US" altLang="zh-CN" sz="1000" b="0" i="0" dirty="0">
                          <a:solidFill>
                            <a:srgbClr val="000000"/>
                          </a:solidFill>
                        </a:rPr>
                        <a:t>CVE</a:t>
                      </a:r>
                      <a:endParaRPr lang="en-US" altLang="zh-CN" sz="1000" b="0" i="0" dirty="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Gin + SQL </a:t>
                      </a:r>
                      <a:r>
                        <a:rPr lang="zh-CN" altLang="en-US" sz="1000" b="0" i="0">
                          <a:solidFill>
                            <a:srgbClr val="000000"/>
                          </a:solidFill>
                        </a:rPr>
                        <a:t>查询 </a:t>
                      </a:r>
                      <a:r>
                        <a:rPr lang="en-US" altLang="zh-CN" sz="1000" b="0" i="0">
                          <a:solidFill>
                            <a:srgbClr val="000000"/>
                          </a:solidFill>
                        </a:rPr>
                        <a:t>+ TiDB</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4. </a:t>
                      </a:r>
                      <a:r>
                        <a:rPr lang="zh-CN" altLang="en-US" sz="1000" b="0" i="0">
                          <a:solidFill>
                            <a:srgbClr val="000000"/>
                          </a:solidFill>
                        </a:rPr>
                        <a:t>高级搜索模块</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支持 </a:t>
                      </a:r>
                      <a:r>
                        <a:rPr lang="en-US" altLang="zh-CN" sz="1000" b="0" i="0">
                          <a:solidFill>
                            <a:srgbClr val="000000"/>
                          </a:solidFill>
                        </a:rPr>
                        <a:t>CVSS </a:t>
                      </a:r>
                      <a:r>
                        <a:rPr lang="zh-CN" altLang="en-US" sz="1000" b="0" i="0">
                          <a:solidFill>
                            <a:srgbClr val="000000"/>
                          </a:solidFill>
                        </a:rPr>
                        <a:t>分数、攻击向量、影响等级等高级筛选</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Gin + SQL </a:t>
                      </a:r>
                      <a:r>
                        <a:rPr lang="zh-CN" altLang="en-US" sz="1000" b="0" i="0">
                          <a:solidFill>
                            <a:srgbClr val="000000"/>
                          </a:solidFill>
                        </a:rPr>
                        <a:t>查询 </a:t>
                      </a:r>
                      <a:r>
                        <a:rPr lang="en-US" altLang="zh-CN" sz="1000" b="0" i="0">
                          <a:solidFill>
                            <a:srgbClr val="000000"/>
                          </a:solidFill>
                        </a:rPr>
                        <a:t>+ TiDB</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5. </a:t>
                      </a:r>
                      <a:r>
                        <a:rPr lang="zh-CN" altLang="en-US" sz="1000" b="0" i="0">
                          <a:solidFill>
                            <a:srgbClr val="000000"/>
                          </a:solidFill>
                        </a:rPr>
                        <a:t>统计分析模块</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展示漏洞趋势、风险分布、分类统计等</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Gin + ECharts + TiDB </a:t>
                      </a:r>
                      <a:r>
                        <a:rPr lang="zh-CN" altLang="en-US" sz="1000" b="0" i="0">
                          <a:solidFill>
                            <a:srgbClr val="000000"/>
                          </a:solidFill>
                        </a:rPr>
                        <a:t>视图</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6. </a:t>
                      </a:r>
                      <a:r>
                        <a:rPr lang="zh-CN" altLang="en-US" sz="1000" b="0" i="0">
                          <a:solidFill>
                            <a:srgbClr val="000000"/>
                          </a:solidFill>
                        </a:rPr>
                        <a:t>权限控制模块</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实现接口级别权限控制</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JWT + Gin </a:t>
                      </a:r>
                      <a:r>
                        <a:rPr lang="zh-CN" altLang="en-US" sz="1000" b="0" i="0">
                          <a:solidFill>
                            <a:srgbClr val="000000"/>
                          </a:solidFill>
                        </a:rPr>
                        <a:t>中间件 </a:t>
                      </a:r>
                      <a:r>
                        <a:rPr lang="en-US" altLang="zh-CN" sz="1000" b="0" i="0">
                          <a:solidFill>
                            <a:srgbClr val="000000"/>
                          </a:solidFill>
                        </a:rPr>
                        <a:t>+ TiDB(permissions)</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endParaRPr sz="1000" b="0" i="0" dirty="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
        <p:nvSpPr>
          <p:cNvPr id="6" name="文本框 5"/>
          <p:cNvSpPr txBox="1"/>
          <p:nvPr/>
        </p:nvSpPr>
        <p:spPr>
          <a:xfrm>
            <a:off x="1900872" y="4423410"/>
            <a:ext cx="8466455" cy="1322070"/>
          </a:xfrm>
          <a:prstGeom prst="rect">
            <a:avLst/>
          </a:prstGeom>
        </p:spPr>
        <p:txBody>
          <a:bodyPr wrap="square">
            <a:spAutoFit/>
          </a:bodyPr>
          <a:lstStyle/>
          <a:p>
            <a:pPr algn="l"/>
            <a:r>
              <a:rPr lang="en-US" altLang="zh-CN" sz="1600" dirty="0"/>
              <a:t>  ① </a:t>
            </a:r>
            <a:r>
              <a:rPr lang="zh-CN" altLang="en-US" sz="1600" dirty="0"/>
              <a:t>高内聚低耦合 ：每个模块职责单一，模块之间通过清晰的接口通信，便于开发与维护。</a:t>
            </a:r>
            <a:endParaRPr lang="zh-CN" altLang="en-US" sz="1600" dirty="0"/>
          </a:p>
          <a:p>
            <a:r>
              <a:rPr lang="en-US" altLang="zh-CN" sz="1600" dirty="0"/>
              <a:t>  ② </a:t>
            </a:r>
            <a:r>
              <a:rPr lang="zh-CN" altLang="en-US" sz="1600" dirty="0"/>
              <a:t>易于扩展 ：新增功能可通过添加新模块或扩展现有模块实现，不影响已有功能。</a:t>
            </a:r>
            <a:endParaRPr lang="zh-CN" altLang="en-US" sz="1600" dirty="0"/>
          </a:p>
          <a:p>
            <a:pPr algn="l"/>
            <a:r>
              <a:rPr lang="en-US" altLang="zh-CN" sz="1600" dirty="0"/>
              <a:t>  ③ </a:t>
            </a:r>
            <a:r>
              <a:rPr lang="zh-CN" altLang="en-US" sz="1600" dirty="0"/>
              <a:t>支持微服务化演进 ：未来可将各模块拆分为独立服务，构建分布式漏洞管理系统。</a:t>
            </a:r>
            <a:endParaRPr lang="zh-CN" altLang="en-US" sz="1600" dirty="0"/>
          </a:p>
          <a:p>
            <a:pPr algn="l"/>
            <a:r>
              <a:rPr lang="en-US" altLang="zh-CN" sz="1600" dirty="0"/>
              <a:t>  ④ </a:t>
            </a:r>
            <a:r>
              <a:rPr lang="zh-CN" altLang="en-US" sz="1600" dirty="0"/>
              <a:t>便于权限隔离与安全管理 ：不同模块的数据访问权限可分别控制，提升整体安全性。</a:t>
            </a:r>
            <a:endParaRPr lang="zh-CN" altLang="en-US" sz="1600" dirty="0"/>
          </a:p>
          <a:p>
            <a:pPr algn="l"/>
            <a:r>
              <a:rPr lang="en-US" altLang="zh-CN" sz="1600" dirty="0"/>
              <a:t>  ⑤ </a:t>
            </a:r>
            <a:r>
              <a:rPr lang="zh-CN" altLang="en-US" sz="1600" dirty="0"/>
              <a:t>提升开发效率 ：前后端分离 </a:t>
            </a:r>
            <a:r>
              <a:rPr lang="en-US" altLang="zh-CN" sz="1600" dirty="0"/>
              <a:t>+ </a:t>
            </a:r>
            <a:r>
              <a:rPr lang="zh-CN" altLang="en-US" sz="1600" dirty="0"/>
              <a:t>模块化设计，使团队成员可并行开发不同模块。</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数据处理模块</a:t>
            </a:r>
            <a:endParaRPr lang="zh-CN" altLang="en-US" dirty="0"/>
          </a:p>
        </p:txBody>
      </p:sp>
      <p:sp>
        <p:nvSpPr>
          <p:cNvPr id="3" name="文本框 2"/>
          <p:cNvSpPr txBox="1"/>
          <p:nvPr/>
        </p:nvSpPr>
        <p:spPr>
          <a:xfrm>
            <a:off x="5749925" y="100012"/>
            <a:ext cx="5080000" cy="829945"/>
          </a:xfrm>
          <a:prstGeom prst="rect">
            <a:avLst/>
          </a:prstGeom>
        </p:spPr>
        <p:txBody>
          <a:bodyPr>
            <a:spAutoFit/>
          </a:bodyPr>
          <a:lstStyle/>
          <a:p>
            <a:r>
              <a:rPr lang="zh-CN" altLang="en-US" sz="1600"/>
              <a:t>程序使用 </a:t>
            </a:r>
            <a:r>
              <a:rPr lang="en-US" altLang="zh-CN" sz="1600"/>
              <a:t>glob </a:t>
            </a:r>
            <a:r>
              <a:rPr lang="zh-CN" altLang="en-US" sz="1600"/>
              <a:t>模块扫描指定目录下的所有 </a:t>
            </a:r>
            <a:r>
              <a:rPr lang="en-US" altLang="zh-CN" sz="1600"/>
              <a:t>.json </a:t>
            </a:r>
            <a:r>
              <a:rPr lang="zh-CN" altLang="en-US" sz="1600"/>
              <a:t>文件，并逐个打开进行解析。路径由配置项 </a:t>
            </a:r>
            <a:r>
              <a:rPr lang="en-US" altLang="zh-CN" sz="1600"/>
              <a:t>JSON_DIR </a:t>
            </a:r>
            <a:r>
              <a:rPr lang="zh-CN" altLang="en-US" sz="1600"/>
              <a:t>控制，便于后续扩展至网络爬虫或远程 </a:t>
            </a:r>
            <a:r>
              <a:rPr lang="en-US" altLang="zh-CN" sz="1600"/>
              <a:t>FTP </a:t>
            </a:r>
            <a:r>
              <a:rPr lang="zh-CN" altLang="en-US" sz="1600"/>
              <a:t>加载。</a:t>
            </a:r>
            <a:endParaRPr lang="zh-CN" altLang="en-US" sz="1600"/>
          </a:p>
        </p:txBody>
      </p:sp>
      <p:sp>
        <p:nvSpPr>
          <p:cNvPr id="4" name="文本框 3"/>
          <p:cNvSpPr txBox="1"/>
          <p:nvPr/>
        </p:nvSpPr>
        <p:spPr>
          <a:xfrm>
            <a:off x="6096000" y="1219200"/>
            <a:ext cx="5424805" cy="4817745"/>
          </a:xfrm>
          <a:prstGeom prst="rect">
            <a:avLst/>
          </a:prstGeom>
        </p:spPr>
        <p:txBody>
          <a:bodyPr>
            <a:noAutofit/>
          </a:bodyPr>
          <a:lstStyle/>
          <a:p>
            <a:pPr>
              <a:lnSpc>
                <a:spcPts val="1425"/>
              </a:lnSpc>
            </a:pPr>
            <a:r>
              <a:rPr lang="en-US" altLang="zh-CN" sz="1200" b="0" dirty="0">
                <a:solidFill>
                  <a:srgbClr val="569CD6"/>
                </a:solidFill>
                <a:latin typeface="Consolas" panose="020B0609020204030204"/>
                <a:ea typeface="Consolas" panose="020B0609020204030204"/>
              </a:rPr>
              <a:t>def </a:t>
            </a:r>
            <a:r>
              <a:rPr lang="en-US" altLang="zh-CN" sz="1200" b="0" dirty="0">
                <a:solidFill>
                  <a:srgbClr val="DCDCAA"/>
                </a:solidFill>
                <a:latin typeface="Consolas" panose="020B0609020204030204"/>
                <a:ea typeface="Consolas" panose="020B0609020204030204"/>
              </a:rPr>
              <a:t>main</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conn</a:t>
            </a:r>
            <a:r>
              <a:rPr lang="en-US" altLang="zh-CN" sz="1200" b="0" dirty="0">
                <a:solidFill>
                  <a:srgbClr val="D4D4D4"/>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connect_db</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cursor</a:t>
            </a:r>
            <a:r>
              <a:rPr lang="en-US" altLang="zh-CN" sz="1200" b="0" dirty="0">
                <a:solidFill>
                  <a:srgbClr val="D4D4D4"/>
                </a:solidFill>
                <a:latin typeface="Consolas" panose="020B0609020204030204"/>
                <a:ea typeface="Consolas" panose="020B0609020204030204"/>
              </a:rPr>
              <a:t>=</a:t>
            </a:r>
            <a:r>
              <a:rPr lang="en-US" altLang="zh-CN" sz="1200" b="0" dirty="0" err="1">
                <a:solidFill>
                  <a:srgbClr val="9CDCFE"/>
                </a:solidFill>
                <a:latin typeface="Consolas" panose="020B0609020204030204"/>
                <a:ea typeface="Consolas" panose="020B0609020204030204"/>
              </a:rPr>
              <a:t>conn</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cursor</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files</a:t>
            </a:r>
            <a:r>
              <a:rPr lang="en-US" altLang="zh-CN" sz="1200" b="0" dirty="0">
                <a:solidFill>
                  <a:srgbClr val="D4D4D4"/>
                </a:solidFill>
                <a:latin typeface="Consolas" panose="020B0609020204030204"/>
                <a:ea typeface="Consolas" panose="020B0609020204030204"/>
              </a:rPr>
              <a:t>=</a:t>
            </a:r>
            <a:r>
              <a:rPr lang="en-US" altLang="zh-CN" sz="1200" b="0" dirty="0">
                <a:solidFill>
                  <a:srgbClr val="DCDCAA"/>
                </a:solidFill>
                <a:latin typeface="Consolas" panose="020B0609020204030204"/>
                <a:ea typeface="Consolas" panose="020B0609020204030204"/>
              </a:rPr>
              <a:t>glob</a:t>
            </a:r>
            <a:r>
              <a:rPr lang="en-US" altLang="zh-CN" sz="1200" b="0" dirty="0">
                <a:solidFill>
                  <a:srgbClr val="CCCCCC"/>
                </a:solidFill>
                <a:latin typeface="Consolas" panose="020B0609020204030204"/>
                <a:ea typeface="Consolas" panose="020B0609020204030204"/>
              </a:rPr>
              <a:t>(</a:t>
            </a:r>
            <a:r>
              <a:rPr lang="en-US" altLang="zh-CN" sz="1200" b="0" dirty="0" err="1">
                <a:solidFill>
                  <a:srgbClr val="4EC9B0"/>
                </a:solidFill>
                <a:latin typeface="Consolas" panose="020B0609020204030204"/>
                <a:ea typeface="Consolas" panose="020B0609020204030204"/>
              </a:rPr>
              <a:t>os</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9CDCFE"/>
                </a:solidFill>
                <a:latin typeface="Consolas" panose="020B0609020204030204"/>
                <a:ea typeface="Consolas" panose="020B0609020204030204"/>
              </a:rPr>
              <a:t>path</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join</a:t>
            </a:r>
            <a:r>
              <a:rPr lang="en-US" altLang="zh-CN" sz="1200" b="0" dirty="0">
                <a:solidFill>
                  <a:srgbClr val="CCCCCC"/>
                </a:solidFill>
                <a:latin typeface="Consolas" panose="020B0609020204030204"/>
                <a:ea typeface="Consolas" panose="020B0609020204030204"/>
              </a:rPr>
              <a:t>(</a:t>
            </a:r>
            <a:r>
              <a:rPr lang="en-US" altLang="zh-CN" sz="1200" b="0" dirty="0">
                <a:solidFill>
                  <a:srgbClr val="4FC1FF"/>
                </a:solidFill>
                <a:latin typeface="Consolas" panose="020B0609020204030204"/>
                <a:ea typeface="Consolas" panose="020B0609020204030204"/>
              </a:rPr>
              <a:t>JSON_DIR</a:t>
            </a:r>
            <a:r>
              <a:rPr lang="en-US" altLang="zh-CN" sz="1200" b="0" dirty="0">
                <a:solidFill>
                  <a:srgbClr val="CCCCCC"/>
                </a:solidFill>
                <a:latin typeface="Consolas" panose="020B0609020204030204"/>
                <a:ea typeface="Consolas" panose="020B0609020204030204"/>
              </a:rPr>
              <a:t>, </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json</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total</a:t>
            </a:r>
            <a:r>
              <a:rPr lang="en-US" altLang="zh-CN" sz="1200" b="0" dirty="0">
                <a:solidFill>
                  <a:srgbClr val="D4D4D4"/>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len</a:t>
            </a:r>
            <a:r>
              <a:rPr lang="en-US" altLang="zh-CN" sz="1200" b="0" dirty="0">
                <a:solidFill>
                  <a:srgbClr val="CCCCCC"/>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files</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DCDCAA"/>
                </a:solidFill>
                <a:latin typeface="Consolas" panose="020B0609020204030204"/>
                <a:ea typeface="Consolas" panose="020B0609020204030204"/>
              </a:rPr>
              <a:t>print</a:t>
            </a:r>
            <a:r>
              <a:rPr lang="en-US" altLang="zh-CN" sz="1200" b="0" dirty="0">
                <a:solidFill>
                  <a:srgbClr val="CCCCCC"/>
                </a:solidFill>
                <a:latin typeface="Consolas" panose="020B0609020204030204"/>
                <a:ea typeface="Consolas" panose="020B0609020204030204"/>
              </a:rPr>
              <a:t>(</a:t>
            </a:r>
            <a:r>
              <a:rPr lang="en-US" altLang="zh-CN" sz="1200" b="0" dirty="0">
                <a:solidFill>
                  <a:srgbClr val="569CD6"/>
                </a:solidFill>
                <a:latin typeface="Consolas" panose="020B0609020204030204"/>
                <a:ea typeface="Consolas" panose="020B0609020204030204"/>
              </a:rPr>
              <a:t>f</a:t>
            </a:r>
            <a:r>
              <a:rPr lang="en-US" altLang="zh-CN" sz="1200" b="0" dirty="0">
                <a:solidFill>
                  <a:srgbClr val="CE9178"/>
                </a:solidFill>
                <a:latin typeface="Consolas" panose="020B0609020204030204"/>
                <a:ea typeface="Consolas" panose="020B0609020204030204"/>
              </a:rPr>
              <a:t>"[INFO] Found </a:t>
            </a:r>
            <a:r>
              <a:rPr lang="en-US" altLang="zh-CN" sz="1200" b="0" dirty="0">
                <a:solidFill>
                  <a:srgbClr val="569CD6"/>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total</a:t>
            </a:r>
            <a:r>
              <a:rPr lang="en-US" altLang="zh-CN" sz="1200" b="0" dirty="0">
                <a:solidFill>
                  <a:srgbClr val="569CD6"/>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 JSON files to process."</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count</a:t>
            </a:r>
            <a:r>
              <a:rPr lang="en-US" altLang="zh-CN" sz="1200" b="0" dirty="0">
                <a:solidFill>
                  <a:srgbClr val="D4D4D4"/>
                </a:solidFill>
                <a:latin typeface="Consolas" panose="020B0609020204030204"/>
                <a:ea typeface="Consolas" panose="020B0609020204030204"/>
              </a:rPr>
              <a:t>=</a:t>
            </a:r>
            <a:r>
              <a:rPr lang="en-US" altLang="zh-CN" sz="1200" b="0" dirty="0">
                <a:solidFill>
                  <a:srgbClr val="B5CEA8"/>
                </a:solidFill>
                <a:latin typeface="Consolas" panose="020B0609020204030204"/>
                <a:ea typeface="Consolas" panose="020B0609020204030204"/>
              </a:rPr>
              <a:t>0</a:t>
            </a:r>
            <a:endParaRPr lang="en-US" altLang="zh-CN" sz="1200" b="0" dirty="0">
              <a:solidFill>
                <a:srgbClr val="B5CEA8"/>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C586C0"/>
                </a:solidFill>
                <a:latin typeface="Consolas" panose="020B0609020204030204"/>
                <a:ea typeface="Consolas" panose="020B0609020204030204"/>
              </a:rPr>
              <a:t>for</a:t>
            </a:r>
            <a:r>
              <a:rPr lang="en-US" altLang="zh-CN" sz="1200" b="0" dirty="0" err="1">
                <a:solidFill>
                  <a:srgbClr val="9CDCFE"/>
                </a:solidFill>
                <a:latin typeface="Consolas" panose="020B0609020204030204"/>
                <a:ea typeface="Consolas" panose="020B0609020204030204"/>
              </a:rPr>
              <a:t>path</a:t>
            </a:r>
            <a:r>
              <a:rPr lang="en-US" altLang="zh-CN" sz="1200" b="0" dirty="0" err="1">
                <a:solidFill>
                  <a:srgbClr val="DCDCAA"/>
                </a:solidFill>
                <a:latin typeface="Consolas" panose="020B0609020204030204"/>
                <a:ea typeface="Consolas" panose="020B0609020204030204"/>
              </a:rPr>
              <a:t>in</a:t>
            </a:r>
            <a:r>
              <a:rPr lang="en-US" altLang="zh-CN" sz="1200" b="0" dirty="0" err="1">
                <a:solidFill>
                  <a:srgbClr val="4EC9B0"/>
                </a:solidFill>
                <a:latin typeface="Consolas" panose="020B0609020204030204"/>
                <a:ea typeface="Consolas" panose="020B0609020204030204"/>
              </a:rPr>
              <a:t>tqdm</a:t>
            </a:r>
            <a:r>
              <a:rPr lang="en-US" altLang="zh-CN" sz="1200" b="0" dirty="0">
                <a:solidFill>
                  <a:srgbClr val="CCCCCC"/>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files</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C586C0"/>
                </a:solidFill>
                <a:latin typeface="Consolas" panose="020B0609020204030204"/>
                <a:ea typeface="Consolas" panose="020B0609020204030204"/>
              </a:rPr>
              <a:t>try</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C586C0"/>
                </a:solidFill>
                <a:latin typeface="Consolas" panose="020B0609020204030204"/>
                <a:ea typeface="Consolas" panose="020B0609020204030204"/>
              </a:rPr>
              <a:t>with</a:t>
            </a:r>
            <a:r>
              <a:rPr lang="en-US" altLang="zh-CN" sz="1200" b="0" dirty="0" err="1">
                <a:solidFill>
                  <a:srgbClr val="DCDCAA"/>
                </a:solidFill>
                <a:latin typeface="Consolas" panose="020B0609020204030204"/>
                <a:ea typeface="Consolas" panose="020B0609020204030204"/>
              </a:rPr>
              <a:t>open</a:t>
            </a:r>
            <a:r>
              <a:rPr lang="en-US" altLang="zh-CN" sz="1200" b="0" dirty="0">
                <a:solidFill>
                  <a:srgbClr val="CCCCCC"/>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path</a:t>
            </a:r>
            <a:r>
              <a:rPr lang="en-US" altLang="zh-CN" sz="1200" b="0" dirty="0">
                <a:solidFill>
                  <a:srgbClr val="CCCCCC"/>
                </a:solidFill>
                <a:latin typeface="Consolas" panose="020B0609020204030204"/>
                <a:ea typeface="Consolas" panose="020B0609020204030204"/>
              </a:rPr>
              <a:t>, </a:t>
            </a:r>
            <a:r>
              <a:rPr lang="en-US" altLang="zh-CN" sz="1200" b="0" dirty="0">
                <a:solidFill>
                  <a:srgbClr val="CE9178"/>
                </a:solidFill>
                <a:latin typeface="Consolas" panose="020B0609020204030204"/>
                <a:ea typeface="Consolas" panose="020B0609020204030204"/>
              </a:rPr>
              <a:t>'r'</a:t>
            </a: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encoding</a:t>
            </a:r>
            <a:r>
              <a:rPr lang="en-US" altLang="zh-CN" sz="1200" b="0" dirty="0">
                <a:solidFill>
                  <a:srgbClr val="D4D4D4"/>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'utf-8'</a:t>
            </a:r>
            <a:r>
              <a:rPr lang="en-US" altLang="zh-CN" sz="1200" b="0" dirty="0">
                <a:solidFill>
                  <a:srgbClr val="CCCCCC"/>
                </a:solidFill>
                <a:latin typeface="Consolas" panose="020B0609020204030204"/>
                <a:ea typeface="Consolas" panose="020B0609020204030204"/>
              </a:rPr>
              <a:t>) </a:t>
            </a:r>
            <a:r>
              <a:rPr lang="en-US" altLang="zh-CN" sz="1200" b="0" dirty="0" err="1">
                <a:solidFill>
                  <a:srgbClr val="C586C0"/>
                </a:solidFill>
                <a:latin typeface="Consolas" panose="020B0609020204030204"/>
                <a:ea typeface="Consolas" panose="020B0609020204030204"/>
              </a:rPr>
              <a:t>as</a:t>
            </a:r>
            <a:r>
              <a:rPr lang="en-US" altLang="zh-CN" sz="1200" b="0" dirty="0" err="1">
                <a:solidFill>
                  <a:srgbClr val="9CDCFE"/>
                </a:solidFill>
                <a:latin typeface="Consolas" panose="020B0609020204030204"/>
                <a:ea typeface="Consolas" panose="020B0609020204030204"/>
              </a:rPr>
              <a:t>f</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data</a:t>
            </a:r>
            <a:r>
              <a:rPr lang="en-US" altLang="zh-CN" sz="1200" b="0" dirty="0">
                <a:solidFill>
                  <a:srgbClr val="D4D4D4"/>
                </a:solidFill>
                <a:latin typeface="Consolas" panose="020B0609020204030204"/>
                <a:ea typeface="Consolas" panose="020B0609020204030204"/>
              </a:rPr>
              <a:t>=</a:t>
            </a:r>
            <a:r>
              <a:rPr lang="en-US" altLang="zh-CN" sz="1200" b="0" dirty="0" err="1">
                <a:solidFill>
                  <a:srgbClr val="4EC9B0"/>
                </a:solidFill>
                <a:latin typeface="Consolas" panose="020B0609020204030204"/>
                <a:ea typeface="Consolas" panose="020B0609020204030204"/>
              </a:rPr>
              <a:t>json</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load</a:t>
            </a:r>
            <a:r>
              <a:rPr lang="en-US" altLang="zh-CN" sz="1200" b="0" dirty="0">
                <a:solidFill>
                  <a:srgbClr val="CCCCCC"/>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f</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C586C0"/>
                </a:solidFill>
                <a:latin typeface="Consolas" panose="020B0609020204030204"/>
                <a:ea typeface="Consolas" panose="020B0609020204030204"/>
              </a:rPr>
              <a:t>if</a:t>
            </a:r>
            <a:r>
              <a:rPr lang="en-US" altLang="zh-CN" sz="1200" b="0" dirty="0" err="1">
                <a:solidFill>
                  <a:srgbClr val="CE9178"/>
                </a:solidFill>
                <a:latin typeface="Consolas" panose="020B0609020204030204"/>
                <a:ea typeface="Consolas" panose="020B0609020204030204"/>
              </a:rPr>
              <a:t>'cve'</a:t>
            </a:r>
            <a:r>
              <a:rPr lang="en-US" altLang="zh-CN" sz="1200" b="0" dirty="0" err="1">
                <a:solidFill>
                  <a:srgbClr val="569CD6"/>
                </a:solidFill>
                <a:latin typeface="Consolas" panose="020B0609020204030204"/>
                <a:ea typeface="Consolas" panose="020B0609020204030204"/>
              </a:rPr>
              <a:t>in</a:t>
            </a:r>
            <a:r>
              <a:rPr lang="en-US" altLang="zh-CN" sz="1200" b="0" dirty="0" err="1">
                <a:solidFill>
                  <a:srgbClr val="9CDCFE"/>
                </a:solidFill>
                <a:latin typeface="Consolas" panose="020B0609020204030204"/>
                <a:ea typeface="Consolas" panose="020B0609020204030204"/>
              </a:rPr>
              <a:t>data</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DCDCAA"/>
                </a:solidFill>
                <a:latin typeface="Consolas" panose="020B0609020204030204"/>
                <a:ea typeface="Consolas" panose="020B0609020204030204"/>
              </a:rPr>
              <a:t>insert_cve_data</a:t>
            </a:r>
            <a:r>
              <a:rPr lang="en-US" altLang="zh-CN" sz="1200" b="0" dirty="0">
                <a:solidFill>
                  <a:srgbClr val="CCCCCC"/>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cursor</a:t>
            </a: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data</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cve</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9CDCFE"/>
                </a:solidFill>
                <a:latin typeface="Consolas" panose="020B0609020204030204"/>
                <a:ea typeface="Consolas" panose="020B0609020204030204"/>
              </a:rPr>
              <a:t>count</a:t>
            </a:r>
            <a:r>
              <a:rPr lang="en-US" altLang="zh-CN" sz="1200" b="0" dirty="0">
                <a:solidFill>
                  <a:srgbClr val="D4D4D4"/>
                </a:solidFill>
                <a:latin typeface="Consolas" panose="020B0609020204030204"/>
                <a:ea typeface="Consolas" panose="020B0609020204030204"/>
              </a:rPr>
              <a:t>+=</a:t>
            </a:r>
            <a:r>
              <a:rPr lang="en-US" altLang="zh-CN" sz="1200" b="0" dirty="0">
                <a:solidFill>
                  <a:srgbClr val="B5CEA8"/>
                </a:solidFill>
                <a:latin typeface="Consolas" panose="020B0609020204030204"/>
                <a:ea typeface="Consolas" panose="020B0609020204030204"/>
              </a:rPr>
              <a:t>1</a:t>
            </a:r>
            <a:endParaRPr lang="en-US" altLang="zh-CN" sz="1200" b="0" dirty="0">
              <a:solidFill>
                <a:srgbClr val="B5CEA8"/>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C586C0"/>
                </a:solidFill>
                <a:latin typeface="Consolas" panose="020B0609020204030204"/>
                <a:ea typeface="Consolas" panose="020B0609020204030204"/>
              </a:rPr>
              <a:t>if</a:t>
            </a:r>
            <a:r>
              <a:rPr lang="en-US" altLang="zh-CN" sz="1200" b="0" dirty="0" err="1">
                <a:solidFill>
                  <a:srgbClr val="9CDCFE"/>
                </a:solidFill>
                <a:latin typeface="Consolas" panose="020B0609020204030204"/>
                <a:ea typeface="Consolas" panose="020B0609020204030204"/>
              </a:rPr>
              <a:t>count</a:t>
            </a:r>
            <a:r>
              <a:rPr lang="en-US" altLang="zh-CN" sz="1200" b="0" dirty="0" err="1">
                <a:solidFill>
                  <a:srgbClr val="D4D4D4"/>
                </a:solidFill>
                <a:latin typeface="Consolas" panose="020B0609020204030204"/>
                <a:ea typeface="Consolas" panose="020B0609020204030204"/>
              </a:rPr>
              <a:t>%</a:t>
            </a:r>
            <a:r>
              <a:rPr lang="en-US" altLang="zh-CN" sz="1200" b="0" dirty="0" err="1">
                <a:solidFill>
                  <a:srgbClr val="4FC1FF"/>
                </a:solidFill>
                <a:latin typeface="Consolas" panose="020B0609020204030204"/>
                <a:ea typeface="Consolas" panose="020B0609020204030204"/>
              </a:rPr>
              <a:t>BATCH_SIZE</a:t>
            </a:r>
            <a:r>
              <a:rPr lang="en-US" altLang="zh-CN" sz="1200" b="0" dirty="0">
                <a:solidFill>
                  <a:srgbClr val="D4D4D4"/>
                </a:solidFill>
                <a:latin typeface="Consolas" panose="020B0609020204030204"/>
                <a:ea typeface="Consolas" panose="020B0609020204030204"/>
              </a:rPr>
              <a:t>==</a:t>
            </a:r>
            <a:r>
              <a:rPr lang="en-US" altLang="zh-CN" sz="1200" b="0" dirty="0">
                <a:solidFill>
                  <a:srgbClr val="B5CEA8"/>
                </a:solidFill>
                <a:latin typeface="Consolas" panose="020B0609020204030204"/>
                <a:ea typeface="Consolas" panose="020B0609020204030204"/>
              </a:rPr>
              <a:t>0</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conn</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commit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C586C0"/>
                </a:solidFill>
                <a:latin typeface="Consolas" panose="020B0609020204030204"/>
                <a:ea typeface="Consolas" panose="020B0609020204030204"/>
              </a:rPr>
              <a:t>except</a:t>
            </a:r>
            <a:r>
              <a:rPr lang="en-US" altLang="zh-CN" sz="1200" b="0" dirty="0" err="1">
                <a:solidFill>
                  <a:srgbClr val="4EC9B0"/>
                </a:solidFill>
                <a:latin typeface="Consolas" panose="020B0609020204030204"/>
                <a:ea typeface="Consolas" panose="020B0609020204030204"/>
              </a:rPr>
              <a:t>Exception</a:t>
            </a:r>
            <a:r>
              <a:rPr lang="en-US" altLang="zh-CN" sz="1200" b="0" dirty="0" err="1">
                <a:solidFill>
                  <a:srgbClr val="C586C0"/>
                </a:solidFill>
                <a:latin typeface="Consolas" panose="020B0609020204030204"/>
                <a:ea typeface="Consolas" panose="020B0609020204030204"/>
              </a:rPr>
              <a:t>as</a:t>
            </a:r>
            <a:r>
              <a:rPr lang="en-US" altLang="zh-CN" sz="1200" b="0" dirty="0" err="1">
                <a:solidFill>
                  <a:srgbClr val="9CDCFE"/>
                </a:solidFill>
                <a:latin typeface="Consolas" panose="020B0609020204030204"/>
                <a:ea typeface="Consolas" panose="020B0609020204030204"/>
              </a:rPr>
              <a:t>e</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DCDCAA"/>
                </a:solidFill>
                <a:latin typeface="Consolas" panose="020B0609020204030204"/>
                <a:ea typeface="Consolas" panose="020B0609020204030204"/>
              </a:rPr>
              <a:t>print</a:t>
            </a:r>
            <a:r>
              <a:rPr lang="en-US" altLang="zh-CN" sz="1200" b="0" dirty="0">
                <a:solidFill>
                  <a:srgbClr val="CCCCCC"/>
                </a:solidFill>
                <a:latin typeface="Consolas" panose="020B0609020204030204"/>
                <a:ea typeface="Consolas" panose="020B0609020204030204"/>
              </a:rPr>
              <a:t>(</a:t>
            </a:r>
            <a:r>
              <a:rPr lang="en-US" altLang="zh-CN" sz="1200" b="0" dirty="0">
                <a:solidFill>
                  <a:srgbClr val="569CD6"/>
                </a:solidFill>
                <a:latin typeface="Consolas" panose="020B0609020204030204"/>
                <a:ea typeface="Consolas" panose="020B0609020204030204"/>
              </a:rPr>
              <a:t>f</a:t>
            </a:r>
            <a:r>
              <a:rPr lang="en-US" altLang="zh-CN" sz="1200" b="0" dirty="0">
                <a:solidFill>
                  <a:srgbClr val="CE9178"/>
                </a:solidFill>
                <a:latin typeface="Consolas" panose="020B0609020204030204"/>
                <a:ea typeface="Consolas" panose="020B0609020204030204"/>
              </a:rPr>
              <a:t>"[ERROR] File: </a:t>
            </a:r>
            <a:r>
              <a:rPr lang="en-US" altLang="zh-CN" sz="1200" b="0" dirty="0">
                <a:solidFill>
                  <a:srgbClr val="569CD6"/>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path</a:t>
            </a:r>
            <a:r>
              <a:rPr lang="en-US" altLang="zh-CN" sz="1200" b="0" dirty="0">
                <a:solidFill>
                  <a:srgbClr val="569CD6"/>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 - </a:t>
            </a:r>
            <a:r>
              <a:rPr lang="en-US" altLang="zh-CN" sz="1200" b="0" dirty="0">
                <a:solidFill>
                  <a:srgbClr val="569CD6"/>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e</a:t>
            </a:r>
            <a:r>
              <a:rPr lang="en-US" altLang="zh-CN" sz="1200" b="0" dirty="0">
                <a:solidFill>
                  <a:srgbClr val="569CD6"/>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conn</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commit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cursor</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close</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conn</a:t>
            </a:r>
            <a:r>
              <a:rPr lang="en-US" altLang="zh-CN" sz="1200" b="0" dirty="0" err="1">
                <a:solidFill>
                  <a:srgbClr val="CCCCCC"/>
                </a:solidFill>
                <a:latin typeface="Consolas" panose="020B0609020204030204"/>
                <a:ea typeface="Consolas" panose="020B0609020204030204"/>
              </a:rPr>
              <a:t>.</a:t>
            </a:r>
            <a:r>
              <a:rPr lang="en-US" altLang="zh-CN" sz="1200" b="0" dirty="0" err="1">
                <a:solidFill>
                  <a:srgbClr val="DCDCAA"/>
                </a:solidFill>
                <a:latin typeface="Consolas" panose="020B0609020204030204"/>
                <a:ea typeface="Consolas" panose="020B0609020204030204"/>
              </a:rPr>
              <a:t>close</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DCDCAA"/>
                </a:solidFill>
                <a:latin typeface="Consolas" panose="020B0609020204030204"/>
                <a:ea typeface="Consolas" panose="020B0609020204030204"/>
              </a:rPr>
              <a:t>print</a:t>
            </a:r>
            <a:r>
              <a:rPr lang="en-US" altLang="zh-CN" sz="1200" b="0" dirty="0">
                <a:solidFill>
                  <a:srgbClr val="CCCCCC"/>
                </a:solidFill>
                <a:latin typeface="Consolas" panose="020B0609020204030204"/>
                <a:ea typeface="Consolas" panose="020B0609020204030204"/>
              </a:rPr>
              <a:t>(</a:t>
            </a:r>
            <a:r>
              <a:rPr lang="en-US" altLang="zh-CN" sz="1200" b="0" dirty="0">
                <a:solidFill>
                  <a:srgbClr val="569CD6"/>
                </a:solidFill>
                <a:latin typeface="Consolas" panose="020B0609020204030204"/>
                <a:ea typeface="Consolas" panose="020B0609020204030204"/>
              </a:rPr>
              <a:t>f</a:t>
            </a:r>
            <a:r>
              <a:rPr lang="en-US" altLang="zh-CN" sz="1200" b="0" dirty="0">
                <a:solidFill>
                  <a:srgbClr val="CE9178"/>
                </a:solidFill>
                <a:latin typeface="Consolas" panose="020B0609020204030204"/>
                <a:ea typeface="Consolas" panose="020B0609020204030204"/>
              </a:rPr>
              <a:t>"[DONE] Processed </a:t>
            </a:r>
            <a:r>
              <a:rPr lang="en-US" altLang="zh-CN" sz="1200" b="0" dirty="0">
                <a:solidFill>
                  <a:srgbClr val="569CD6"/>
                </a:solidFill>
                <a:latin typeface="Consolas" panose="020B0609020204030204"/>
                <a:ea typeface="Consolas" panose="020B0609020204030204"/>
              </a:rPr>
              <a:t>{</a:t>
            </a:r>
            <a:r>
              <a:rPr lang="en-US" altLang="zh-CN" sz="1200" b="0" dirty="0">
                <a:solidFill>
                  <a:srgbClr val="9CDCFE"/>
                </a:solidFill>
                <a:latin typeface="Consolas" panose="020B0609020204030204"/>
                <a:ea typeface="Consolas" panose="020B0609020204030204"/>
              </a:rPr>
              <a:t>count</a:t>
            </a:r>
            <a:r>
              <a:rPr lang="en-US" altLang="zh-CN" sz="1200" b="0" dirty="0">
                <a:solidFill>
                  <a:srgbClr val="569CD6"/>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 entries."</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err="1">
                <a:solidFill>
                  <a:srgbClr val="C586C0"/>
                </a:solidFill>
                <a:latin typeface="Consolas" panose="020B0609020204030204"/>
                <a:ea typeface="Consolas" panose="020B0609020204030204"/>
              </a:rPr>
              <a:t>if</a:t>
            </a:r>
            <a:r>
              <a:rPr lang="en-US" altLang="zh-CN" sz="1200" b="0" dirty="0" err="1">
                <a:solidFill>
                  <a:srgbClr val="9CDCFE"/>
                </a:solidFill>
                <a:latin typeface="Consolas" panose="020B0609020204030204"/>
                <a:ea typeface="Consolas" panose="020B0609020204030204"/>
              </a:rPr>
              <a:t>__name</a:t>
            </a:r>
            <a:r>
              <a:rPr lang="en-US" altLang="zh-CN" sz="1200" b="0" dirty="0">
                <a:solidFill>
                  <a:srgbClr val="9CDCFE"/>
                </a:solidFill>
                <a:latin typeface="Consolas" panose="020B0609020204030204"/>
                <a:ea typeface="Consolas" panose="020B0609020204030204"/>
              </a:rPr>
              <a:t>__</a:t>
            </a:r>
            <a:r>
              <a:rPr lang="en-US" altLang="zh-CN" sz="1200" b="0" dirty="0">
                <a:solidFill>
                  <a:srgbClr val="D4D4D4"/>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'__main__'</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a:solidFill>
                  <a:srgbClr val="DCDCAA"/>
                </a:solidFill>
                <a:latin typeface="Consolas" panose="020B0609020204030204"/>
                <a:ea typeface="Consolas" panose="020B0609020204030204"/>
              </a:rPr>
              <a:t>main</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p:txBody>
      </p:sp>
      <p:sp>
        <p:nvSpPr>
          <p:cNvPr id="5" name="文本框 4"/>
          <p:cNvSpPr txBox="1"/>
          <p:nvPr/>
        </p:nvSpPr>
        <p:spPr>
          <a:xfrm>
            <a:off x="669925" y="1297940"/>
            <a:ext cx="5080000" cy="4659630"/>
          </a:xfrm>
          <a:prstGeom prst="rect">
            <a:avLst/>
          </a:prstGeom>
        </p:spPr>
        <p:txBody>
          <a:bodyPr>
            <a:spAutoFit/>
          </a:bodyPr>
          <a:lstStyle/>
          <a:p>
            <a:pPr>
              <a:lnSpc>
                <a:spcPts val="1425"/>
              </a:lnSpc>
            </a:pPr>
            <a:r>
              <a:rPr lang="en-US" altLang="zh-CN" sz="1200" b="0" dirty="0">
                <a:solidFill>
                  <a:srgbClr val="6A9955"/>
                </a:solidFill>
                <a:latin typeface="Consolas" panose="020B0609020204030204"/>
                <a:ea typeface="Consolas" panose="020B0609020204030204"/>
              </a:rPr>
              <a:t># </a:t>
            </a:r>
            <a:r>
              <a:rPr lang="zh-CN" altLang="en-US" sz="1200" b="0" dirty="0">
                <a:solidFill>
                  <a:srgbClr val="6A9955"/>
                </a:solidFill>
                <a:latin typeface="Consolas" panose="020B0609020204030204"/>
                <a:ea typeface="Consolas" panose="020B0609020204030204"/>
              </a:rPr>
              <a:t>主表</a:t>
            </a:r>
            <a:endParaRPr lang="zh-CN" altLang="en-US" sz="1200" b="0" dirty="0">
              <a:solidFill>
                <a:srgbClr val="6A9955"/>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cursor</a:t>
            </a:r>
            <a:r>
              <a:rPr lang="en-US" altLang="zh-CN" sz="1200" b="0" dirty="0" err="1">
                <a:solidFill>
                  <a:srgbClr val="CCCCCC"/>
                </a:solidFill>
                <a:latin typeface="Consolas" panose="020B0609020204030204"/>
                <a:ea typeface="Consolas" panose="020B0609020204030204"/>
              </a:rPr>
              <a:t>.execute</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endParaRPr lang="en-US" altLang="zh-CN" sz="1200" b="0" dirty="0">
              <a:solidFill>
                <a:srgbClr val="CE9178"/>
              </a:solidFill>
              <a:latin typeface="Consolas" panose="020B0609020204030204"/>
              <a:ea typeface="Consolas" panose="020B0609020204030204"/>
            </a:endParaRPr>
          </a:p>
          <a:p>
            <a:pPr>
              <a:lnSpc>
                <a:spcPts val="1425"/>
              </a:lnSpc>
            </a:pPr>
            <a:r>
              <a:rPr lang="en-US" altLang="zh-CN" sz="1200" b="0" dirty="0">
                <a:solidFill>
                  <a:srgbClr val="CE9178"/>
                </a:solidFill>
                <a:latin typeface="Consolas" panose="020B0609020204030204"/>
                <a:ea typeface="Consolas" panose="020B0609020204030204"/>
              </a:rPr>
              <a:t>        INSERT IGNORE INTO </a:t>
            </a:r>
            <a:r>
              <a:rPr lang="en-US" altLang="zh-CN" sz="1200" b="0" dirty="0" err="1">
                <a:solidFill>
                  <a:srgbClr val="CE9178"/>
                </a:solidFill>
                <a:latin typeface="Consolas" panose="020B0609020204030204"/>
                <a:ea typeface="Consolas" panose="020B0609020204030204"/>
              </a:rPr>
              <a:t>CVEEntry</a:t>
            </a:r>
            <a:r>
              <a:rPr lang="en-US" altLang="zh-CN" sz="1200" b="0" dirty="0">
                <a:solidFill>
                  <a:srgbClr val="CE9178"/>
                </a:solidFill>
                <a:latin typeface="Consolas" panose="020B0609020204030204"/>
                <a:ea typeface="Consolas" panose="020B0609020204030204"/>
              </a:rPr>
              <a:t> (</a:t>
            </a:r>
            <a:endParaRPr lang="en-US" altLang="zh-CN" sz="1200" b="0" dirty="0">
              <a:solidFill>
                <a:srgbClr val="CE9178"/>
              </a:solidFill>
              <a:latin typeface="Consolas" panose="020B0609020204030204"/>
              <a:ea typeface="Consolas" panose="020B0609020204030204"/>
            </a:endParaRPr>
          </a:p>
          <a:p>
            <a:pPr>
              <a:lnSpc>
                <a:spcPts val="1425"/>
              </a:lnSpc>
            </a:pPr>
            <a:r>
              <a:rPr lang="en-US" altLang="zh-CN" sz="1200" b="0" dirty="0">
                <a:solidFill>
                  <a:srgbClr val="CE9178"/>
                </a:solidFill>
                <a:latin typeface="Consolas" panose="020B0609020204030204"/>
                <a:ea typeface="Consolas" panose="020B0609020204030204"/>
              </a:rPr>
              <a:t>            id, </a:t>
            </a:r>
            <a:r>
              <a:rPr lang="en-US" altLang="zh-CN" sz="1200" b="0" dirty="0" err="1">
                <a:solidFill>
                  <a:srgbClr val="CE9178"/>
                </a:solidFill>
                <a:latin typeface="Consolas" panose="020B0609020204030204"/>
                <a:ea typeface="Consolas" panose="020B0609020204030204"/>
              </a:rPr>
              <a:t>sourceIdentifier</a:t>
            </a:r>
            <a:r>
              <a:rPr lang="en-US" altLang="zh-CN" sz="1200" b="0" dirty="0">
                <a:solidFill>
                  <a:srgbClr val="CE9178"/>
                </a:solidFill>
                <a:latin typeface="Consolas" panose="020B0609020204030204"/>
                <a:ea typeface="Consolas" panose="020B0609020204030204"/>
              </a:rPr>
              <a:t>, published, </a:t>
            </a:r>
            <a:r>
              <a:rPr lang="en-US" altLang="zh-CN" sz="1200" b="0" dirty="0" err="1">
                <a:solidFill>
                  <a:srgbClr val="CE9178"/>
                </a:solidFill>
                <a:latin typeface="Consolas" panose="020B0609020204030204"/>
                <a:ea typeface="Consolas" panose="020B0609020204030204"/>
              </a:rPr>
              <a:t>lastModified</a:t>
            </a: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vulnStatus</a:t>
            </a:r>
            <a:r>
              <a:rPr lang="en-US" altLang="zh-CN" sz="1200" b="0" dirty="0">
                <a:solidFill>
                  <a:srgbClr val="CE9178"/>
                </a:solidFill>
                <a:latin typeface="Consolas" panose="020B0609020204030204"/>
                <a:ea typeface="Consolas" panose="020B0609020204030204"/>
              </a:rPr>
              <a:t>,</a:t>
            </a:r>
            <a:endParaRPr lang="en-US" altLang="zh-CN" sz="1200" b="0" dirty="0">
              <a:solidFill>
                <a:srgbClr val="CE9178"/>
              </a:solidFill>
              <a:latin typeface="Consolas" panose="020B0609020204030204"/>
              <a:ea typeface="Consolas" panose="020B0609020204030204"/>
            </a:endParaRPr>
          </a:p>
          <a:p>
            <a:pPr>
              <a:lnSpc>
                <a:spcPts val="1425"/>
              </a:lnSpc>
            </a:pP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evaluatorComment</a:t>
            </a: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evaluatorImpact</a:t>
            </a: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evaluatorSolution</a:t>
            </a:r>
            <a:r>
              <a:rPr lang="en-US" altLang="zh-CN" sz="1200" b="0" dirty="0">
                <a:solidFill>
                  <a:srgbClr val="CE9178"/>
                </a:solidFill>
                <a:latin typeface="Consolas" panose="020B0609020204030204"/>
                <a:ea typeface="Consolas" panose="020B0609020204030204"/>
              </a:rPr>
              <a:t>,</a:t>
            </a:r>
            <a:endParaRPr lang="en-US" altLang="zh-CN" sz="1200" b="0" dirty="0">
              <a:solidFill>
                <a:srgbClr val="CE9178"/>
              </a:solidFill>
              <a:latin typeface="Consolas" panose="020B0609020204030204"/>
              <a:ea typeface="Consolas" panose="020B0609020204030204"/>
            </a:endParaRPr>
          </a:p>
          <a:p>
            <a:pPr>
              <a:lnSpc>
                <a:spcPts val="1425"/>
              </a:lnSpc>
            </a:pP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cisaActionDue</a:t>
            </a: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cisaExploitAdd</a:t>
            </a: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cisaRequiredAction</a:t>
            </a:r>
            <a:r>
              <a:rPr lang="en-US" altLang="zh-CN" sz="1200" b="0" dirty="0">
                <a:solidFill>
                  <a:srgbClr val="CE9178"/>
                </a:solidFill>
                <a:latin typeface="Consolas" panose="020B0609020204030204"/>
                <a:ea typeface="Consolas" panose="020B0609020204030204"/>
              </a:rPr>
              <a:t>, </a:t>
            </a:r>
            <a:r>
              <a:rPr lang="en-US" altLang="zh-CN" sz="1200" b="0" dirty="0" err="1">
                <a:solidFill>
                  <a:srgbClr val="CE9178"/>
                </a:solidFill>
                <a:latin typeface="Consolas" panose="020B0609020204030204"/>
                <a:ea typeface="Consolas" panose="020B0609020204030204"/>
              </a:rPr>
              <a:t>cisaVulnerabilityName</a:t>
            </a:r>
            <a:endParaRPr lang="en-US" altLang="zh-CN" sz="1200" b="0" dirty="0">
              <a:solidFill>
                <a:srgbClr val="CE9178"/>
              </a:solidFill>
              <a:latin typeface="Consolas" panose="020B0609020204030204"/>
              <a:ea typeface="Consolas" panose="020B0609020204030204"/>
            </a:endParaRPr>
          </a:p>
          <a:p>
            <a:pPr>
              <a:lnSpc>
                <a:spcPts val="1425"/>
              </a:lnSpc>
            </a:pPr>
            <a:r>
              <a:rPr lang="en-US" altLang="zh-CN" sz="1200" b="0" dirty="0">
                <a:solidFill>
                  <a:srgbClr val="CE9178"/>
                </a:solidFill>
                <a:latin typeface="Consolas" panose="020B0609020204030204"/>
                <a:ea typeface="Consolas" panose="020B0609020204030204"/>
              </a:rPr>
              <a:t>        ) VALUES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 </a:t>
            </a:r>
            <a:r>
              <a:rPr lang="en-US" altLang="zh-CN" sz="1200" b="0" dirty="0">
                <a:solidFill>
                  <a:srgbClr val="569CD6"/>
                </a:solidFill>
                <a:latin typeface="Consolas" panose="020B0609020204030204"/>
                <a:ea typeface="Consolas" panose="020B0609020204030204"/>
              </a:rPr>
              <a:t>%s</a:t>
            </a:r>
            <a:r>
              <a:rPr lang="en-US" altLang="zh-CN" sz="1200" b="0" dirty="0">
                <a:solidFill>
                  <a:srgbClr val="CE9178"/>
                </a:solidFill>
                <a:latin typeface="Consolas" panose="020B0609020204030204"/>
                <a:ea typeface="Consolas" panose="020B0609020204030204"/>
              </a:rPr>
              <a:t>)</a:t>
            </a:r>
            <a:endParaRPr lang="en-US" altLang="zh-CN" sz="1200" b="0" dirty="0">
              <a:solidFill>
                <a:srgbClr val="CE9178"/>
              </a:solidFill>
              <a:latin typeface="Consolas" panose="020B0609020204030204"/>
              <a:ea typeface="Consolas" panose="020B0609020204030204"/>
            </a:endParaRPr>
          </a:p>
          <a:p>
            <a:pPr>
              <a:lnSpc>
                <a:spcPts val="1425"/>
              </a:lnSpc>
            </a:pPr>
            <a:r>
              <a:rPr lang="en-US" altLang="zh-CN" sz="1200" b="0" dirty="0">
                <a:solidFill>
                  <a:srgbClr val="CE9178"/>
                </a:solidFill>
                <a:latin typeface="Consolas" panose="020B0609020204030204"/>
                <a:ea typeface="Consolas" panose="020B0609020204030204"/>
              </a:rPr>
              <a:t>    """</a:t>
            </a:r>
            <a:r>
              <a:rPr lang="en-US" altLang="zh-CN" sz="1200" b="0" dirty="0">
                <a:solidFill>
                  <a:srgbClr val="CCCCCC"/>
                </a:solidFill>
                <a:latin typeface="Consolas" panose="020B0609020204030204"/>
                <a:ea typeface="Consolas" panose="020B0609020204030204"/>
              </a:rPr>
              <a:t>, (</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cve_id</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sourceIdentifier</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'published'</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lastModified</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vulnStatus</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evaluatorComment</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evaluatorImpact</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evaluatorSolution</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cisaActionDue</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cisaExploitAdd</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cisaRequiredAction</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r>
              <a:rPr lang="en-US" altLang="zh-CN" sz="1200" b="0" dirty="0" err="1">
                <a:solidFill>
                  <a:srgbClr val="9CDCFE"/>
                </a:solidFill>
                <a:latin typeface="Consolas" panose="020B0609020204030204"/>
                <a:ea typeface="Consolas" panose="020B0609020204030204"/>
              </a:rPr>
              <a:t>cve</a:t>
            </a:r>
            <a:r>
              <a:rPr lang="en-US" altLang="zh-CN" sz="1200" b="0" dirty="0" err="1">
                <a:solidFill>
                  <a:srgbClr val="CCCCCC"/>
                </a:solidFill>
                <a:latin typeface="Consolas" panose="020B0609020204030204"/>
                <a:ea typeface="Consolas" panose="020B0609020204030204"/>
              </a:rPr>
              <a:t>.get</a:t>
            </a:r>
            <a:r>
              <a:rPr lang="en-US" altLang="zh-CN" sz="1200" b="0" dirty="0">
                <a:solidFill>
                  <a:srgbClr val="CCCCCC"/>
                </a:solidFill>
                <a:latin typeface="Consolas" panose="020B0609020204030204"/>
                <a:ea typeface="Consolas" panose="020B0609020204030204"/>
              </a:rPr>
              <a:t>(</a:t>
            </a:r>
            <a:r>
              <a:rPr lang="en-US" altLang="zh-CN" sz="1200" b="0" dirty="0">
                <a:solidFill>
                  <a:srgbClr val="CE9178"/>
                </a:solidFill>
                <a:latin typeface="Consolas" panose="020B0609020204030204"/>
                <a:ea typeface="Consolas" panose="020B0609020204030204"/>
              </a:rPr>
              <a:t>'</a:t>
            </a:r>
            <a:r>
              <a:rPr lang="en-US" altLang="zh-CN" sz="1200" b="0" dirty="0" err="1">
                <a:solidFill>
                  <a:srgbClr val="CE9178"/>
                </a:solidFill>
                <a:latin typeface="Consolas" panose="020B0609020204030204"/>
                <a:ea typeface="Consolas" panose="020B0609020204030204"/>
              </a:rPr>
              <a:t>cisaVulnerabilityName</a:t>
            </a:r>
            <a:r>
              <a:rPr lang="en-US" altLang="zh-CN" sz="1200" b="0" dirty="0">
                <a:solidFill>
                  <a:srgbClr val="CE9178"/>
                </a:solidFill>
                <a:latin typeface="Consolas" panose="020B0609020204030204"/>
                <a:ea typeface="Consolas" panose="020B0609020204030204"/>
              </a:rPr>
              <a:t>'</a:t>
            </a:r>
            <a:r>
              <a:rPr lang="en-US" altLang="zh-CN" sz="1200" b="0" dirty="0">
                <a:solidFill>
                  <a:srgbClr val="CCCCCC"/>
                </a:solidFill>
                <a:latin typeface="Consolas" panose="020B0609020204030204"/>
                <a:ea typeface="Consolas" panose="020B0609020204030204"/>
              </a:rPr>
              <a:t>)</a:t>
            </a:r>
            <a:endParaRPr lang="en-US" altLang="zh-CN" sz="1200" b="0" dirty="0">
              <a:solidFill>
                <a:srgbClr val="CCCCCC"/>
              </a:solidFill>
              <a:latin typeface="Consolas" panose="020B0609020204030204"/>
              <a:ea typeface="Consolas" panose="020B0609020204030204"/>
            </a:endParaRPr>
          </a:p>
          <a:p>
            <a:pPr>
              <a:lnSpc>
                <a:spcPts val="1425"/>
              </a:lnSpc>
            </a:pPr>
            <a:r>
              <a:rPr lang="en-US" altLang="zh-CN" sz="1200" b="0" dirty="0">
                <a:solidFill>
                  <a:srgbClr val="CCCCCC"/>
                </a:solidFill>
                <a:latin typeface="Consolas" panose="020B0609020204030204"/>
                <a:ea typeface="Consolas" panose="020B0609020204030204"/>
              </a:rPr>
              <a:t>    ))</a:t>
            </a:r>
            <a:endParaRPr lang="en-US" altLang="zh-CN" sz="1200" b="0" dirty="0">
              <a:solidFill>
                <a:srgbClr val="CCCCCC"/>
              </a:solidFill>
              <a:latin typeface="Consolas" panose="020B0609020204030204"/>
              <a:ea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数据处理模块</a:t>
            </a:r>
            <a:endParaRPr lang="zh-CN" altLang="en-US" dirty="0"/>
          </a:p>
        </p:txBody>
      </p:sp>
      <p:sp>
        <p:nvSpPr>
          <p:cNvPr id="4" name="文本框 3"/>
          <p:cNvSpPr txBox="1"/>
          <p:nvPr/>
        </p:nvSpPr>
        <p:spPr>
          <a:xfrm>
            <a:off x="669925" y="1253808"/>
            <a:ext cx="5080000" cy="1481455"/>
          </a:xfrm>
          <a:prstGeom prst="rect">
            <a:avLst/>
          </a:prstGeom>
        </p:spPr>
        <p:txBody>
          <a:bodyPr>
            <a:spAutoFit/>
          </a:bodyPr>
          <a:lstStyle/>
          <a:p>
            <a:pPr>
              <a:spcAft>
                <a:spcPct val="60000"/>
              </a:spcAft>
            </a:pPr>
            <a:r>
              <a:rPr lang="zh-CN" altLang="en-US" sz="1600" b="1" dirty="0"/>
              <a:t>批量写入与事务控制</a:t>
            </a:r>
            <a:endParaRPr lang="zh-CN" altLang="en-US" sz="1600" b="1" dirty="0"/>
          </a:p>
          <a:p>
            <a:r>
              <a:rPr lang="zh-CN" altLang="en-US" sz="1600" dirty="0"/>
              <a:t>为提升插入效率并减少数据库压力，程序采用 批处理提交机制 ，每处理完一定数量（默认 </a:t>
            </a:r>
            <a:r>
              <a:rPr lang="en-US" altLang="zh-CN" sz="1600" dirty="0"/>
              <a:t>100 </a:t>
            </a:r>
            <a:r>
              <a:rPr lang="zh-CN" altLang="en-US" sz="1600" dirty="0"/>
              <a:t>条）记录后执行一次 </a:t>
            </a:r>
            <a:r>
              <a:rPr lang="en-US" altLang="zh-CN" sz="1600" dirty="0"/>
              <a:t>commit() </a:t>
            </a:r>
            <a:r>
              <a:rPr lang="zh-CN" altLang="en-US" sz="1600" dirty="0"/>
              <a:t>操作，避免单次事务过大导致性能下降或失败。</a:t>
            </a:r>
            <a:endParaRPr lang="zh-CN" altLang="en-US" sz="1600" dirty="0"/>
          </a:p>
        </p:txBody>
      </p:sp>
      <p:sp>
        <p:nvSpPr>
          <p:cNvPr id="5" name="文本框 4"/>
          <p:cNvSpPr txBox="1"/>
          <p:nvPr/>
        </p:nvSpPr>
        <p:spPr>
          <a:xfrm>
            <a:off x="669925" y="3656013"/>
            <a:ext cx="5080000" cy="1235075"/>
          </a:xfrm>
          <a:prstGeom prst="rect">
            <a:avLst/>
          </a:prstGeom>
        </p:spPr>
        <p:txBody>
          <a:bodyPr>
            <a:spAutoFit/>
          </a:bodyPr>
          <a:lstStyle/>
          <a:p>
            <a:pPr>
              <a:spcAft>
                <a:spcPct val="60000"/>
              </a:spcAft>
            </a:pPr>
            <a:r>
              <a:rPr lang="en-US" altLang="zh-CN" sz="1600" b="1" dirty="0"/>
              <a:t> </a:t>
            </a:r>
            <a:r>
              <a:rPr lang="zh-CN" altLang="en-US" sz="1600" b="1" dirty="0"/>
              <a:t>错误日志与异常处理</a:t>
            </a:r>
            <a:endParaRPr lang="zh-CN" altLang="en-US" sz="1600" b="1" dirty="0"/>
          </a:p>
          <a:p>
            <a:r>
              <a:rPr lang="zh-CN" altLang="en-US" sz="1600" dirty="0"/>
              <a:t>程序通过 </a:t>
            </a:r>
            <a:r>
              <a:rPr lang="en-US" altLang="zh-CN" sz="1600" dirty="0"/>
              <a:t>try-except </a:t>
            </a:r>
            <a:r>
              <a:rPr lang="zh-CN" altLang="en-US" sz="1600" dirty="0"/>
              <a:t>块捕获文件解析、字段缺失、数据库插入等环节可能出现的异常，并打印错误信息以便排查问题，同时不影响其余数据的正常处理。</a:t>
            </a:r>
            <a:endParaRPr lang="zh-CN" altLang="en-US" sz="1600" dirty="0"/>
          </a:p>
        </p:txBody>
      </p:sp>
      <p:pic>
        <p:nvPicPr>
          <p:cNvPr id="8" name="图片 7"/>
          <p:cNvPicPr>
            <a:picLocks noChangeAspect="1"/>
          </p:cNvPicPr>
          <p:nvPr/>
        </p:nvPicPr>
        <p:blipFill>
          <a:blip r:embed="rId1"/>
          <a:stretch>
            <a:fillRect/>
          </a:stretch>
        </p:blipFill>
        <p:spPr>
          <a:xfrm>
            <a:off x="6581775" y="2557780"/>
            <a:ext cx="4171950" cy="2200275"/>
          </a:xfrm>
          <a:prstGeom prst="rect">
            <a:avLst/>
          </a:prstGeom>
        </p:spPr>
      </p:pic>
      <p:pic>
        <p:nvPicPr>
          <p:cNvPr id="9" name="图片 8"/>
          <p:cNvPicPr>
            <a:picLocks noChangeAspect="1"/>
          </p:cNvPicPr>
          <p:nvPr/>
        </p:nvPicPr>
        <p:blipFill>
          <a:blip r:embed="rId2"/>
          <a:stretch>
            <a:fillRect/>
          </a:stretch>
        </p:blipFill>
        <p:spPr>
          <a:xfrm>
            <a:off x="6581775" y="1464310"/>
            <a:ext cx="1400175" cy="2000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简单的</a:t>
            </a:r>
            <a:r>
              <a:rPr lang="en-US" altLang="zh-CN" sz="2800">
                <a:solidFill>
                  <a:srgbClr val="000000"/>
                </a:solidFill>
                <a:sym typeface="+mn-ea"/>
              </a:rPr>
              <a:t>CVE</a:t>
            </a:r>
            <a:r>
              <a:rPr lang="zh-CN" altLang="en-US" sz="2800">
                <a:solidFill>
                  <a:srgbClr val="000000"/>
                </a:solidFill>
                <a:sym typeface="+mn-ea"/>
              </a:rPr>
              <a:t>编号查询</a:t>
            </a:r>
            <a:endParaRPr lang="zh-CN" altLang="en-US" dirty="0"/>
          </a:p>
        </p:txBody>
      </p:sp>
      <p:pic>
        <p:nvPicPr>
          <p:cNvPr id="3" name="图片 2"/>
          <p:cNvPicPr>
            <a:picLocks noChangeAspect="1"/>
          </p:cNvPicPr>
          <p:nvPr/>
        </p:nvPicPr>
        <p:blipFill>
          <a:blip r:embed="rId1"/>
          <a:stretch>
            <a:fillRect/>
          </a:stretch>
        </p:blipFill>
        <p:spPr>
          <a:xfrm>
            <a:off x="5675630" y="1195070"/>
            <a:ext cx="6165215" cy="4629785"/>
          </a:xfrm>
          <a:prstGeom prst="rect">
            <a:avLst/>
          </a:prstGeom>
        </p:spPr>
      </p:pic>
      <p:sp>
        <p:nvSpPr>
          <p:cNvPr id="6" name="文本框 5"/>
          <p:cNvSpPr txBox="1"/>
          <p:nvPr/>
        </p:nvSpPr>
        <p:spPr>
          <a:xfrm>
            <a:off x="534035" y="1194753"/>
            <a:ext cx="5080000" cy="4554220"/>
          </a:xfrm>
          <a:prstGeom prst="rect">
            <a:avLst/>
          </a:prstGeom>
        </p:spPr>
        <p:txBody>
          <a:bodyPr>
            <a:spAutoFit/>
          </a:bodyPr>
          <a:lstStyle/>
          <a:p>
            <a:r>
              <a:rPr lang="en-US" altLang="zh-CN" sz="1000"/>
              <a:t>func GetSimpleCveByID(db *gorm.DB) gin.HandlerFunc {
    return func(c *gin.Context) {
        id := c.Param("id")
        // 1. </a:t>
            </a:r>
            <a:r>
              <a:rPr lang="zh-CN" altLang="en-US" sz="1000"/>
              <a:t>查询主表信息
        </a:t>
            </a:r>
            <a:r>
              <a:rPr lang="en-US" altLang="zh-CN" sz="1000"/>
              <a:t>var entry SimpleCVEEntry
        </a:t>
            </a:r>
            <a:r>
              <a:rPr lang="en-US" altLang="zh-CN" sz="1000">
                <a:solidFill>
                  <a:srgbClr val="FF0000"/>
                </a:solidFill>
              </a:rPr>
              <a:t>db.Raw(`SELECT id, sourceIdentifier, published, lastModified, vulnStatus 
                FROM cveentry WHERE id = ?`, id).Scan(&amp;entry)</a:t>
            </a:r>
            <a:r>
              <a:rPr lang="en-US" altLang="zh-CN" sz="1000"/>
              <a:t>
        if entry.ID == "" {
            // </a:t>
            </a:r>
            <a:r>
              <a:rPr lang="zh-CN" altLang="en-US" sz="1000"/>
              <a:t>处理未找到的情况
            </a:t>
            </a:r>
            <a:r>
              <a:rPr lang="en-US" altLang="zh-CN" sz="1000"/>
              <a:t>c.HTML(http.StatusNotFound, "cve_detail.html", gin.H{"error": "CVE </a:t>
            </a:r>
            <a:r>
              <a:rPr lang="zh-CN" altLang="en-US" sz="1000"/>
              <a:t>不存在</a:t>
            </a:r>
            <a:r>
              <a:rPr lang="en-US" altLang="zh-CN" sz="1000"/>
              <a:t>"})
            return
        }
        // 2. </a:t>
            </a:r>
            <a:r>
              <a:rPr lang="zh-CN" altLang="en-US" sz="1000"/>
              <a:t>查询各个子表
        </a:t>
            </a:r>
            <a:r>
              <a:rPr lang="en-US" altLang="zh-CN" sz="1000"/>
              <a:t>var descriptions []SimpleDescription
        db.Raw(`SELECT value FROM description WHERE cve_id = ? AND lang = 'en'`, id).Scan(&amp;descriptions)
        entry.Descriptions = descriptions
        // </a:t>
            </a:r>
            <a:r>
              <a:rPr lang="zh-CN" altLang="en-US" sz="1000"/>
              <a:t>类似地查询 </a:t>
            </a:r>
            <a:r>
              <a:rPr lang="en-US" altLang="zh-CN" sz="1000"/>
              <a:t>metrics, references, vendor_comments </a:t>
            </a:r>
            <a:r>
              <a:rPr lang="zh-CN" altLang="en-US" sz="1000"/>
              <a:t>等
        </a:t>
            </a:r>
            <a:r>
              <a:rPr lang="en-US" altLang="zh-CN" sz="1000"/>
              <a:t>// 3. </a:t>
            </a:r>
            <a:r>
              <a:rPr lang="zh-CN" altLang="en-US" sz="1000"/>
              <a:t>渲染模板
        </a:t>
            </a:r>
            <a:r>
              <a:rPr lang="en-US" altLang="zh-CN" sz="1000"/>
              <a:t>c.HTML(http.StatusOK, "cve_detail.html", gin.H{
            "cve": entry,
        })
    }
}</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简单的</a:t>
            </a:r>
            <a:r>
              <a:rPr lang="en-US" altLang="zh-CN" sz="2800">
                <a:solidFill>
                  <a:srgbClr val="000000"/>
                </a:solidFill>
                <a:sym typeface="+mn-ea"/>
              </a:rPr>
              <a:t>CVE</a:t>
            </a:r>
            <a:r>
              <a:rPr lang="zh-CN" altLang="en-US" sz="2800">
                <a:solidFill>
                  <a:srgbClr val="000000"/>
                </a:solidFill>
                <a:sym typeface="+mn-ea"/>
              </a:rPr>
              <a:t>编号查询</a:t>
            </a:r>
            <a:endParaRPr lang="zh-CN" altLang="en-US" dirty="0"/>
          </a:p>
        </p:txBody>
      </p:sp>
      <p:sp>
        <p:nvSpPr>
          <p:cNvPr id="3" name="文本框 2"/>
          <p:cNvSpPr txBox="1"/>
          <p:nvPr/>
        </p:nvSpPr>
        <p:spPr>
          <a:xfrm>
            <a:off x="738505" y="1234440"/>
            <a:ext cx="5826760" cy="4554220"/>
          </a:xfrm>
          <a:prstGeom prst="rect">
            <a:avLst/>
          </a:prstGeom>
        </p:spPr>
        <p:txBody>
          <a:bodyPr wrap="square">
            <a:spAutoFit/>
          </a:bodyPr>
          <a:lstStyle/>
          <a:p>
            <a:r>
              <a:rPr lang="en-US" altLang="zh-CN" sz="1000"/>
              <a:t>{
  "id": "CVE-2021-44228",
  "source_identifier": "security@apache.org",
  "published": "2021-12-09T20:15:00Z",
  "last_modified": "2022-01-13T17:00:00Z",
  "vuln_status": "Analyzed",
  "configurations": [
    {"criteria": "cpe:2.3:a:apache:log4j:1.2.17:*:*:*:*:*:*:*"}
  ],
  "descriptions": [
    {"value": "Apache Log4j2 2.0-beta9 </a:t>
            </a:r>
            <a:r>
              <a:rPr lang="zh-CN" altLang="en-US" sz="1000"/>
              <a:t>到 </a:t>
            </a:r>
            <a:r>
              <a:rPr lang="en-US" altLang="zh-CN" sz="1000"/>
              <a:t>2.17.1 </a:t>
            </a:r>
            <a:r>
              <a:rPr lang="zh-CN" altLang="en-US" sz="1000"/>
              <a:t>版本存在远程代码执行漏洞</a:t>
            </a:r>
            <a:r>
              <a:rPr lang="en-US" altLang="zh-CN" sz="1000"/>
              <a:t>..."}
  ],
  "metrics": [
    {
      "version": "3.1",
      "vector_string": "/AV:N/AC:L/PR:N/UI:N/S:C/C:H/I:H/A:H",
      "base_score": 10.0,
      "base_severity": "CRITICAL",
      "type": "CVSSv3"
    }
  ],
  "references": [
    {"url": "https://logging.apache.org/log4j/2.x/security.html",  "tag": "Patch", "source": "Apache"}
  ],
  "vendor_comments": [],
  "weaknesses": [
    {"source": "MITRE", "type": "Primary", "lang": "en", "value": "CWE-434 </a:t>
            </a:r>
            <a:r>
              <a:rPr lang="zh-CN" altLang="en-US" sz="1000"/>
              <a:t>可信危险类型文件上传</a:t>
            </a:r>
            <a:r>
              <a:rPr lang="en-US" altLang="zh-CN" sz="1000"/>
              <a:t>"}
  ]
}</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根据厂商和版本查找</a:t>
            </a:r>
            <a:endParaRPr lang="zh-CN" altLang="en-US" dirty="0"/>
          </a:p>
        </p:txBody>
      </p:sp>
      <p:pic>
        <p:nvPicPr>
          <p:cNvPr id="3" name="图片 2"/>
          <p:cNvPicPr>
            <a:picLocks noChangeAspect="1"/>
          </p:cNvPicPr>
          <p:nvPr/>
        </p:nvPicPr>
        <p:blipFill>
          <a:blip r:embed="rId1"/>
          <a:stretch>
            <a:fillRect/>
          </a:stretch>
        </p:blipFill>
        <p:spPr>
          <a:xfrm>
            <a:off x="5277485" y="1908175"/>
            <a:ext cx="6678295" cy="3234055"/>
          </a:xfrm>
          <a:prstGeom prst="rect">
            <a:avLst/>
          </a:prstGeom>
        </p:spPr>
      </p:pic>
      <p:sp>
        <p:nvSpPr>
          <p:cNvPr id="4" name="文本框 3"/>
          <p:cNvSpPr txBox="1"/>
          <p:nvPr/>
        </p:nvSpPr>
        <p:spPr>
          <a:xfrm>
            <a:off x="197485" y="1855152"/>
            <a:ext cx="5080000" cy="583565"/>
          </a:xfrm>
          <a:prstGeom prst="rect">
            <a:avLst/>
          </a:prstGeom>
        </p:spPr>
        <p:txBody>
          <a:bodyPr>
            <a:spAutoFit/>
          </a:bodyPr>
          <a:lstStyle/>
          <a:p>
            <a:r>
              <a:rPr lang="en-US" altLang="zh-CN" sz="1600"/>
              <a:t>const baseURL = "/api/vendors";
fetch(`${baseURL}?letter=${letter}&amp;page=${page}`)</a:t>
            </a:r>
            <a:endParaRPr lang="en-US" altLang="zh-CN" sz="1600"/>
          </a:p>
        </p:txBody>
      </p:sp>
      <p:pic>
        <p:nvPicPr>
          <p:cNvPr id="7" name="图片 6"/>
          <p:cNvPicPr>
            <a:picLocks noChangeAspect="1"/>
          </p:cNvPicPr>
          <p:nvPr/>
        </p:nvPicPr>
        <p:blipFill>
          <a:blip r:embed="rId2"/>
          <a:stretch>
            <a:fillRect/>
          </a:stretch>
        </p:blipFill>
        <p:spPr>
          <a:xfrm>
            <a:off x="197485" y="2805430"/>
            <a:ext cx="4640580" cy="1477645"/>
          </a:xfrm>
          <a:prstGeom prst="rect">
            <a:avLst/>
          </a:prstGeom>
        </p:spPr>
      </p:pic>
      <p:pic>
        <p:nvPicPr>
          <p:cNvPr id="8" name="图片 7"/>
          <p:cNvPicPr>
            <a:picLocks noChangeAspect="1"/>
          </p:cNvPicPr>
          <p:nvPr/>
        </p:nvPicPr>
        <p:blipFill>
          <a:blip r:embed="rId3"/>
          <a:stretch>
            <a:fillRect/>
          </a:stretch>
        </p:blipFill>
        <p:spPr>
          <a:xfrm>
            <a:off x="197485" y="4650105"/>
            <a:ext cx="4681220" cy="1088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根据厂商和版本</a:t>
            </a:r>
            <a:endParaRPr lang="zh-CN" altLang="en-US" dirty="0"/>
          </a:p>
        </p:txBody>
      </p:sp>
      <p:pic>
        <p:nvPicPr>
          <p:cNvPr id="3" name="图片 2"/>
          <p:cNvPicPr>
            <a:picLocks noChangeAspect="1"/>
          </p:cNvPicPr>
          <p:nvPr/>
        </p:nvPicPr>
        <p:blipFill>
          <a:blip r:embed="rId1"/>
          <a:stretch>
            <a:fillRect/>
          </a:stretch>
        </p:blipFill>
        <p:spPr>
          <a:xfrm>
            <a:off x="4707255" y="1290320"/>
            <a:ext cx="7291705" cy="4074160"/>
          </a:xfrm>
          <a:prstGeom prst="rect">
            <a:avLst/>
          </a:prstGeom>
        </p:spPr>
      </p:pic>
      <p:sp>
        <p:nvSpPr>
          <p:cNvPr id="4" name="文本框 3"/>
          <p:cNvSpPr txBox="1"/>
          <p:nvPr/>
        </p:nvSpPr>
        <p:spPr>
          <a:xfrm>
            <a:off x="483870" y="1174750"/>
            <a:ext cx="4536440" cy="4861560"/>
          </a:xfrm>
          <a:prstGeom prst="rect">
            <a:avLst/>
          </a:prstGeom>
        </p:spPr>
        <p:txBody>
          <a:bodyPr wrap="square">
            <a:spAutoFit/>
          </a:bodyPr>
          <a:lstStyle/>
          <a:p>
            <a:r>
              <a:rPr lang="en-US" altLang="zh-CN" sz="1000"/>
              <a:t>func VendorSuggest(db *gorm.DB) gin.HandlerFunc {
    return func(c *gin.Context) {
        keyword := strings.ToLower(strings.TrimSpace(c.Query("keyword")))
        if keyword == "" {
            c.JSON(400, gin.H{"error": "keyword is required"})
            return
        }
        var vendors []string
        </a:t>
            </a:r>
            <a:r>
              <a:rPr lang="en-US" altLang="zh-CN" sz="1000">
                <a:solidFill>
                  <a:srgbClr val="FF0000"/>
                </a:solidFill>
              </a:rPr>
              <a:t>err := db.Raw(`
            SELECT DISTINCT vendor 
            FROM cpe_entries 
            WHERE LOWER(TRIM(vendor)) LIKE ? 
            ORDER BY vendor 
            LIMIT 10
        `, keyword+"%").Scan(&amp;vendors).Error
</a:t>
            </a:r>
            <a:r>
              <a:rPr lang="en-US" altLang="zh-CN" sz="1000"/>
              <a:t>
        if err != nil {
            c.JSON(500, gin.H{"error": "query error"})
            return
        }
        c.JSON(200, gin.H{"suggestions": vendors})
    }
}
type ProductWithPart struct {
    Product string `json:"product"`
    Part    string `json:"part"`
}</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高级查询功能实现</a:t>
            </a:r>
            <a:endParaRPr lang="zh-CN" altLang="en-US" dirty="0"/>
          </a:p>
        </p:txBody>
      </p:sp>
      <p:sp>
        <p:nvSpPr>
          <p:cNvPr id="3" name="文本框 2"/>
          <p:cNvSpPr txBox="1"/>
          <p:nvPr/>
        </p:nvSpPr>
        <p:spPr>
          <a:xfrm>
            <a:off x="440690" y="1180465"/>
            <a:ext cx="7141210" cy="4184650"/>
          </a:xfrm>
          <a:prstGeom prst="rect">
            <a:avLst/>
          </a:prstGeom>
        </p:spPr>
        <p:txBody>
          <a:bodyPr wrap="square">
            <a:spAutoFit/>
          </a:bodyPr>
          <a:lstStyle/>
          <a:p>
            <a:r>
              <a:rPr lang="en-US" altLang="zh-CN" sz="1400"/>
              <a:t>func buildMultiWildcardSQL(col, raw string, args *[]interface{}) string {
    parts := strings.Split(raw, ",")
    var conds []string
    for _, p := range parts {
        p = strings.TrimSpace(p)
        if p == "" {
            continue
        }
        lowerP := strings.ToLower(p)
        if strings.ContainsRune(p, '*') {
            conds = append(conds, fmt.Sprintf("LOWER(%s) LIKE ?", col))
            *args = append(*args, strings.ReplaceAll(lowerP, "*", "%"))
        } else {
            conds = append(conds, fmt.Sprintf("LOWER(%s) = ?", col))
            *args = append(*args, lowerP)
        }
    }
    return "(" + strings.Join(conds, " OR ") + ")"
}</a:t>
            </a:r>
            <a:endParaRPr lang="en-US" altLang="zh-CN" sz="1400"/>
          </a:p>
        </p:txBody>
      </p:sp>
      <p:sp>
        <p:nvSpPr>
          <p:cNvPr id="4" name="文本框 3"/>
          <p:cNvSpPr txBox="1"/>
          <p:nvPr/>
        </p:nvSpPr>
        <p:spPr>
          <a:xfrm>
            <a:off x="6096000" y="1180465"/>
            <a:ext cx="5538470" cy="1798955"/>
          </a:xfrm>
          <a:prstGeom prst="rect">
            <a:avLst/>
          </a:prstGeom>
        </p:spPr>
        <p:txBody>
          <a:bodyPr wrap="square">
            <a:noAutofit/>
          </a:bodyPr>
          <a:lstStyle/>
          <a:p>
            <a:r>
              <a:rPr lang="en-US" altLang="zh-CN" sz="1600"/>
              <a:t>https://tidb-webapp.local/search_detail.html?vendor=apache&amp;product=&amp;cwe_id=&amp;cvss_min=8.0&amp;cvss_max=9.0&amp;publish_date_start=&amp;publish_date_end=&amp;update_date_start=&amp;update_date_end=&amp;attack_vector=N&amp;attack_complexity=&amp;authentication=S&amp;confidentiality_impact=&amp;integrity_impact=&amp;availability_impact=</a:t>
            </a:r>
            <a:endParaRPr lang="en-US" altLang="zh-CN" sz="1600"/>
          </a:p>
        </p:txBody>
      </p:sp>
      <p:sp>
        <p:nvSpPr>
          <p:cNvPr id="5" name="文本框 4"/>
          <p:cNvSpPr txBox="1"/>
          <p:nvPr/>
        </p:nvSpPr>
        <p:spPr>
          <a:xfrm>
            <a:off x="6096000" y="3131502"/>
            <a:ext cx="5080000" cy="2799715"/>
          </a:xfrm>
          <a:prstGeom prst="rect">
            <a:avLst/>
          </a:prstGeom>
        </p:spPr>
        <p:txBody>
          <a:bodyPr>
            <a:spAutoFit/>
          </a:bodyPr>
          <a:lstStyle/>
          <a:p>
            <a:r>
              <a:rPr lang="en-US" altLang="zh-CN" sz="1600"/>
              <a:t>0        "CVE-2022-33140"
1        "CVE-2022-24289"
2        "CVE-2022-24288"
3        "CVE-2021-44832"
4        "CVE-2021-44521"
5        "CVE-2021-43999"
6        "CVE-2021-43083"
7        "CVE-2021-41971"
8        "CVE-2021-39236"
9        "CVE-2021-39232"
10        "CVE-2021-33036"</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数据处理模块</a:t>
            </a:r>
            <a:endParaRPr lang="zh-CN" altLang="en-US" dirty="0"/>
          </a:p>
        </p:txBody>
      </p:sp>
      <p:pic>
        <p:nvPicPr>
          <p:cNvPr id="3" name="图片 2"/>
          <p:cNvPicPr>
            <a:picLocks noChangeAspect="1"/>
          </p:cNvPicPr>
          <p:nvPr/>
        </p:nvPicPr>
        <p:blipFill>
          <a:blip r:embed="rId1"/>
          <a:stretch>
            <a:fillRect/>
          </a:stretch>
        </p:blipFill>
        <p:spPr>
          <a:xfrm>
            <a:off x="177800" y="1162685"/>
            <a:ext cx="6131560" cy="3799205"/>
          </a:xfrm>
          <a:prstGeom prst="rect">
            <a:avLst/>
          </a:prstGeom>
        </p:spPr>
      </p:pic>
      <p:pic>
        <p:nvPicPr>
          <p:cNvPr id="4" name="图片 3"/>
          <p:cNvPicPr>
            <a:picLocks noChangeAspect="1"/>
          </p:cNvPicPr>
          <p:nvPr/>
        </p:nvPicPr>
        <p:blipFill>
          <a:blip r:embed="rId2"/>
          <a:stretch>
            <a:fillRect/>
          </a:stretch>
        </p:blipFill>
        <p:spPr>
          <a:xfrm>
            <a:off x="6337935" y="1162685"/>
            <a:ext cx="5208905" cy="3799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统计图表与可视化实现</a:t>
            </a:r>
            <a:endParaRPr lang="zh-CN" altLang="en-US" dirty="0"/>
          </a:p>
        </p:txBody>
      </p:sp>
      <p:graphicFrame>
        <p:nvGraphicFramePr>
          <p:cNvPr id="3" name="表格 2"/>
          <p:cNvGraphicFramePr/>
          <p:nvPr>
            <p:custDataLst>
              <p:tags r:id="rId1"/>
            </p:custDataLst>
          </p:nvPr>
        </p:nvGraphicFramePr>
        <p:xfrm>
          <a:off x="631825" y="1160145"/>
          <a:ext cx="10927080" cy="4815205"/>
        </p:xfrm>
        <a:graphic>
          <a:graphicData uri="http://schemas.openxmlformats.org/drawingml/2006/table">
            <a:tbl>
              <a:tblPr/>
              <a:tblGrid>
                <a:gridCol w="623570"/>
                <a:gridCol w="1958975"/>
                <a:gridCol w="1551940"/>
                <a:gridCol w="2023110"/>
                <a:gridCol w="1419860"/>
                <a:gridCol w="1405890"/>
                <a:gridCol w="1943735"/>
              </a:tblGrid>
              <a:tr h="227330">
                <a:tc>
                  <a:txBody>
                    <a:bodyPr/>
                    <a:lstStyle/>
                    <a:p>
                      <a:pPr algn="ctr" fontAlgn="b" latinLnBrk="0"/>
                      <a:r>
                        <a:rPr lang="en-US" altLang="zh-CN" sz="800" b="0" i="0">
                          <a:solidFill>
                            <a:srgbClr val="1D1D20"/>
                          </a:solidFill>
                        </a:rPr>
                        <a:t>1</a:t>
                      </a:r>
                      <a:endParaRPr lang="en-US" altLang="zh-CN" sz="800" b="0" i="0">
                        <a:solidFill>
                          <a:srgbClr val="1D1D20"/>
                        </a:solidFill>
                      </a:endParaRPr>
                    </a:p>
                  </a:txBody>
                  <a:tcPr marL="0" marR="0" marT="0" marB="0" anchor="b">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E1E3EA"/>
                      </a:solidFill>
                      <a:prstDash val="solid"/>
                      <a:headEnd type="none" w="med" len="med"/>
                      <a:tailEnd type="none" w="med" len="med"/>
                    </a:lnB>
                    <a:solidFill>
                      <a:srgbClr val="ECE2FE"/>
                    </a:solidFill>
                  </a:tcPr>
                </a:tc>
                <a:tc>
                  <a:txBody>
                    <a:bodyPr/>
                    <a:lstStyle/>
                    <a:p>
                      <a:pPr algn="ctr" fontAlgn="b" latinLnBrk="0"/>
                      <a:r>
                        <a:rPr lang="zh-CN" altLang="en-US" sz="800" b="0" i="0">
                          <a:solidFill>
                            <a:srgbClr val="1D1D20"/>
                          </a:solidFill>
                        </a:rPr>
                        <a:t>图表名称</a:t>
                      </a:r>
                      <a:endParaRPr lang="zh-CN" altLang="en-US" sz="800" b="0" i="0">
                        <a:solidFill>
                          <a:srgbClr val="1D1D20"/>
                        </a:solidFill>
                      </a:endParaRPr>
                    </a:p>
                  </a:txBody>
                  <a:tcPr marL="0" marR="0" marT="0" marB="0" anchor="b">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E1E3EA"/>
                      </a:solidFill>
                      <a:prstDash val="solid"/>
                      <a:headEnd type="none" w="med" len="med"/>
                      <a:tailEnd type="none" w="med" len="med"/>
                    </a:lnB>
                    <a:solidFill>
                      <a:srgbClr val="ECE2FE"/>
                    </a:solidFill>
                  </a:tcPr>
                </a:tc>
                <a:tc>
                  <a:txBody>
                    <a:bodyPr/>
                    <a:lstStyle/>
                    <a:p>
                      <a:pPr algn="ctr" fontAlgn="b" latinLnBrk="0"/>
                      <a:r>
                        <a:rPr lang="zh-CN" altLang="en-US" sz="800" b="0" i="0">
                          <a:solidFill>
                            <a:srgbClr val="1D1D20"/>
                          </a:solidFill>
                        </a:rPr>
                        <a:t>图表</a:t>
                      </a:r>
                      <a:r>
                        <a:rPr lang="en-US" altLang="zh-CN" sz="800" b="0" i="0">
                          <a:solidFill>
                            <a:srgbClr val="1D1D20"/>
                          </a:solidFill>
                        </a:rPr>
                        <a:t>/</a:t>
                      </a:r>
                      <a:r>
                        <a:rPr lang="zh-CN" altLang="en-US" sz="800" b="0" i="0">
                          <a:solidFill>
                            <a:srgbClr val="1D1D20"/>
                          </a:solidFill>
                        </a:rPr>
                        <a:t>可视化数据实现的功能</a:t>
                      </a:r>
                      <a:endParaRPr lang="zh-CN" altLang="en-US" sz="800" b="0" i="0">
                        <a:solidFill>
                          <a:srgbClr val="1D1D20"/>
                        </a:solidFill>
                      </a:endParaRPr>
                    </a:p>
                  </a:txBody>
                  <a:tcPr marL="0" marR="0" marT="0" marB="0" anchor="b">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E1E3EA"/>
                      </a:solidFill>
                      <a:prstDash val="solid"/>
                      <a:headEnd type="none" w="med" len="med"/>
                      <a:tailEnd type="none" w="med" len="med"/>
                    </a:lnB>
                    <a:solidFill>
                      <a:srgbClr val="ECE2FE"/>
                    </a:solidFill>
                  </a:tcPr>
                </a:tc>
                <a:tc>
                  <a:txBody>
                    <a:bodyPr/>
                    <a:lstStyle/>
                    <a:p>
                      <a:pPr algn="ctr" fontAlgn="b" latinLnBrk="0"/>
                      <a:r>
                        <a:rPr lang="en-US" altLang="zh-CN" sz="800" b="0" i="0">
                          <a:solidFill>
                            <a:srgbClr val="1D1D20"/>
                          </a:solidFill>
                        </a:rPr>
                        <a:t>api</a:t>
                      </a:r>
                      <a:r>
                        <a:rPr lang="zh-CN" altLang="en-US" sz="800" b="0" i="0">
                          <a:solidFill>
                            <a:srgbClr val="1D1D20"/>
                          </a:solidFill>
                        </a:rPr>
                        <a:t>接口</a:t>
                      </a:r>
                      <a:endParaRPr lang="zh-CN" altLang="en-US" sz="800" b="0" i="0">
                        <a:solidFill>
                          <a:srgbClr val="1D1D20"/>
                        </a:solidFill>
                      </a:endParaRPr>
                    </a:p>
                  </a:txBody>
                  <a:tcPr marL="0" marR="0" marT="0" marB="0" anchor="b">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E1E3EA"/>
                      </a:solidFill>
                      <a:prstDash val="solid"/>
                      <a:headEnd type="none" w="med" len="med"/>
                      <a:tailEnd type="none" w="med" len="med"/>
                    </a:lnB>
                    <a:solidFill>
                      <a:srgbClr val="ECE2FE"/>
                    </a:solidFill>
                  </a:tcPr>
                </a:tc>
                <a:tc>
                  <a:txBody>
                    <a:bodyPr/>
                    <a:lstStyle/>
                    <a:p>
                      <a:pPr algn="ctr" fontAlgn="b" latinLnBrk="0"/>
                      <a:r>
                        <a:rPr lang="zh-CN" altLang="en-US" sz="800" b="0" i="0">
                          <a:solidFill>
                            <a:srgbClr val="1D1D20"/>
                          </a:solidFill>
                        </a:rPr>
                        <a:t>调用的函数</a:t>
                      </a:r>
                      <a:endParaRPr lang="zh-CN" altLang="en-US" sz="800" b="0" i="0">
                        <a:solidFill>
                          <a:srgbClr val="1D1D20"/>
                        </a:solidFill>
                      </a:endParaRPr>
                    </a:p>
                  </a:txBody>
                  <a:tcPr marL="0" marR="0" marT="0" marB="0" anchor="b">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E1E3EA"/>
                      </a:solidFill>
                      <a:prstDash val="solid"/>
                      <a:headEnd type="none" w="med" len="med"/>
                      <a:tailEnd type="none" w="med" len="med"/>
                    </a:lnB>
                    <a:solidFill>
                      <a:srgbClr val="ECE2FE"/>
                    </a:solidFill>
                  </a:tcPr>
                </a:tc>
                <a:tc>
                  <a:txBody>
                    <a:bodyPr/>
                    <a:lstStyle/>
                    <a:p>
                      <a:pPr algn="ctr" fontAlgn="b" latinLnBrk="0"/>
                      <a:r>
                        <a:rPr lang="zh-CN" altLang="en-US" sz="800" b="0" i="0">
                          <a:solidFill>
                            <a:srgbClr val="1D1D20"/>
                          </a:solidFill>
                        </a:rPr>
                        <a:t>显示的页面</a:t>
                      </a:r>
                      <a:endParaRPr lang="zh-CN" altLang="en-US" sz="800" b="0" i="0">
                        <a:solidFill>
                          <a:srgbClr val="1D1D20"/>
                        </a:solidFill>
                      </a:endParaRPr>
                    </a:p>
                  </a:txBody>
                  <a:tcPr marL="0" marR="0" marT="0" marB="0" anchor="b">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E1E3EA"/>
                      </a:solidFill>
                      <a:prstDash val="solid"/>
                      <a:headEnd type="none" w="med" len="med"/>
                      <a:tailEnd type="none" w="med" len="med"/>
                    </a:lnB>
                    <a:solidFill>
                      <a:srgbClr val="ECE2FE"/>
                    </a:solidFill>
                  </a:tcPr>
                </a:tc>
                <a:tc>
                  <a:txBody>
                    <a:bodyPr/>
                    <a:lstStyle/>
                    <a:p>
                      <a:pPr algn="ctr" fontAlgn="b" latinLnBrk="0"/>
                      <a:r>
                        <a:rPr lang="zh-CN" altLang="en-US" sz="800" b="0" i="0">
                          <a:solidFill>
                            <a:srgbClr val="1D1D20"/>
                          </a:solidFill>
                        </a:rPr>
                        <a:t>描述</a:t>
                      </a:r>
                      <a:endParaRPr lang="zh-CN" altLang="en-US" sz="800" b="0" i="0">
                        <a:solidFill>
                          <a:srgbClr val="1D1D20"/>
                        </a:solidFill>
                      </a:endParaRPr>
                    </a:p>
                  </a:txBody>
                  <a:tcPr marL="0" marR="0" marT="0" marB="0" anchor="b">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E1E3EA"/>
                      </a:solidFill>
                      <a:prstDash val="solid"/>
                      <a:headEnd type="none" w="med" len="med"/>
                      <a:tailEnd type="none" w="med" len="med"/>
                    </a:lnB>
                    <a:solidFill>
                      <a:srgbClr val="ECE2FE"/>
                    </a:solidFill>
                  </a:tcPr>
                </a:tc>
              </a:tr>
              <a:tr h="316230">
                <a:tc>
                  <a:txBody>
                    <a:bodyPr/>
                    <a:lstStyle/>
                    <a:p>
                      <a:pPr algn="ctr" fontAlgn="ctr" latinLnBrk="0"/>
                      <a:r>
                        <a:rPr lang="en-US" altLang="zh-CN" sz="800" b="0" i="0"/>
                        <a:t>2</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E1E3EA"/>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t>Total</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E1E3EA"/>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t>获取 </a:t>
                      </a:r>
                      <a:r>
                        <a:rPr lang="en-US" altLang="zh-CN" sz="800" b="0" i="0"/>
                        <a:t>CVE </a:t>
                      </a:r>
                      <a:r>
                        <a:rPr lang="zh-CN" altLang="en-US" sz="800" b="0" i="0"/>
                        <a:t>总数</a:t>
                      </a:r>
                      <a:endParaRPr lang="zh-CN" altLang="en-US"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E1E3EA"/>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t>/api/stats</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E1E3EA"/>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t>getStats</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E1E3EA"/>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t>/index.html</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E1E3EA"/>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000000"/>
                          </a:solidFill>
                        </a:rPr>
                        <a:t>获取 </a:t>
                      </a:r>
                      <a:r>
                        <a:rPr lang="en-US" altLang="zh-CN" sz="800" b="0" i="0">
                          <a:solidFill>
                            <a:srgbClr val="000000"/>
                          </a:solidFill>
                        </a:rPr>
                        <a:t>CVE </a:t>
                      </a:r>
                      <a:r>
                        <a:rPr lang="zh-CN" altLang="en-US" sz="800" b="0" i="0">
                          <a:solidFill>
                            <a:srgbClr val="000000"/>
                          </a:solidFill>
                        </a:rPr>
                        <a:t>总数</a:t>
                      </a:r>
                      <a:endParaRPr lang="zh-CN" altLang="en-US"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E1E3EA"/>
                      </a:solidFill>
                      <a:prstDash val="solid"/>
                      <a:headEnd type="none" w="med" len="med"/>
                      <a:tailEnd type="none" w="med" len="med"/>
                    </a:lnT>
                    <a:lnB w="6350" cap="flat" cmpd="sng">
                      <a:solidFill>
                        <a:srgbClr val="DEE0E3"/>
                      </a:solidFill>
                      <a:prstDash val="solid"/>
                      <a:headEnd type="none" w="med" len="med"/>
                      <a:tailEnd type="none" w="med" len="med"/>
                    </a:lnB>
                    <a:noFill/>
                  </a:tcPr>
                </a:tc>
              </a:tr>
              <a:tr h="379095">
                <a:tc>
                  <a:txBody>
                    <a:bodyPr/>
                    <a:lstStyle/>
                    <a:p>
                      <a:pPr algn="ctr" fontAlgn="ctr" latinLnBrk="0"/>
                      <a:r>
                        <a:rPr lang="en-US" altLang="zh-CN" sz="800" b="0" i="0"/>
                        <a:t>3</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t>High risk script</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t>获取 </a:t>
                      </a:r>
                      <a:r>
                        <a:rPr lang="en-US" altLang="zh-CN" sz="800" b="0" i="0"/>
                        <a:t>CVE </a:t>
                      </a:r>
                      <a:r>
                        <a:rPr lang="zh-CN" altLang="en-US" sz="800" b="0" i="0"/>
                        <a:t>中严重（</a:t>
                      </a:r>
                      <a:r>
                        <a:rPr lang="en-US" altLang="zh-CN" sz="800" b="0" i="0"/>
                        <a:t>CVSS </a:t>
                      </a:r>
                      <a:r>
                        <a:rPr lang="zh-CN" altLang="en-US" sz="800" b="0" i="0"/>
                        <a:t>分数 </a:t>
                      </a:r>
                      <a:r>
                        <a:rPr lang="en-US" altLang="zh-CN" sz="800" b="0" i="0"/>
                        <a:t>&gt;= 9</a:t>
                      </a:r>
                      <a:r>
                        <a:rPr lang="zh-CN" altLang="en-US" sz="800" b="0" i="0"/>
                        <a:t>）数量</a:t>
                      </a:r>
                      <a:endParaRPr lang="zh-CN" altLang="en-US"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/api/stats</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getStats</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000000"/>
                          </a:solidFill>
                        </a:rPr>
                        <a:t>获取 </a:t>
                      </a:r>
                      <a:r>
                        <a:rPr lang="en-US" altLang="zh-CN" sz="800" b="0" i="0">
                          <a:solidFill>
                            <a:srgbClr val="000000"/>
                          </a:solidFill>
                        </a:rPr>
                        <a:t>CVE </a:t>
                      </a:r>
                      <a:r>
                        <a:rPr lang="zh-CN" altLang="en-US" sz="800" b="0" i="0">
                          <a:solidFill>
                            <a:srgbClr val="000000"/>
                          </a:solidFill>
                        </a:rPr>
                        <a:t>中严重（</a:t>
                      </a:r>
                      <a:r>
                        <a:rPr lang="en-US" altLang="zh-CN" sz="800" b="0" i="0">
                          <a:solidFill>
                            <a:srgbClr val="000000"/>
                          </a:solidFill>
                        </a:rPr>
                        <a:t>CVSS </a:t>
                      </a:r>
                      <a:r>
                        <a:rPr lang="zh-CN" altLang="en-US" sz="800" b="0" i="0">
                          <a:solidFill>
                            <a:srgbClr val="000000"/>
                          </a:solidFill>
                        </a:rPr>
                        <a:t>分数 </a:t>
                      </a:r>
                      <a:r>
                        <a:rPr lang="en-US" altLang="zh-CN" sz="800" b="0" i="0">
                          <a:solidFill>
                            <a:srgbClr val="000000"/>
                          </a:solidFill>
                        </a:rPr>
                        <a:t>&gt;= 9</a:t>
                      </a:r>
                      <a:r>
                        <a:rPr lang="zh-CN" altLang="en-US" sz="800" b="0" i="0">
                          <a:solidFill>
                            <a:srgbClr val="000000"/>
                          </a:solidFill>
                        </a:rPr>
                        <a:t>）数量</a:t>
                      </a:r>
                      <a:endParaRPr lang="zh-CN" altLang="en-US"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340995">
                <a:tc>
                  <a:txBody>
                    <a:bodyPr/>
                    <a:lstStyle/>
                    <a:p>
                      <a:pPr algn="ctr" fontAlgn="ctr" latinLnBrk="0"/>
                      <a:r>
                        <a:rPr lang="en-US" altLang="zh-CN" sz="800" b="0" i="0"/>
                        <a:t>4</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t>Known to exploit</a:t>
                      </a:r>
                      <a:endParaRPr lang="en-US" altLang="zh-CN"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t>获取有 </a:t>
                      </a:r>
                      <a:r>
                        <a:rPr lang="en-US" altLang="zh-CN" sz="800" b="0" i="0"/>
                        <a:t>CISA </a:t>
                      </a:r>
                      <a:r>
                        <a:rPr lang="zh-CN" altLang="en-US" sz="800" b="0" i="0"/>
                        <a:t>行动到期的 </a:t>
                      </a:r>
                      <a:r>
                        <a:rPr lang="en-US" altLang="zh-CN" sz="800" b="0" i="0"/>
                        <a:t>CVE </a:t>
                      </a:r>
                      <a:r>
                        <a:rPr lang="zh-CN" altLang="en-US" sz="800" b="0" i="0"/>
                        <a:t>数量</a:t>
                      </a:r>
                      <a:endParaRPr lang="zh-CN" altLang="en-US" sz="800" b="0" i="0"/>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/api/stats</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getStats</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000000"/>
                          </a:solidFill>
                        </a:rPr>
                        <a:t>获取有 </a:t>
                      </a:r>
                      <a:r>
                        <a:rPr lang="en-US" altLang="zh-CN" sz="800" b="0" i="0">
                          <a:solidFill>
                            <a:srgbClr val="000000"/>
                          </a:solidFill>
                        </a:rPr>
                        <a:t>CISA </a:t>
                      </a:r>
                      <a:r>
                        <a:rPr lang="zh-CN" altLang="en-US" sz="800" b="0" i="0">
                          <a:solidFill>
                            <a:srgbClr val="000000"/>
                          </a:solidFill>
                        </a:rPr>
                        <a:t>行动到期的 </a:t>
                      </a:r>
                      <a:r>
                        <a:rPr lang="en-US" altLang="zh-CN" sz="800" b="0" i="0">
                          <a:solidFill>
                            <a:srgbClr val="000000"/>
                          </a:solidFill>
                        </a:rPr>
                        <a:t>CVE </a:t>
                      </a:r>
                      <a:r>
                        <a:rPr lang="zh-CN" altLang="en-US" sz="800" b="0" i="0">
                          <a:solidFill>
                            <a:srgbClr val="000000"/>
                          </a:solidFill>
                        </a:rPr>
                        <a:t>数量</a:t>
                      </a:r>
                      <a:endParaRPr lang="zh-CN" altLang="en-US"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370840">
                <a:tc>
                  <a:txBody>
                    <a:bodyPr/>
                    <a:lstStyle/>
                    <a:p>
                      <a:pPr algn="ctr" fontAlgn="ctr" latinLnBrk="0"/>
                      <a:r>
                        <a:rPr lang="en-US" altLang="zh-CN" sz="800" b="0" i="0">
                          <a:solidFill>
                            <a:srgbClr val="1D1D20"/>
                          </a:solidFill>
                        </a:rPr>
                        <a:t>5</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Bug fixed</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获取有 </a:t>
                      </a:r>
                      <a:r>
                        <a:rPr lang="en-US" altLang="zh-CN" sz="800" b="0" i="0">
                          <a:solidFill>
                            <a:srgbClr val="1D1D20"/>
                          </a:solidFill>
                        </a:rPr>
                        <a:t>CISA </a:t>
                      </a:r>
                      <a:r>
                        <a:rPr lang="zh-CN" altLang="en-US" sz="800" b="0" i="0">
                          <a:solidFill>
                            <a:srgbClr val="1D1D20"/>
                          </a:solidFill>
                        </a:rPr>
                        <a:t>行动到期的 </a:t>
                      </a:r>
                      <a:r>
                        <a:rPr lang="en-US" altLang="zh-CN" sz="800" b="0" i="0">
                          <a:solidFill>
                            <a:srgbClr val="1D1D20"/>
                          </a:solidFill>
                        </a:rPr>
                        <a:t>CVE </a:t>
                      </a:r>
                      <a:r>
                        <a:rPr lang="zh-CN" altLang="en-US" sz="800" b="0" i="0">
                          <a:solidFill>
                            <a:srgbClr val="1D1D20"/>
                          </a:solidFill>
                        </a:rPr>
                        <a:t>数量</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000000"/>
                          </a:solidFill>
                        </a:rPr>
                        <a:t>/api/stats</a:t>
                      </a:r>
                      <a:endParaRPr lang="en-US" altLang="zh-CN" sz="800" b="0" i="0">
                        <a:solidFill>
                          <a:srgbClr val="000000"/>
                        </a:solidFill>
                      </a:endParaRPr>
                    </a:p>
                  </a:txBody>
                  <a:tcPr marL="0" marR="0" marT="0" marB="0" anchor="ctr">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getStats</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000000"/>
                          </a:solidFill>
                        </a:rPr>
                        <a:t>获取有 </a:t>
                      </a:r>
                      <a:r>
                        <a:rPr lang="en-US" altLang="zh-CN" sz="800" b="0" i="0">
                          <a:solidFill>
                            <a:srgbClr val="000000"/>
                          </a:solidFill>
                        </a:rPr>
                        <a:t>CISA </a:t>
                      </a:r>
                      <a:r>
                        <a:rPr lang="zh-CN" altLang="en-US" sz="800" b="0" i="0">
                          <a:solidFill>
                            <a:srgbClr val="000000"/>
                          </a:solidFill>
                        </a:rPr>
                        <a:t>行动到期的 </a:t>
                      </a:r>
                      <a:r>
                        <a:rPr lang="en-US" altLang="zh-CN" sz="800" b="0" i="0">
                          <a:solidFill>
                            <a:srgbClr val="000000"/>
                          </a:solidFill>
                        </a:rPr>
                        <a:t>CVE </a:t>
                      </a:r>
                      <a:r>
                        <a:rPr lang="zh-CN" altLang="en-US" sz="800" b="0" i="0">
                          <a:solidFill>
                            <a:srgbClr val="000000"/>
                          </a:solidFill>
                        </a:rPr>
                        <a:t>数量</a:t>
                      </a:r>
                      <a:endParaRPr lang="zh-CN" altLang="en-US" sz="8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33705">
                <a:tc>
                  <a:txBody>
                    <a:bodyPr/>
                    <a:lstStyle/>
                    <a:p>
                      <a:pPr algn="ctr" fontAlgn="ctr" latinLnBrk="0"/>
                      <a:r>
                        <a:rPr lang="en-US" altLang="zh-CN" sz="800" b="0" i="0">
                          <a:solidFill>
                            <a:srgbClr val="1D1D20"/>
                          </a:solidFill>
                        </a:rPr>
                        <a:t>6</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 distributed by CVSS score</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Base Score </a:t>
                      </a:r>
                      <a:r>
                        <a:rPr lang="zh-CN" altLang="en-US" sz="800" b="0" i="0">
                          <a:solidFill>
                            <a:srgbClr val="1D1D20"/>
                          </a:solidFill>
                        </a:rPr>
                        <a:t>分布</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/api/base-score-distribution</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getBaseScoreDistribution</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1D1D20"/>
                          </a:solidFill>
                        </a:rPr>
                        <a:t>衡量漏洞整体严重性，反映其潜在危害程度</a:t>
                      </a:r>
                      <a:endParaRPr lang="zh-CN" altLang="en-US"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r>
              <a:tr h="386715">
                <a:tc>
                  <a:txBody>
                    <a:bodyPr/>
                    <a:lstStyle/>
                    <a:p>
                      <a:pPr algn="ctr" fontAlgn="ctr" latinLnBrk="0"/>
                      <a:r>
                        <a:rPr lang="en-US" altLang="zh-CN" sz="800" b="0" i="0">
                          <a:solidFill>
                            <a:srgbClr val="1D1D20"/>
                          </a:solidFill>
                        </a:rPr>
                        <a:t>7</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 distributed by CVSS score</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Impact Score </a:t>
                      </a:r>
                      <a:r>
                        <a:rPr lang="zh-CN" altLang="en-US" sz="800" b="0" i="0">
                          <a:solidFill>
                            <a:srgbClr val="1D1D20"/>
                          </a:solidFill>
                        </a:rPr>
                        <a:t>分布</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/api/impact-score-distribution</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getimpactScoreDistribution</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1D1D20"/>
                          </a:solidFill>
                        </a:rPr>
                        <a:t>反映漏洞对机密性、完整性、可用性的破坏程度</a:t>
                      </a:r>
                      <a:endParaRPr lang="zh-CN" altLang="en-US"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r>
              <a:tr h="340995">
                <a:tc>
                  <a:txBody>
                    <a:bodyPr/>
                    <a:lstStyle/>
                    <a:p>
                      <a:pPr algn="ctr" fontAlgn="ctr" latinLnBrk="0"/>
                      <a:r>
                        <a:rPr lang="en-US" altLang="zh-CN" sz="800" b="0" i="0">
                          <a:solidFill>
                            <a:srgbClr val="1D1D20"/>
                          </a:solidFill>
                        </a:rPr>
                        <a:t>8</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 distributed by CVSS score</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Exploitability Score </a:t>
                      </a:r>
                      <a:r>
                        <a:rPr lang="zh-CN" altLang="en-US" sz="800" b="0" i="0">
                          <a:solidFill>
                            <a:srgbClr val="1D1D20"/>
                          </a:solidFill>
                        </a:rPr>
                        <a:t>分布</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/api/exploitability-score-distribution</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getexploitabilityScoreDistribution</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1D1D20"/>
                          </a:solidFill>
                        </a:rPr>
                        <a:t>衡量攻击者成功利用该漏洞的难易程度</a:t>
                      </a:r>
                      <a:endParaRPr lang="zh-CN" altLang="en-US"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r>
              <a:tr h="340360">
                <a:tc>
                  <a:txBody>
                    <a:bodyPr/>
                    <a:lstStyle/>
                    <a:p>
                      <a:pPr algn="ctr" fontAlgn="ctr" latinLnBrk="0"/>
                      <a:r>
                        <a:rPr lang="en-US" altLang="zh-CN" sz="800" b="0" i="0">
                          <a:solidFill>
                            <a:srgbClr val="1D1D20"/>
                          </a:solidFill>
                        </a:rPr>
                        <a:t>9</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 by type and year</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查看漏洞类型与年份之间关系</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/api/type-year-stats</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getTypeYearStats</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1D1D20"/>
                          </a:solidFill>
                        </a:rPr>
                        <a:t>展现不同年份中各类漏洞数量变化趋势</a:t>
                      </a:r>
                      <a:endParaRPr lang="zh-CN" altLang="en-US"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283845">
                <a:tc>
                  <a:txBody>
                    <a:bodyPr/>
                    <a:lstStyle/>
                    <a:p>
                      <a:pPr algn="ctr" fontAlgn="ctr" latinLnBrk="0"/>
                      <a:r>
                        <a:rPr lang="en-US" altLang="zh-CN" sz="800" b="0" i="0">
                          <a:solidFill>
                            <a:srgbClr val="1D1D20"/>
                          </a:solidFill>
                        </a:rPr>
                        <a:t>10</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 by type and number</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查看不同漏洞之间的比例</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/api/vulnerabilites-by-type</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getvulnerabilitiesbytype</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000000"/>
                          </a:solidFill>
                        </a:rPr>
                        <a:t>/index.html</a:t>
                      </a:r>
                      <a:endParaRPr lang="en-US" altLang="zh-CN" sz="800" b="0" i="0">
                        <a:solidFill>
                          <a:srgbClr val="000000"/>
                        </a:solidFill>
                      </a:endParaRPr>
                    </a:p>
                  </a:txBody>
                  <a:tcPr marL="0" marR="0" marT="0" marB="0" anchor="ctr">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800" b="0" i="0">
                          <a:solidFill>
                            <a:srgbClr val="1D1D20"/>
                          </a:solidFill>
                        </a:rPr>
                        <a:t>体现不同漏洞类型的占比情况</a:t>
                      </a:r>
                      <a:endParaRPr lang="zh-CN" altLang="en-US"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342265">
                <a:tc>
                  <a:txBody>
                    <a:bodyPr/>
                    <a:lstStyle/>
                    <a:p>
                      <a:pPr algn="ctr" fontAlgn="ctr" latinLnBrk="0"/>
                      <a:r>
                        <a:rPr lang="en-US" altLang="zh-CN" sz="800" b="0" i="0">
                          <a:solidFill>
                            <a:srgbClr val="1D1D20"/>
                          </a:solidFill>
                        </a:rPr>
                        <a:t>11</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 By Types/Categories (1999-2024)</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查看年份和漏洞类别的数量关系</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/vulnerabilities-type</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 vulnerabilityTypeHandler(db)</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/vulnerabilities.html</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揭示年份与漏洞类别之间的关联性</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r>
              <a:tr h="340360">
                <a:tc>
                  <a:txBody>
                    <a:bodyPr/>
                    <a:lstStyle/>
                    <a:p>
                      <a:pPr algn="ctr" fontAlgn="ctr" latinLnBrk="0"/>
                      <a:r>
                        <a:rPr lang="en-US" altLang="zh-CN" sz="800" b="0" i="0">
                          <a:solidFill>
                            <a:srgbClr val="1D1D20"/>
                          </a:solidFill>
                        </a:rPr>
                        <a:t>12</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 by Impact Types (1999-2024)</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查看年份和漏洞影响类型的数量关系</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vulnerabilitiesHandler(db)</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/vulnerabilities.html</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揭示年份与漏洞影响类型之间的关系</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r>
              <a:tr h="340995">
                <a:tc>
                  <a:txBody>
                    <a:bodyPr/>
                    <a:lstStyle/>
                    <a:p>
                      <a:pPr algn="ctr" fontAlgn="ctr" latinLnBrk="0"/>
                      <a:r>
                        <a:rPr lang="en-US" altLang="zh-CN" sz="800" b="0" i="0">
                          <a:solidFill>
                            <a:srgbClr val="1D1D20"/>
                          </a:solidFill>
                        </a:rPr>
                        <a:t>13</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CVSS Score Range - Bar Chart</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查看特定时间段 </a:t>
                      </a:r>
                      <a:r>
                        <a:rPr lang="en-US" altLang="zh-CN" sz="800" b="0" i="0">
                          <a:solidFill>
                            <a:srgbClr val="1D1D20"/>
                          </a:solidFill>
                        </a:rPr>
                        <a:t>CVSS</a:t>
                      </a:r>
                      <a:r>
                        <a:rPr lang="zh-CN" altLang="en-US" sz="800" b="0" i="0">
                          <a:solidFill>
                            <a:srgbClr val="1D1D20"/>
                          </a:solidFill>
                        </a:rPr>
                        <a:t>的分布情况</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/api/cvss_cves?range=${range}&amp;start=${start}&amp;end=${end}</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getCVEsBySeverityRange</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/cvss_score.html</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查看特定时间段 </a:t>
                      </a:r>
                      <a:r>
                        <a:rPr lang="en-US" altLang="zh-CN" sz="800" b="0" i="0">
                          <a:solidFill>
                            <a:srgbClr val="1D1D20"/>
                          </a:solidFill>
                        </a:rPr>
                        <a:t>CVSS</a:t>
                      </a:r>
                      <a:r>
                        <a:rPr lang="zh-CN" altLang="en-US" sz="800" b="0" i="0">
                          <a:solidFill>
                            <a:srgbClr val="1D1D20"/>
                          </a:solidFill>
                        </a:rPr>
                        <a:t>的分布情况</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r>
              <a:tr h="371475">
                <a:tc>
                  <a:txBody>
                    <a:bodyPr/>
                    <a:lstStyle/>
                    <a:p>
                      <a:pPr algn="ctr" fontAlgn="ctr" latinLnBrk="0"/>
                      <a:r>
                        <a:rPr lang="en-US" altLang="zh-CN" sz="800" b="0" i="0">
                          <a:solidFill>
                            <a:srgbClr val="1D1D20"/>
                          </a:solidFill>
                        </a:rPr>
                        <a:t>14</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CVSS Distribution Bubble Chart</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查看特定时间段 </a:t>
                      </a:r>
                      <a:r>
                        <a:rPr lang="en-US" altLang="zh-CN" sz="800" b="0" i="0">
                          <a:solidFill>
                            <a:srgbClr val="1D1D20"/>
                          </a:solidFill>
                        </a:rPr>
                        <a:t>CVSS</a:t>
                      </a:r>
                      <a:r>
                        <a:rPr lang="zh-CN" altLang="en-US" sz="800" b="0" i="0">
                          <a:solidFill>
                            <a:srgbClr val="1D1D20"/>
                          </a:solidFill>
                        </a:rPr>
                        <a:t>的分布情况</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/api/cvss_cves?range=${range}&amp;start=${start}&amp;end=${end}</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800" b="0" i="0">
                          <a:solidFill>
                            <a:srgbClr val="1D1D20"/>
                          </a:solidFill>
                        </a:rPr>
                        <a:t>getCVEsBySeverityRange</a:t>
                      </a:r>
                      <a:endParaRPr lang="en-US" altLang="zh-CN" sz="800" b="0" i="0">
                        <a:solidFill>
                          <a:srgbClr val="1D1D20"/>
                        </a:solidFill>
                      </a:endParaRPr>
                    </a:p>
                  </a:txBody>
                  <a:tcPr marL="0" marR="0" marT="0" marB="0" anchor="ctr">
                    <a:lnL w="6350" cap="flat" cmpd="sng">
                      <a:solidFill>
                        <a:srgbClr val="DEE0E3"/>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en-US" altLang="zh-CN" sz="800" b="0" i="0">
                          <a:solidFill>
                            <a:srgbClr val="1D1D20"/>
                          </a:solidFill>
                        </a:rPr>
                        <a:t>/cvss_score.html</a:t>
                      </a:r>
                      <a:endParaRPr lang="en-US" altLang="zh-CN"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c>
                  <a:txBody>
                    <a:bodyPr/>
                    <a:lstStyle/>
                    <a:p>
                      <a:pPr algn="ctr" fontAlgn="ctr" latinLnBrk="0"/>
                      <a:r>
                        <a:rPr lang="zh-CN" altLang="en-US" sz="800" b="0" i="0">
                          <a:solidFill>
                            <a:srgbClr val="1D1D20"/>
                          </a:solidFill>
                        </a:rPr>
                        <a:t>查看特定时间段 </a:t>
                      </a:r>
                      <a:r>
                        <a:rPr lang="en-US" altLang="zh-CN" sz="800" b="0" i="0">
                          <a:solidFill>
                            <a:srgbClr val="1D1D20"/>
                          </a:solidFill>
                        </a:rPr>
                        <a:t>CVSS</a:t>
                      </a:r>
                      <a:r>
                        <a:rPr lang="zh-CN" altLang="en-US" sz="800" b="0" i="0">
                          <a:solidFill>
                            <a:srgbClr val="1D1D20"/>
                          </a:solidFill>
                        </a:rPr>
                        <a:t>的分布情况</a:t>
                      </a:r>
                      <a:endParaRPr lang="zh-CN" altLang="en-US" sz="800" b="0" i="0">
                        <a:solidFill>
                          <a:srgbClr val="1D1D20"/>
                        </a:solidFill>
                      </a:endParaRPr>
                    </a:p>
                  </a:txBody>
                  <a:tcPr marL="0" marR="0" marT="0" marB="0" anchor="ctr">
                    <a:lnL w="6350" cap="flat" cmpd="sng">
                      <a:solidFill>
                        <a:srgbClr val="E1E3EA"/>
                      </a:solidFill>
                      <a:prstDash val="solid"/>
                      <a:headEnd type="none" w="med" len="med"/>
                      <a:tailEnd type="none" w="med" len="med"/>
                    </a:lnL>
                    <a:lnR w="6350" cap="flat" cmpd="sng">
                      <a:solidFill>
                        <a:srgbClr val="E1E3EA"/>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统计图表与可视化实现</a:t>
            </a:r>
            <a:endParaRPr lang="zh-CN" altLang="en-US" dirty="0"/>
          </a:p>
        </p:txBody>
      </p:sp>
      <p:pic>
        <p:nvPicPr>
          <p:cNvPr id="4" name="图片 3"/>
          <p:cNvPicPr>
            <a:picLocks noChangeAspect="1"/>
          </p:cNvPicPr>
          <p:nvPr/>
        </p:nvPicPr>
        <p:blipFill>
          <a:blip r:embed="rId1"/>
          <a:stretch>
            <a:fillRect/>
          </a:stretch>
        </p:blipFill>
        <p:spPr>
          <a:xfrm>
            <a:off x="669925" y="1148080"/>
            <a:ext cx="10325100" cy="1447800"/>
          </a:xfrm>
          <a:prstGeom prst="rect">
            <a:avLst/>
          </a:prstGeom>
        </p:spPr>
      </p:pic>
      <p:sp>
        <p:nvSpPr>
          <p:cNvPr id="5" name="文本框 4"/>
          <p:cNvSpPr txBox="1"/>
          <p:nvPr/>
        </p:nvSpPr>
        <p:spPr>
          <a:xfrm>
            <a:off x="6118225" y="2595880"/>
            <a:ext cx="5401945" cy="1938020"/>
          </a:xfrm>
          <a:prstGeom prst="rect">
            <a:avLst/>
          </a:prstGeom>
        </p:spPr>
        <p:txBody>
          <a:bodyPr wrap="square">
            <a:spAutoFit/>
          </a:bodyPr>
          <a:lstStyle/>
          <a:p>
            <a:r>
              <a:rPr lang="en-US" altLang="zh-CN" sz="1000"/>
              <a:t>&lt;script&gt;
    // </a:t>
            </a:r>
            <a:r>
              <a:rPr lang="zh-CN" altLang="en-US" sz="1000"/>
              <a:t>获取统计数据
    </a:t>
            </a:r>
            <a:r>
              <a:rPr lang="en-US" altLang="zh-CN" sz="1000"/>
              <a:t>fetch('/api/stats')
        .then(response =&gt; response.json())
        .then(data =&gt; {
            document.getElementById('total').innerText = data.total;
            document.getElementById('critical').innerText = data.critical;
            document.getElementById('exploitable').innerText = data.exploitable;
            document.getElementById('patched').innerText = data.patched;
        })
        .catch(error =&gt; console.error('Failed to load statistics', error));
&lt;/script&gt;</a:t>
            </a:r>
            <a:endParaRPr lang="en-US" altLang="zh-CN" sz="1000"/>
          </a:p>
        </p:txBody>
      </p:sp>
      <p:sp>
        <p:nvSpPr>
          <p:cNvPr id="6" name="文本框 5"/>
          <p:cNvSpPr txBox="1"/>
          <p:nvPr/>
        </p:nvSpPr>
        <p:spPr>
          <a:xfrm>
            <a:off x="669925" y="2595880"/>
            <a:ext cx="5725160" cy="3169285"/>
          </a:xfrm>
          <a:prstGeom prst="rect">
            <a:avLst/>
          </a:prstGeom>
        </p:spPr>
        <p:txBody>
          <a:bodyPr wrap="square">
            <a:spAutoFit/>
          </a:bodyPr>
          <a:lstStyle/>
          <a:p>
            <a:r>
              <a:rPr lang="en-US" altLang="zh-CN" sz="1000"/>
              <a:t>// API </a:t>
            </a:r>
            <a:r>
              <a:rPr lang="zh-CN" altLang="en-US" sz="1000"/>
              <a:t>处理函数
</a:t>
            </a:r>
            <a:r>
              <a:rPr lang="en-US" altLang="zh-CN" sz="1000"/>
              <a:t>func getStats(c *gin.Context) {
    var stats struct {
        Total      int64 `json:"total"`
        Critical   int64 `json:"critical"`
        Exploitable int64 `json:"exploitable"`
        Patched    int64 `json:"patched"`
    }
    </a:t>
            </a:r>
            <a:r>
              <a:rPr lang="en-US" altLang="zh-CN" sz="1000">
                <a:solidFill>
                  <a:srgbClr val="FF0000"/>
                </a:solidFill>
              </a:rPr>
              <a:t>// </a:t>
            </a:r>
            <a:r>
              <a:rPr lang="zh-CN" altLang="en-US" sz="1000">
                <a:solidFill>
                  <a:srgbClr val="FF0000"/>
                </a:solidFill>
              </a:rPr>
              <a:t>获取 </a:t>
            </a:r>
            <a:r>
              <a:rPr lang="en-US" altLang="zh-CN" sz="1000">
                <a:solidFill>
                  <a:srgbClr val="FF0000"/>
                </a:solidFill>
              </a:rPr>
              <a:t>CVE </a:t>
            </a:r>
            <a:r>
              <a:rPr lang="zh-CN" altLang="en-US" sz="1000">
                <a:solidFill>
                  <a:srgbClr val="FF0000"/>
                </a:solidFill>
              </a:rPr>
              <a:t>总数
    </a:t>
            </a:r>
            <a:r>
              <a:rPr lang="en-US" altLang="zh-CN" sz="1000">
                <a:solidFill>
                  <a:srgbClr val="FF0000"/>
                </a:solidFill>
              </a:rPr>
              <a:t>db.Table("CVEEntry").Count(&amp;stats.Total)
    // </a:t>
            </a:r>
            <a:r>
              <a:rPr lang="zh-CN" altLang="en-US" sz="1000">
                <a:solidFill>
                  <a:srgbClr val="FF0000"/>
                </a:solidFill>
              </a:rPr>
              <a:t>获取 </a:t>
            </a:r>
            <a:r>
              <a:rPr lang="en-US" altLang="zh-CN" sz="1000">
                <a:solidFill>
                  <a:srgbClr val="FF0000"/>
                </a:solidFill>
              </a:rPr>
              <a:t>CVE </a:t>
            </a:r>
            <a:r>
              <a:rPr lang="zh-CN" altLang="en-US" sz="1000">
                <a:solidFill>
                  <a:srgbClr val="FF0000"/>
                </a:solidFill>
              </a:rPr>
              <a:t>中严重（</a:t>
            </a:r>
            <a:r>
              <a:rPr lang="en-US" altLang="zh-CN" sz="1000">
                <a:solidFill>
                  <a:srgbClr val="FF0000"/>
                </a:solidFill>
              </a:rPr>
              <a:t>CVSS </a:t>
            </a:r>
            <a:r>
              <a:rPr lang="zh-CN" altLang="en-US" sz="1000">
                <a:solidFill>
                  <a:srgbClr val="FF0000"/>
                </a:solidFill>
              </a:rPr>
              <a:t>分数 </a:t>
            </a:r>
            <a:r>
              <a:rPr lang="en-US" altLang="zh-CN" sz="1000">
                <a:solidFill>
                  <a:srgbClr val="FF0000"/>
                </a:solidFill>
              </a:rPr>
              <a:t>&gt;= 9</a:t>
            </a:r>
            <a:r>
              <a:rPr lang="zh-CN" altLang="en-US" sz="1000">
                <a:solidFill>
                  <a:srgbClr val="FF0000"/>
                </a:solidFill>
              </a:rPr>
              <a:t>）数量
    </a:t>
            </a:r>
            <a:r>
              <a:rPr lang="en-US" altLang="zh-CN" sz="1000">
                <a:solidFill>
                  <a:srgbClr val="FF0000"/>
                </a:solidFill>
              </a:rPr>
              <a:t>db.Table("Metric").Where("baseScore &gt;= 9.0").Count(&amp;stats.Critical)
    // </a:t>
            </a:r>
            <a:r>
              <a:rPr lang="zh-CN" altLang="en-US" sz="1000">
                <a:solidFill>
                  <a:srgbClr val="FF0000"/>
                </a:solidFill>
              </a:rPr>
              <a:t>获取有 </a:t>
            </a:r>
            <a:r>
              <a:rPr lang="en-US" altLang="zh-CN" sz="1000">
                <a:solidFill>
                  <a:srgbClr val="FF0000"/>
                </a:solidFill>
              </a:rPr>
              <a:t>CISA </a:t>
            </a:r>
            <a:r>
              <a:rPr lang="zh-CN" altLang="en-US" sz="1000">
                <a:solidFill>
                  <a:srgbClr val="FF0000"/>
                </a:solidFill>
              </a:rPr>
              <a:t>行动到期的 </a:t>
            </a:r>
            <a:r>
              <a:rPr lang="en-US" altLang="zh-CN" sz="1000">
                <a:solidFill>
                  <a:srgbClr val="FF0000"/>
                </a:solidFill>
              </a:rPr>
              <a:t>CVE </a:t>
            </a:r>
            <a:r>
              <a:rPr lang="zh-CN" altLang="en-US" sz="1000">
                <a:solidFill>
                  <a:srgbClr val="FF0000"/>
                </a:solidFill>
              </a:rPr>
              <a:t>数量
    </a:t>
            </a:r>
            <a:r>
              <a:rPr lang="en-US" altLang="zh-CN" sz="1000">
                <a:solidFill>
                  <a:srgbClr val="FF0000"/>
                </a:solidFill>
              </a:rPr>
              <a:t>db.Table("CVEEntry").Where("cisaActionDue IS NOT NULL").Count(&amp;stats.Exploitable)
    // </a:t>
            </a:r>
            <a:r>
              <a:rPr lang="zh-CN" altLang="en-US" sz="1000">
                <a:solidFill>
                  <a:srgbClr val="FF0000"/>
                </a:solidFill>
              </a:rPr>
              <a:t>获取已修复的 </a:t>
            </a:r>
            <a:r>
              <a:rPr lang="en-US" altLang="zh-CN" sz="1000">
                <a:solidFill>
                  <a:srgbClr val="FF0000"/>
                </a:solidFill>
              </a:rPr>
              <a:t>CVE </a:t>
            </a:r>
            <a:r>
              <a:rPr lang="zh-CN" altLang="en-US" sz="1000">
                <a:solidFill>
                  <a:srgbClr val="FF0000"/>
                </a:solidFill>
              </a:rPr>
              <a:t>数量
    </a:t>
            </a:r>
            <a:r>
              <a:rPr lang="en-US" altLang="zh-CN" sz="1000">
                <a:solidFill>
                  <a:srgbClr val="FF0000"/>
                </a:solidFill>
              </a:rPr>
              <a:t>db.Table("CVEEntry").Where("evaluatorSolution IS NOT NULL").Count(&amp;stats.Patched)</a:t>
            </a:r>
            <a:r>
              <a:rPr lang="en-US" altLang="zh-CN" sz="1000"/>
              <a:t>
    c.JSON(http.StatusOK, stats)
}</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统计图表与可视化实现</a:t>
            </a:r>
            <a:endParaRPr lang="zh-CN" altLang="en-US" dirty="0"/>
          </a:p>
        </p:txBody>
      </p:sp>
      <p:pic>
        <p:nvPicPr>
          <p:cNvPr id="3" name="图片 2"/>
          <p:cNvPicPr>
            <a:picLocks noChangeAspect="1"/>
          </p:cNvPicPr>
          <p:nvPr/>
        </p:nvPicPr>
        <p:blipFill>
          <a:blip r:embed="rId1"/>
          <a:stretch>
            <a:fillRect/>
          </a:stretch>
        </p:blipFill>
        <p:spPr>
          <a:xfrm>
            <a:off x="559435" y="1079500"/>
            <a:ext cx="5153025" cy="3000375"/>
          </a:xfrm>
          <a:prstGeom prst="rect">
            <a:avLst/>
          </a:prstGeom>
        </p:spPr>
      </p:pic>
      <p:sp>
        <p:nvSpPr>
          <p:cNvPr id="4" name="文本框 3"/>
          <p:cNvSpPr txBox="1"/>
          <p:nvPr/>
        </p:nvSpPr>
        <p:spPr>
          <a:xfrm>
            <a:off x="6096000" y="1290002"/>
            <a:ext cx="5080000" cy="4554220"/>
          </a:xfrm>
          <a:prstGeom prst="rect">
            <a:avLst/>
          </a:prstGeom>
        </p:spPr>
        <p:txBody>
          <a:bodyPr>
            <a:spAutoFit/>
          </a:bodyPr>
          <a:lstStyle/>
          <a:p>
            <a:r>
              <a:rPr lang="en-US" altLang="zh-CN" sz="1000"/>
              <a:t>&lt;script&gt;
    document.addEventListener('DOMContentLoaded', async function () {
        const scoreChart = echarts.init(document.getElementById('score-chart'));
        // </a:t>
            </a:r>
            <a:r>
              <a:rPr lang="zh-CN" altLang="en-US" sz="1000"/>
              <a:t>并发请求三个 </a:t>
            </a:r>
            <a:r>
              <a:rPr lang="en-US" altLang="zh-CN" sz="1000"/>
              <a:t>API
        const [baseRes, impactRes, exploitRes] = await Promise.all([
            </a:t>
            </a:r>
            <a:r>
              <a:rPr lang="en-US" altLang="zh-CN" sz="1000">
                <a:solidFill>
                  <a:srgbClr val="FF0000"/>
                </a:solidFill>
              </a:rPr>
              <a:t>fetch('/api/base-score-distribution'),
            fetch('/api/impact-score-distribution'),
            fetch('/api/exploitability-score-distribution'),
</a:t>
            </a:r>
            <a:r>
              <a:rPr lang="en-US" altLang="zh-CN" sz="1000"/>
              <a:t>        ]);
        const [baseData, impactData, exploitData] = await Promise.all([
            baseRes.json(),
            impactRes.json(),
            exploitRes.json(),
        ]);
        // </a:t>
            </a:r>
            <a:r>
              <a:rPr lang="zh-CN" altLang="en-US" sz="1000"/>
              <a:t>提取 </a:t>
            </a:r>
            <a:r>
              <a:rPr lang="en-US" altLang="zh-CN" sz="1000"/>
              <a:t>Y </a:t>
            </a:r>
            <a:r>
              <a:rPr lang="zh-CN" altLang="en-US" sz="1000"/>
              <a:t>轴数据（按顺序）
        </a:t>
            </a:r>
            <a:r>
              <a:rPr lang="en-US" altLang="zh-CN" sz="1000"/>
              <a:t>const xLabels = ['0-1', '1-2', '2-3', '3-4', '4-5', '5-6', '6-7', '7-8', '8-9', '9+'];
        const getCounts = (data) =&gt; xLabels.map(label =&gt; {
            const item = data.find(d =&gt; d.score_range === label);
            return item ? item.score_count : 0;
        });
        const baseCounts = getCounts(baseData);
        const impactCounts = getCounts(impactData);
        const exploitCounts = getCounts(exploitData);
&lt;/script&gt;</a:t>
            </a:r>
            <a:endParaRPr lang="en-US" altLang="zh-CN" sz="1000"/>
          </a:p>
        </p:txBody>
      </p:sp>
      <p:sp>
        <p:nvSpPr>
          <p:cNvPr id="5" name="文本框 4"/>
          <p:cNvSpPr txBox="1"/>
          <p:nvPr/>
        </p:nvSpPr>
        <p:spPr>
          <a:xfrm>
            <a:off x="559435" y="4328477"/>
            <a:ext cx="5080000" cy="1753235"/>
          </a:xfrm>
          <a:prstGeom prst="rect">
            <a:avLst/>
          </a:prstGeom>
        </p:spPr>
        <p:txBody>
          <a:bodyPr>
            <a:spAutoFit/>
          </a:bodyPr>
          <a:lstStyle/>
          <a:p>
            <a:r>
              <a:rPr lang="en-US" altLang="zh-CN" sz="900"/>
              <a:t>// </a:t>
            </a:r>
            <a:r>
              <a:rPr lang="zh-CN" altLang="en-US" sz="900"/>
              <a:t>执行 </a:t>
            </a:r>
            <a:r>
              <a:rPr lang="en-US" altLang="zh-CN" sz="900"/>
              <a:t>SQL </a:t>
            </a:r>
            <a:r>
              <a:rPr lang="zh-CN" altLang="en-US" sz="900"/>
              <a:t>查询 </a:t>
            </a:r>
            <a:endParaRPr lang="zh-CN" altLang="en-US" sz="900"/>
          </a:p>
          <a:p>
            <a:r>
              <a:rPr lang="en-US" altLang="zh-CN" sz="900"/>
              <a:t>err := </a:t>
            </a:r>
            <a:r>
              <a:rPr lang="en-US" altLang="zh-CN" sz="900">
                <a:solidFill>
                  <a:srgbClr val="FF0000"/>
                </a:solidFill>
              </a:rPr>
              <a:t>db.Raw</a:t>
            </a:r>
            <a:r>
              <a:rPr lang="en-US" altLang="zh-CN" sz="900"/>
              <a:t>(` SELECT '0-1' AS score_range, COUNT(*) AS score_count FROM metric WHERE baseScore &gt;= 0 AND baseScore &lt; 1 UNION ALL SELECT '1-2', COUNT(*) FROM metric WHERE baseScore &gt;= 1 AND baseScore &lt; 2 UNION ALL SELECT '2-3', COUNT(*) FROM metric WHERE baseScore &gt;= 2 AND baseScore &lt; 3 UNION ALL SELECT '3-4', COUNT(*) FROM metric WHERE baseScore &gt;= 3 AND baseScore &lt; 4 UNION ALL SELECT '4-5', COUNT(*) FROM metric WHERE baseScore &gt;= 4 AND baseScore &lt; 5 UNION ALL SELECT '5-6', COUNT(*) FROM metric WHERE baseScore &gt;= 5 AND baseScore &lt; 6 UNION ALL SELECT '6-7', COUNT(*) FROM metric WHERE baseScore &gt;= 6 AND baseScore &lt; 7 UNION ALL SELECT '7-8', COUNT(*) FROM metric WHERE baseScore &gt;= 7 AND baseScore &lt; 8 UNION ALL SELECT '8-9', COUNT(*) FROM metric WHERE baseScore &gt;= 8 AND baseScore &lt; 9 UNION ALL SELECT '9+', COUNT(*) FROM metric WHERE baseScore &gt;= 9 `)</a:t>
            </a:r>
            <a:r>
              <a:rPr lang="en-US" altLang="zh-CN" sz="900">
                <a:solidFill>
                  <a:srgbClr val="FF0000"/>
                </a:solidFill>
              </a:rPr>
              <a:t>.Scan(&amp;results).Error</a:t>
            </a:r>
            <a:endParaRPr lang="en-US" altLang="zh-CN" sz="9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统计图表与可视化实现</a:t>
            </a:r>
            <a:endParaRPr lang="zh-CN" altLang="en-US" dirty="0"/>
          </a:p>
        </p:txBody>
      </p:sp>
      <p:pic>
        <p:nvPicPr>
          <p:cNvPr id="3" name="图片 2"/>
          <p:cNvPicPr>
            <a:picLocks noChangeAspect="1"/>
          </p:cNvPicPr>
          <p:nvPr/>
        </p:nvPicPr>
        <p:blipFill>
          <a:blip r:embed="rId1"/>
          <a:stretch>
            <a:fillRect/>
          </a:stretch>
        </p:blipFill>
        <p:spPr>
          <a:xfrm>
            <a:off x="669925" y="1096645"/>
            <a:ext cx="5067300" cy="2943225"/>
          </a:xfrm>
          <a:prstGeom prst="rect">
            <a:avLst/>
          </a:prstGeom>
        </p:spPr>
      </p:pic>
      <p:sp>
        <p:nvSpPr>
          <p:cNvPr id="6" name="文本框 5"/>
          <p:cNvSpPr txBox="1"/>
          <p:nvPr/>
        </p:nvSpPr>
        <p:spPr>
          <a:xfrm>
            <a:off x="669925" y="4107815"/>
            <a:ext cx="10273030" cy="2091690"/>
          </a:xfrm>
          <a:prstGeom prst="rect">
            <a:avLst/>
          </a:prstGeom>
        </p:spPr>
        <p:txBody>
          <a:bodyPr wrap="square">
            <a:spAutoFit/>
          </a:bodyPr>
          <a:lstStyle/>
          <a:p>
            <a:r>
              <a:rPr lang="en-US" altLang="zh-CN" sz="1000"/>
              <a:t>func getTypeYearStats(c *gin.Context) {
    var results []struct {
        Year      int    `json:"year"`
        VulnType  string `json:"vuln_type"`
        VulnCount int64  `json:"vuln_count"`
    }
    err := db.Raw(`SELECT year, vuln_type, vuln_count FROM vuln_stats_view ORDER BY year, vuln_type`).Scan(&amp;results).Error
    if err != nil {
        c.JSON(http.StatusInternalServerError, gin.H{"error": err.Error()})
        return
    }
    c.JSON(http.StatusOK, results)
}</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统计图表与可视化实现</a:t>
            </a:r>
            <a:endParaRPr lang="zh-CN" altLang="en-US" dirty="0"/>
          </a:p>
        </p:txBody>
      </p:sp>
      <p:pic>
        <p:nvPicPr>
          <p:cNvPr id="3" name="图片 2"/>
          <p:cNvPicPr>
            <a:picLocks noChangeAspect="1"/>
          </p:cNvPicPr>
          <p:nvPr/>
        </p:nvPicPr>
        <p:blipFill>
          <a:blip r:embed="rId1"/>
          <a:stretch>
            <a:fillRect/>
          </a:stretch>
        </p:blipFill>
        <p:spPr>
          <a:xfrm>
            <a:off x="457835" y="2338705"/>
            <a:ext cx="6510020" cy="1825625"/>
          </a:xfrm>
          <a:prstGeom prst="rect">
            <a:avLst/>
          </a:prstGeom>
        </p:spPr>
      </p:pic>
      <p:pic>
        <p:nvPicPr>
          <p:cNvPr id="4" name="图片 3"/>
          <p:cNvPicPr>
            <a:picLocks noChangeAspect="1"/>
          </p:cNvPicPr>
          <p:nvPr/>
        </p:nvPicPr>
        <p:blipFill>
          <a:blip r:embed="rId2"/>
          <a:stretch>
            <a:fillRect/>
          </a:stretch>
        </p:blipFill>
        <p:spPr>
          <a:xfrm>
            <a:off x="7381875" y="1192530"/>
            <a:ext cx="3839210" cy="49777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统计图表与可视化实现</a:t>
            </a:r>
            <a:endParaRPr lang="zh-CN" altLang="en-US" dirty="0"/>
          </a:p>
        </p:txBody>
      </p:sp>
      <p:pic>
        <p:nvPicPr>
          <p:cNvPr id="3" name="图片 2"/>
          <p:cNvPicPr>
            <a:picLocks noChangeAspect="1"/>
          </p:cNvPicPr>
          <p:nvPr/>
        </p:nvPicPr>
        <p:blipFill>
          <a:blip r:embed="rId1"/>
          <a:stretch>
            <a:fillRect/>
          </a:stretch>
        </p:blipFill>
        <p:spPr>
          <a:xfrm>
            <a:off x="669925" y="1229360"/>
            <a:ext cx="7111365" cy="4585970"/>
          </a:xfrm>
          <a:prstGeom prst="rect">
            <a:avLst/>
          </a:prstGeom>
        </p:spPr>
      </p:pic>
      <p:pic>
        <p:nvPicPr>
          <p:cNvPr id="5" name="图片 4"/>
          <p:cNvPicPr>
            <a:picLocks noChangeAspect="1"/>
          </p:cNvPicPr>
          <p:nvPr/>
        </p:nvPicPr>
        <p:blipFill>
          <a:blip r:embed="rId2"/>
          <a:stretch>
            <a:fillRect/>
          </a:stretch>
        </p:blipFill>
        <p:spPr>
          <a:xfrm>
            <a:off x="7781290" y="1346200"/>
            <a:ext cx="4092575" cy="2646680"/>
          </a:xfrm>
          <a:prstGeom prst="rect">
            <a:avLst/>
          </a:prstGeom>
        </p:spPr>
      </p:pic>
      <p:pic>
        <p:nvPicPr>
          <p:cNvPr id="6" name="图片 5"/>
          <p:cNvPicPr>
            <a:picLocks noChangeAspect="1"/>
          </p:cNvPicPr>
          <p:nvPr/>
        </p:nvPicPr>
        <p:blipFill>
          <a:blip r:embed="rId3"/>
          <a:stretch>
            <a:fillRect/>
          </a:stretch>
        </p:blipFill>
        <p:spPr>
          <a:xfrm>
            <a:off x="7781290" y="4070350"/>
            <a:ext cx="3636010" cy="2070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en-US" altLang="zh-CN" sz="2800">
                <a:solidFill>
                  <a:srgbClr val="000000"/>
                </a:solidFill>
                <a:sym typeface="+mn-ea"/>
              </a:rPr>
              <a:t>JWT </a:t>
            </a:r>
            <a:r>
              <a:rPr lang="zh-CN" altLang="en-US" sz="2800">
                <a:solidFill>
                  <a:srgbClr val="000000"/>
                </a:solidFill>
                <a:sym typeface="+mn-ea"/>
              </a:rPr>
              <a:t>鉴权机制</a:t>
            </a:r>
            <a:endParaRPr lang="zh-CN" altLang="en-US" dirty="0"/>
          </a:p>
        </p:txBody>
      </p:sp>
      <p:pic>
        <p:nvPicPr>
          <p:cNvPr id="3" name="图片 2"/>
          <p:cNvPicPr>
            <a:picLocks noChangeAspect="1"/>
          </p:cNvPicPr>
          <p:nvPr/>
        </p:nvPicPr>
        <p:blipFill>
          <a:blip r:embed="rId1"/>
          <a:stretch>
            <a:fillRect/>
          </a:stretch>
        </p:blipFill>
        <p:spPr>
          <a:xfrm>
            <a:off x="619125" y="1098550"/>
            <a:ext cx="6689090" cy="2743835"/>
          </a:xfrm>
          <a:prstGeom prst="rect">
            <a:avLst/>
          </a:prstGeom>
        </p:spPr>
      </p:pic>
      <p:graphicFrame>
        <p:nvGraphicFramePr>
          <p:cNvPr id="4" name="表格 3"/>
          <p:cNvGraphicFramePr/>
          <p:nvPr/>
        </p:nvGraphicFramePr>
        <p:xfrm>
          <a:off x="669608" y="3911918"/>
          <a:ext cx="7762875" cy="2238375"/>
        </p:xfrm>
        <a:graphic>
          <a:graphicData uri="http://schemas.openxmlformats.org/drawingml/2006/table">
            <a:tbl>
              <a:tblPr/>
              <a:tblGrid>
                <a:gridCol w="1228725"/>
                <a:gridCol w="2457450"/>
                <a:gridCol w="4076700"/>
              </a:tblGrid>
              <a:tr h="371475">
                <a:tc>
                  <a:txBody>
                    <a:bodyPr/>
                    <a:lstStyle/>
                    <a:p>
                      <a:pPr algn="ctr" fontAlgn="ctr" latinLnBrk="0"/>
                      <a:r>
                        <a:rPr lang="zh-CN" altLang="en-US" sz="1000" b="0" i="0">
                          <a:solidFill>
                            <a:srgbClr val="000000"/>
                          </a:solidFill>
                        </a:rPr>
                        <a:t>字段名</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CE2FE"/>
                    </a:solidFill>
                  </a:tcPr>
                </a:tc>
                <a:tc>
                  <a:txBody>
                    <a:bodyPr/>
                    <a:lstStyle/>
                    <a:p>
                      <a:pPr algn="ctr" fontAlgn="ctr" latinLnBrk="0"/>
                      <a:r>
                        <a:rPr lang="zh-CN" altLang="en-US" sz="1000" b="0" i="0">
                          <a:solidFill>
                            <a:srgbClr val="000000"/>
                          </a:solidFill>
                        </a:rPr>
                        <a:t>类型</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CE2FE"/>
                    </a:solidFill>
                  </a:tcPr>
                </a:tc>
                <a:tc>
                  <a:txBody>
                    <a:bodyPr/>
                    <a:lstStyle/>
                    <a:p>
                      <a:pPr algn="ctr" fontAlgn="ctr" latinLnBrk="0"/>
                      <a:r>
                        <a:rPr lang="zh-CN" altLang="en-US" sz="1000" b="0" i="0">
                          <a:solidFill>
                            <a:srgbClr val="000000"/>
                          </a:solidFill>
                        </a:rPr>
                        <a:t>含义</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CE2FE"/>
                    </a:solidFill>
                  </a:tcPr>
                </a:tc>
              </a:tr>
              <a:tr h="466725">
                <a:tc>
                  <a:txBody>
                    <a:bodyPr/>
                    <a:lstStyle/>
                    <a:p>
                      <a:pPr algn="ctr" fontAlgn="ctr" latinLnBrk="0"/>
                      <a:r>
                        <a:rPr lang="en-US" altLang="zh-CN" sz="1000" b="0" i="0">
                          <a:solidFill>
                            <a:srgbClr val="000000"/>
                          </a:solidFill>
                        </a:rPr>
                        <a:t>user_id</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float64</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用户唯一标识（</a:t>
                      </a:r>
                      <a:r>
                        <a:rPr lang="en-US" altLang="zh-CN" sz="1000" b="0" i="0">
                          <a:solidFill>
                            <a:srgbClr val="000000"/>
                          </a:solidFill>
                        </a:rPr>
                        <a:t>uint </a:t>
                      </a:r>
                      <a:r>
                        <a:rPr lang="zh-CN" altLang="en-US" sz="1000" b="0" i="0">
                          <a:solidFill>
                            <a:srgbClr val="000000"/>
                          </a:solidFill>
                        </a:rPr>
                        <a:t>转换为 </a:t>
                      </a:r>
                      <a:r>
                        <a:rPr lang="en-US" altLang="zh-CN" sz="1000" b="0" i="0">
                          <a:solidFill>
                            <a:srgbClr val="000000"/>
                          </a:solidFill>
                        </a:rPr>
                        <a:t>float64</a:t>
                      </a:r>
                      <a:r>
                        <a:rPr lang="zh-CN" altLang="en-US" sz="1000" b="0" i="0">
                          <a:solidFill>
                            <a:srgbClr val="000000"/>
                          </a:solidFill>
                        </a:rPr>
                        <a:t>）</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email</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string</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用户邮箱地址</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username</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string</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zh-CN" altLang="en-US" sz="1000" b="0" i="0">
                          <a:solidFill>
                            <a:srgbClr val="000000"/>
                          </a:solidFill>
                        </a:rPr>
                        <a:t>用户名</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66725">
                <a:tc>
                  <a:txBody>
                    <a:bodyPr/>
                    <a:lstStyle/>
                    <a:p>
                      <a:pPr algn="ctr" fontAlgn="ctr" latinLnBrk="0"/>
                      <a:r>
                        <a:rPr lang="en-US" altLang="zh-CN" sz="1000" b="0" i="0">
                          <a:solidFill>
                            <a:srgbClr val="000000"/>
                          </a:solidFill>
                        </a:rPr>
                        <a:t>exp</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int64</a:t>
                      </a:r>
                      <a:endParaRPr lang="en-US" altLang="zh-CN"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r>
                        <a:rPr lang="en-US" altLang="zh-CN" sz="1000" b="0" i="0">
                          <a:solidFill>
                            <a:srgbClr val="000000"/>
                          </a:solidFill>
                        </a:rPr>
                        <a:t>Token </a:t>
                      </a:r>
                      <a:r>
                        <a:rPr lang="zh-CN" altLang="en-US" sz="1000" b="0" i="0">
                          <a:solidFill>
                            <a:srgbClr val="000000"/>
                          </a:solidFill>
                        </a:rPr>
                        <a:t>过期时间（</a:t>
                      </a:r>
                      <a:r>
                        <a:rPr lang="en-US" altLang="zh-CN" sz="1000" b="0" i="0">
                          <a:solidFill>
                            <a:srgbClr val="000000"/>
                          </a:solidFill>
                        </a:rPr>
                        <a:t>Unix </a:t>
                      </a:r>
                      <a:r>
                        <a:rPr lang="zh-CN" altLang="en-US" sz="1000" b="0" i="0">
                          <a:solidFill>
                            <a:srgbClr val="000000"/>
                          </a:solidFill>
                        </a:rPr>
                        <a:t>时间戳）</a:t>
                      </a:r>
                      <a:endParaRPr lang="zh-CN" altLang="en-US" sz="1000" b="0" i="0">
                        <a:solidFill>
                          <a:srgbClr val="000000"/>
                        </a:solidFill>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en-US" altLang="zh-CN" sz="2800">
                <a:solidFill>
                  <a:srgbClr val="000000"/>
                </a:solidFill>
                <a:sym typeface="+mn-ea"/>
              </a:rPr>
              <a:t>JWT </a:t>
            </a:r>
            <a:r>
              <a:rPr lang="zh-CN" altLang="en-US" sz="2800">
                <a:solidFill>
                  <a:srgbClr val="000000"/>
                </a:solidFill>
                <a:sym typeface="+mn-ea"/>
              </a:rPr>
              <a:t>鉴权机制</a:t>
            </a:r>
            <a:endParaRPr lang="zh-CN" altLang="en-US" dirty="0"/>
          </a:p>
        </p:txBody>
      </p:sp>
      <p:sp>
        <p:nvSpPr>
          <p:cNvPr id="3" name="文本框 2"/>
          <p:cNvSpPr txBox="1"/>
          <p:nvPr/>
        </p:nvSpPr>
        <p:spPr>
          <a:xfrm>
            <a:off x="669925" y="1146175"/>
            <a:ext cx="7609205" cy="1476375"/>
          </a:xfrm>
          <a:prstGeom prst="rect">
            <a:avLst/>
          </a:prstGeom>
        </p:spPr>
        <p:txBody>
          <a:bodyPr wrap="square">
            <a:spAutoFit/>
          </a:bodyPr>
          <a:lstStyle/>
          <a:p>
            <a:r>
              <a:rPr lang="en-US" altLang="zh-CN" sz="1000"/>
              <a:t>func GenerateJWT(userID uint, email, username string) (string, error) {
    token := jwt.NewWithClaims(jwt.SigningMethodHS256, jwt.MapClaims{
        "user_id":  float64(userID),
        "email":    email,
        "username": username,
        "exp":      time.Now().Add(24 * time.Hour).Unix(), // </a:t>
            </a:r>
            <a:r>
              <a:rPr lang="zh-CN" altLang="en-US" sz="1000"/>
              <a:t>默认有效期 </a:t>
            </a:r>
            <a:r>
              <a:rPr lang="en-US" altLang="zh-CN" sz="1000"/>
              <a:t>24 </a:t>
            </a:r>
            <a:r>
              <a:rPr lang="zh-CN" altLang="en-US" sz="1000"/>
              <a:t>小时
    </a:t>
            </a:r>
            <a:r>
              <a:rPr lang="en-US" altLang="zh-CN" sz="1000"/>
              <a:t>})
    return token.SignedString(config.JwtSecret)
}</a:t>
            </a:r>
            <a:endParaRPr lang="en-US" altLang="zh-CN" sz="1000"/>
          </a:p>
        </p:txBody>
      </p:sp>
      <p:sp>
        <p:nvSpPr>
          <p:cNvPr id="4" name="文本框 3"/>
          <p:cNvSpPr txBox="1"/>
          <p:nvPr/>
        </p:nvSpPr>
        <p:spPr>
          <a:xfrm>
            <a:off x="5380355" y="1146175"/>
            <a:ext cx="8041640" cy="5169535"/>
          </a:xfrm>
          <a:prstGeom prst="rect">
            <a:avLst/>
          </a:prstGeom>
        </p:spPr>
        <p:txBody>
          <a:bodyPr wrap="square">
            <a:spAutoFit/>
          </a:bodyPr>
          <a:lstStyle/>
          <a:p>
            <a:r>
              <a:rPr lang="en-US" altLang="zh-CN" sz="1000"/>
              <a:t>func ParseJWT(tokenStr string) (jwt.MapClaims, error) {
    token, err := jwt.Parse(tokenStr, func(token *jwt.Token) (interface{}, error) {
        // </a:t>
            </a:r>
            <a:r>
              <a:rPr lang="zh-CN" altLang="en-US" sz="1000"/>
              <a:t>只接受 </a:t>
            </a:r>
            <a:r>
              <a:rPr lang="en-US" altLang="zh-CN" sz="1000"/>
              <a:t>HMAC </a:t>
            </a:r>
            <a:r>
              <a:rPr lang="zh-CN" altLang="en-US" sz="1000"/>
              <a:t>签名方法
        </a:t>
            </a:r>
            <a:r>
              <a:rPr lang="en-US" altLang="zh-CN" sz="1000"/>
              <a:t>if _, ok := token.Method.(*jwt.SigningMethodHMAC); !ok {
            return nil, fmt.Errorf("unexpected signing method: %v", token.Header["alg"])
        }
        return config.JwtSecret, nil
    })
    if err != nil || !token.Valid {
        return nil, fmt.Errorf("invalid token: %v", err)
    }
    claims, ok := token.Claims.(jwt.MapClaims)
    if !ok {
        return nil, fmt.Errorf("invalid claims type")
    }
    // </a:t>
            </a:r>
            <a:r>
              <a:rPr lang="zh-CN" altLang="en-US" sz="1000"/>
              <a:t>验证必要字段
    </a:t>
            </a:r>
            <a:r>
              <a:rPr lang="en-US" altLang="zh-CN" sz="1000"/>
              <a:t>if _, ok := claims["user_id"]; !ok {
        return nil, fmt.Errorf("missing user_id in token")
    }
    if _, ok := claims["username"]; !ok {
        return nil, fmt.Errorf("missing username in token")
    }
    if _, ok := claims["email"]; !ok {
        return nil, fmt.Errorf("missing email in token")
    }
    return claims, nil
}</a:t>
            </a:r>
            <a:endParaRPr lang="en-US" altLang="zh-CN" sz="1000"/>
          </a:p>
        </p:txBody>
      </p:sp>
      <p:sp>
        <p:nvSpPr>
          <p:cNvPr id="5" name="文本框 4"/>
          <p:cNvSpPr txBox="1"/>
          <p:nvPr/>
        </p:nvSpPr>
        <p:spPr>
          <a:xfrm>
            <a:off x="669925" y="3098483"/>
            <a:ext cx="5080000" cy="2445385"/>
          </a:xfrm>
          <a:prstGeom prst="rect">
            <a:avLst/>
          </a:prstGeom>
        </p:spPr>
        <p:txBody>
          <a:bodyPr>
            <a:spAutoFit/>
          </a:bodyPr>
          <a:lstStyle/>
          <a:p>
            <a:r>
              <a:rPr lang="en-US" altLang="zh-CN" sz="900"/>
              <a:t>func ProtectedHandler(c *gin.Context) {
    userIDVal, _ := c.Get("user_id")
    emailVal,  _ := c.Get("email")
    usernameVal, _ := c.Get("username")
    if userIDVal == nil || emailVal == nil {
        c.JSON(401, gin.H{"error": "unauthorized"})
        return
    }
    c.JSON(200, gin.H{
        "user_id": userIDVal,
        "email":   emailVal,
        "username": usernameVal,
        "status":  "token valid",
    })
}</a:t>
            </a:r>
            <a:endParaRPr lang="en-US" altLang="zh-CN" sz="9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用户管理板块实现</a:t>
            </a:r>
            <a:endParaRPr lang="zh-CN" altLang="en-US" dirty="0"/>
          </a:p>
        </p:txBody>
      </p:sp>
      <p:sp>
        <p:nvSpPr>
          <p:cNvPr id="4" name="文本框 3"/>
          <p:cNvSpPr txBox="1"/>
          <p:nvPr/>
        </p:nvSpPr>
        <p:spPr>
          <a:xfrm>
            <a:off x="669925" y="1288733"/>
            <a:ext cx="5080000" cy="4399915"/>
          </a:xfrm>
          <a:prstGeom prst="rect">
            <a:avLst/>
          </a:prstGeom>
        </p:spPr>
        <p:txBody>
          <a:bodyPr>
            <a:spAutoFit/>
          </a:bodyPr>
          <a:lstStyle/>
          <a:p>
            <a:r>
              <a:rPr lang="en-US" altLang="zh-CN" sz="1000"/>
              <a:t>func (h *authHandler) Login(c *gin.Context) {
    var in loginCreds
    if err := c.ShouldBindJSON(&amp;in); err != nil {
        c.JSON(http.StatusBadRequest, gin.H{"error": err.Error()})
        return
    }
    var user User
    if err := h.db.Where("email = ? OR username = ?", in.Email, in.Email).First(&amp;user).Error; err != nil {
        c.JSON(http.StatusUnauthorized, gin.H{"error": "invalid email or password"})
        return
    }
    if bcrypt.CompareHashAndPassword(user.PasswordHash, []byte(in.Password)) != nil {
        c.JSON(http.StatusUnauthorized, gin.H{"error": "invalid email or password"})
        return
    }
    token, err := h.issueToken(user.ID, user.Email, user.Username)
    if err != nil {
        c.JSON(http.StatusInternalServerError, gin.H{"error": "Unable to generate token"})
        return
    }
    setTokenCookie(c, token)
    c.JSON(http.StatusOK, gin.H{"token": token})
}</a:t>
            </a:r>
            <a:endParaRPr lang="en-US" altLang="zh-CN" sz="1000"/>
          </a:p>
        </p:txBody>
      </p:sp>
      <p:sp>
        <p:nvSpPr>
          <p:cNvPr id="5" name="文本框 4"/>
          <p:cNvSpPr txBox="1"/>
          <p:nvPr/>
        </p:nvSpPr>
        <p:spPr>
          <a:xfrm>
            <a:off x="6096000" y="1028383"/>
            <a:ext cx="5080000" cy="3476625"/>
          </a:xfrm>
          <a:prstGeom prst="rect">
            <a:avLst/>
          </a:prstGeom>
        </p:spPr>
        <p:txBody>
          <a:bodyPr>
            <a:spAutoFit/>
          </a:bodyPr>
          <a:lstStyle/>
          <a:p>
            <a:r>
              <a:rPr lang="en-US" altLang="zh-CN" sz="1000"/>
              <a:t>// </a:t>
            </a:r>
            <a:r>
              <a:rPr lang="zh-CN" altLang="en-US" sz="1000"/>
              <a:t>生成 </a:t>
            </a:r>
            <a:r>
              <a:rPr lang="en-US" altLang="zh-CN" sz="1000"/>
              <a:t>JWT token
func (h *authHandler) issueToken(uid uint, email, username string) (string, error) {
    claims := jwt.MapClaims{
        "user_id": uid,
        "email":   email,
        "username": username, // </a:t>
            </a:r>
            <a:r>
              <a:rPr lang="zh-CN" altLang="en-US" sz="1000"/>
              <a:t>需要传入
        </a:t>
            </a:r>
            <a:r>
              <a:rPr lang="en-US" altLang="zh-CN" sz="1000"/>
              <a:t>"exp":     time.Now().Add(24 * time.Hour).Unix(),
        "iat":     time.Now().Unix(),
    }
    return jwt.NewWithClaims(jwt.SigningMethodHS256, claims).SignedString(h.jwtSecret)
}
// </a:t>
            </a:r>
            <a:r>
              <a:rPr lang="zh-CN" altLang="en-US" sz="1000"/>
              <a:t>设置 </a:t>
            </a:r>
            <a:r>
              <a:rPr lang="en-US" altLang="zh-CN" sz="1000"/>
              <a:t>Cookie
func setTokenCookie(c *gin.Context, token string) {
    domain := ""
    if strings.Contains(c.Request.Host, "tidb-webapp.local") {
        domain = "tidb-webapp.local"
    }
    secure := domain != ""
    c.SetCookie("token", token, 24*3600, "/", domain, secure, true)
}</a:t>
            </a:r>
            <a:endParaRPr lang="en-US" altLang="zh-CN" sz="1000"/>
          </a:p>
        </p:txBody>
      </p:sp>
      <p:sp>
        <p:nvSpPr>
          <p:cNvPr id="6" name="文本框 5"/>
          <p:cNvSpPr txBox="1"/>
          <p:nvPr/>
        </p:nvSpPr>
        <p:spPr>
          <a:xfrm>
            <a:off x="6096000" y="4505325"/>
            <a:ext cx="5495290" cy="1783715"/>
          </a:xfrm>
          <a:prstGeom prst="rect">
            <a:avLst/>
          </a:prstGeom>
        </p:spPr>
        <p:txBody>
          <a:bodyPr wrap="square">
            <a:spAutoFit/>
          </a:bodyPr>
          <a:lstStyle/>
          <a:p>
            <a:r>
              <a:rPr lang="en-US" altLang="zh-CN" sz="1000"/>
              <a:t>// GET /api/auth/logout
func (h *authHandler) Logout(c *gin.Context) {
    domain := ""
    if strings.Contains(c.Request.Host, "tidb-webapp.local") {
        domain = "tidb-webapp.local"
    }
    secure := domain != ""
    // </a:t>
            </a:r>
            <a:r>
              <a:rPr lang="zh-CN" altLang="en-US" sz="1000"/>
              <a:t>清除 </a:t>
            </a:r>
            <a:r>
              <a:rPr lang="en-US" altLang="zh-CN" sz="1000"/>
              <a:t>token cookie
    c.SetCookie("token", "", -1, "/", domain, secure, true)
    c.JSON(http.StatusOK, gin.H{"message": "Successfully logged out"})
}</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用户管理板块实现</a:t>
            </a:r>
            <a:endParaRPr lang="zh-CN" altLang="en-US" dirty="0"/>
          </a:p>
        </p:txBody>
      </p:sp>
      <p:sp>
        <p:nvSpPr>
          <p:cNvPr id="3" name="文本框 2"/>
          <p:cNvSpPr txBox="1"/>
          <p:nvPr/>
        </p:nvSpPr>
        <p:spPr>
          <a:xfrm>
            <a:off x="669925" y="1222692"/>
            <a:ext cx="5080000" cy="3169285"/>
          </a:xfrm>
          <a:prstGeom prst="rect">
            <a:avLst/>
          </a:prstGeom>
        </p:spPr>
        <p:txBody>
          <a:bodyPr>
            <a:spAutoFit/>
          </a:bodyPr>
          <a:lstStyle/>
          <a:p>
            <a:r>
              <a:rPr lang="en-US" altLang="zh-CN" sz="1000"/>
              <a:t>// ProtectedHandler </a:t>
            </a:r>
            <a:r>
              <a:rPr lang="zh-CN" altLang="en-US" sz="1000"/>
              <a:t>只有通过 </a:t>
            </a:r>
            <a:r>
              <a:rPr lang="en-US" altLang="zh-CN" sz="1000"/>
              <a:t>JWTMiddleware </a:t>
            </a:r>
            <a:r>
              <a:rPr lang="zh-CN" altLang="en-US" sz="1000"/>
              <a:t>验证后才能访问
</a:t>
            </a:r>
            <a:r>
              <a:rPr lang="en-US" altLang="zh-CN" sz="1000"/>
              <a:t>func ProtectedHandler(c *gin.Context) {
    // </a:t>
            </a:r>
            <a:r>
              <a:rPr lang="zh-CN" altLang="en-US" sz="1000"/>
              <a:t>从 </a:t>
            </a:r>
            <a:r>
              <a:rPr lang="en-US" altLang="zh-CN" sz="1000"/>
              <a:t>context </a:t>
            </a:r>
            <a:r>
              <a:rPr lang="zh-CN" altLang="en-US" sz="1000"/>
              <a:t>里读取中间件事先放进去的字段
    </a:t>
            </a:r>
            <a:r>
              <a:rPr lang="en-US" altLang="zh-CN" sz="1000"/>
              <a:t>userIDVal, _ := c.Get("user_id")
    emailVal,  _ := c.Get("email")
    usernameVal, _ := c.Get("username") // </a:t>
            </a:r>
            <a:r>
              <a:rPr lang="zh-CN" altLang="en-US" sz="1000"/>
              <a:t>新增
    </a:t>
            </a:r>
            <a:r>
              <a:rPr lang="en-US" altLang="zh-CN" sz="1000"/>
              <a:t>// </a:t>
            </a:r>
            <a:r>
              <a:rPr lang="zh-CN" altLang="en-US" sz="1000"/>
              <a:t>基于安全起见再做一次存在性校验
    </a:t>
            </a:r>
            <a:r>
              <a:rPr lang="en-US" altLang="zh-CN" sz="1000"/>
              <a:t>if userIDVal == nil || emailVal == nil {
        c.JSON(401, gin.H{"error": "unauthorized"})
        return
    }
    c.JSON(200, gin.H{
        "user_id": userIDVal,
        "email":   emailVal,
        "username": usernameVal, // </a:t>
            </a:r>
            <a:r>
              <a:rPr lang="zh-CN" altLang="en-US" sz="1000"/>
              <a:t>可选返回 </a:t>
            </a:r>
            <a:r>
              <a:rPr lang="en-US" altLang="zh-CN" sz="1000"/>
              <a:t>username
        "status":  "token valid",
    })
}</a:t>
            </a:r>
            <a:endParaRPr lang="en-US" altLang="zh-CN" sz="1000"/>
          </a:p>
        </p:txBody>
      </p:sp>
      <p:sp>
        <p:nvSpPr>
          <p:cNvPr id="4" name="文本框 3"/>
          <p:cNvSpPr txBox="1"/>
          <p:nvPr/>
        </p:nvSpPr>
        <p:spPr>
          <a:xfrm>
            <a:off x="5202555" y="1222375"/>
            <a:ext cx="5080000" cy="1630045"/>
          </a:xfrm>
          <a:prstGeom prst="rect">
            <a:avLst/>
          </a:prstGeom>
        </p:spPr>
        <p:txBody>
          <a:bodyPr>
            <a:spAutoFit/>
          </a:bodyPr>
          <a:lstStyle/>
          <a:p>
            <a:r>
              <a:rPr lang="en-US" altLang="zh-CN" sz="1000"/>
              <a:t>// </a:t>
            </a:r>
            <a:r>
              <a:rPr lang="zh-CN" altLang="en-US" sz="1000"/>
              <a:t>获取指定用户在某张表上的权限标志
</a:t>
            </a:r>
            <a:r>
              <a:rPr lang="en-US" altLang="zh-CN" sz="1000"/>
              <a:t>func (a *App) getPerm(userID uint, table string) (permFlags, error) {
    var p permFlags
    err := a.DB.
        Table("permissions").
        Select("can_select, can_insert, can_update, can_delete").
        Where("user_id = ? AND table_name = ?", userID, table).
        Scan(&amp;p).Error
    return p, err
}</a:t>
            </a:r>
            <a:endParaRPr lang="en-US" altLang="zh-CN" sz="1000"/>
          </a:p>
        </p:txBody>
      </p:sp>
      <p:sp>
        <p:nvSpPr>
          <p:cNvPr id="5" name="文本框 4"/>
          <p:cNvSpPr txBox="1"/>
          <p:nvPr/>
        </p:nvSpPr>
        <p:spPr>
          <a:xfrm>
            <a:off x="5202555" y="2961958"/>
            <a:ext cx="5080000" cy="1938020"/>
          </a:xfrm>
          <a:prstGeom prst="rect">
            <a:avLst/>
          </a:prstGeom>
        </p:spPr>
        <p:txBody>
          <a:bodyPr>
            <a:spAutoFit/>
          </a:bodyPr>
          <a:lstStyle/>
          <a:p>
            <a:r>
              <a:rPr lang="en-US" altLang="zh-CN" sz="1000"/>
              <a:t>dbmsadmin := &amp;dbadmin.App{DB: db}
protecteddbms := r.Group("/api/db")
protecteddbms.Use(handlers.JWTMiddleware())
{
    protecteddbms.GET("/tables", dbmsadmin.ListTables)             // list all tables
    protecteddbms.GET("/:table", dbmsadmin.ListRecords)             // list rows(pagination)
    protecteddbms.GET("/:table/:id", dbmsadmin.GetRecord)           // fetch single row byid
    protecteddbms.POST("/:table", dbmsadmin.CreateRecord)           // insert row
    protecteddbms.PUT("/:table/:id", dbmsadmin.UpdateRecord)        // update row by id
    protecteddbms.DELETE("/:table/:id", dbmsadmin.DeleteRecord)     // delete row by id
    protecteddbms.GET("/:table/count", dbmsadmin.CountRecords)
}</a:t>
            </a:r>
            <a:endParaRPr lang="en-US" altLang="zh-CN" sz="10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用户管理板块实现</a:t>
            </a:r>
            <a:endParaRPr lang="zh-CN" altLang="en-US" dirty="0"/>
          </a:p>
        </p:txBody>
      </p:sp>
      <p:pic>
        <p:nvPicPr>
          <p:cNvPr id="3" name="图片 2"/>
          <p:cNvPicPr>
            <a:picLocks noChangeAspect="1"/>
          </p:cNvPicPr>
          <p:nvPr/>
        </p:nvPicPr>
        <p:blipFill>
          <a:blip r:embed="rId1"/>
          <a:stretch>
            <a:fillRect/>
          </a:stretch>
        </p:blipFill>
        <p:spPr>
          <a:xfrm>
            <a:off x="1704975" y="1209040"/>
            <a:ext cx="8782050" cy="4914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用户管理板块实现</a:t>
            </a:r>
            <a:endParaRPr lang="zh-CN" altLang="en-US" dirty="0"/>
          </a:p>
        </p:txBody>
      </p:sp>
      <p:pic>
        <p:nvPicPr>
          <p:cNvPr id="3" name="图片 2"/>
          <p:cNvPicPr/>
          <p:nvPr/>
        </p:nvPicPr>
        <p:blipFill>
          <a:blip r:embed="rId1"/>
          <a:stretch>
            <a:fillRect/>
          </a:stretch>
        </p:blipFill>
        <p:spPr>
          <a:xfrm>
            <a:off x="669925" y="1108710"/>
            <a:ext cx="9507220" cy="3941445"/>
          </a:xfrm>
          <a:prstGeom prst="rect">
            <a:avLst/>
          </a:prstGeom>
        </p:spPr>
      </p:pic>
      <p:pic>
        <p:nvPicPr>
          <p:cNvPr id="4" name="图片 3"/>
          <p:cNvPicPr/>
          <p:nvPr/>
        </p:nvPicPr>
        <p:blipFill>
          <a:blip r:embed="rId2"/>
          <a:stretch>
            <a:fillRect/>
          </a:stretch>
        </p:blipFill>
        <p:spPr>
          <a:xfrm>
            <a:off x="644525" y="3429000"/>
            <a:ext cx="9507220" cy="20535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安全机制设计</a:t>
            </a:r>
            <a:endParaRPr lang="zh-CN" altLang="en-US" dirty="0"/>
          </a:p>
        </p:txBody>
      </p:sp>
      <p:pic>
        <p:nvPicPr>
          <p:cNvPr id="3" name="图片 2"/>
          <p:cNvPicPr>
            <a:picLocks noChangeAspect="1"/>
          </p:cNvPicPr>
          <p:nvPr/>
        </p:nvPicPr>
        <p:blipFill>
          <a:blip r:embed="rId1"/>
          <a:stretch>
            <a:fillRect/>
          </a:stretch>
        </p:blipFill>
        <p:spPr>
          <a:xfrm>
            <a:off x="387350" y="1805940"/>
            <a:ext cx="6614160" cy="3737610"/>
          </a:xfrm>
          <a:prstGeom prst="rect">
            <a:avLst/>
          </a:prstGeom>
        </p:spPr>
      </p:pic>
      <p:sp>
        <p:nvSpPr>
          <p:cNvPr id="4" name="文本框 3"/>
          <p:cNvSpPr txBox="1"/>
          <p:nvPr/>
        </p:nvSpPr>
        <p:spPr>
          <a:xfrm>
            <a:off x="7112000" y="1451928"/>
            <a:ext cx="5080000" cy="2553335"/>
          </a:xfrm>
          <a:prstGeom prst="rect">
            <a:avLst/>
          </a:prstGeom>
        </p:spPr>
        <p:txBody>
          <a:bodyPr>
            <a:spAutoFit/>
          </a:bodyPr>
          <a:lstStyle/>
          <a:p>
            <a:r>
              <a:rPr lang="en-US" altLang="zh-CN" sz="1000" dirty="0" err="1"/>
              <a:t>tidb-webapp.local</a:t>
            </a:r>
            <a:r>
              <a:rPr lang="en-US" altLang="zh-CN" sz="1000" dirty="0"/>
              <a:t> {
   </a:t>
            </a:r>
            <a:r>
              <a:rPr lang="en-US" altLang="zh-CN" sz="1000" dirty="0" err="1"/>
              <a:t>tls</a:t>
            </a:r>
            <a:r>
              <a:rPr lang="en-US" altLang="zh-CN" sz="1000" dirty="0"/>
              <a:t> internal
   encode </a:t>
            </a:r>
            <a:r>
              <a:rPr lang="en-US" altLang="zh-CN" sz="1000" dirty="0" err="1"/>
              <a:t>zstd</a:t>
            </a:r>
            <a:r>
              <a:rPr lang="en-US" altLang="zh-CN" sz="1000" dirty="0"/>
              <a:t> </a:t>
            </a:r>
            <a:r>
              <a:rPr lang="en-US" altLang="zh-CN" sz="1000" dirty="0" err="1"/>
              <a:t>gzip</a:t>
            </a:r>
            <a:r>
              <a:rPr lang="en-US" altLang="zh-CN" sz="1000" dirty="0"/>
              <a:t>
   </a:t>
            </a:r>
            <a:r>
              <a:rPr lang="en-US" altLang="zh-CN" sz="1000" dirty="0" err="1"/>
              <a:t>reverse_proxy</a:t>
            </a:r>
            <a:r>
              <a:rPr lang="en-US" altLang="zh-CN" sz="1000" dirty="0"/>
              <a:t> 127.0.0.1:8080 {
      </a:t>
            </a:r>
            <a:r>
              <a:rPr lang="en-US" altLang="zh-CN" sz="1000" dirty="0" err="1"/>
              <a:t>header_up</a:t>
            </a:r>
            <a:r>
              <a:rPr lang="en-US" altLang="zh-CN" sz="1000" dirty="0"/>
              <a:t> X-Forwarded-Proto {scheme}
      </a:t>
            </a:r>
            <a:r>
              <a:rPr lang="en-US" altLang="zh-CN" sz="1000" dirty="0" err="1"/>
              <a:t>header_up</a:t>
            </a:r>
            <a:r>
              <a:rPr lang="en-US" altLang="zh-CN" sz="1000" dirty="0"/>
              <a:t> X-Read-IP {remote-host}
      </a:t>
            </a:r>
            <a:r>
              <a:rPr lang="en-US" altLang="zh-CN" sz="1000" dirty="0" err="1"/>
              <a:t>header_up</a:t>
            </a:r>
            <a:r>
              <a:rPr lang="en-US" altLang="zh-CN" sz="1000" dirty="0"/>
              <a:t> X-Forwarded-For {</a:t>
            </a:r>
            <a:r>
              <a:rPr lang="en-US" altLang="zh-CN" sz="1000" dirty="0" err="1"/>
              <a:t>forwarded_for</a:t>
            </a:r>
            <a:r>
              <a:rPr lang="en-US" altLang="zh-CN" sz="1000" dirty="0"/>
              <a:t>}
   }
   header {
       </a:t>
            </a:r>
            <a:r>
              <a:rPr lang="en-US" altLang="zh-CN" sz="1000" dirty="0">
                <a:highlight>
                  <a:srgbClr val="FFFF00"/>
                </a:highlight>
              </a:rPr>
              <a:t> Access-Control-Allow-Origin https://tidb-webapp.local </a:t>
            </a:r>
            <a:r>
              <a:rPr lang="en-US" altLang="zh-CN" sz="1000" dirty="0"/>
              <a:t>
        Access-Control-Allow-Credentials true
        Access-Control-Allow-Methods GET,POST,OPTIONS
        Access-Control-Allow-Headers Content-</a:t>
            </a:r>
            <a:r>
              <a:rPr lang="en-US" altLang="zh-CN" sz="1000" dirty="0" err="1"/>
              <a:t>Type,Authorization</a:t>
            </a:r>
            <a:r>
              <a:rPr lang="en-US" altLang="zh-CN" sz="1000" dirty="0"/>
              <a:t>
        Vary Origin
   }
}</a:t>
            </a:r>
            <a:endParaRPr lang="en-US" altLang="zh-CN" sz="1000" dirty="0"/>
          </a:p>
        </p:txBody>
      </p:sp>
      <p:sp>
        <p:nvSpPr>
          <p:cNvPr id="5" name="文本框 4"/>
          <p:cNvSpPr txBox="1"/>
          <p:nvPr/>
        </p:nvSpPr>
        <p:spPr>
          <a:xfrm>
            <a:off x="669925" y="1313180"/>
            <a:ext cx="4064000" cy="368300"/>
          </a:xfrm>
          <a:prstGeom prst="rect">
            <a:avLst/>
          </a:prstGeom>
          <a:noFill/>
        </p:spPr>
        <p:txBody>
          <a:bodyPr wrap="square" rtlCol="0">
            <a:spAutoFit/>
          </a:bodyPr>
          <a:lstStyle/>
          <a:p>
            <a:r>
              <a:rPr lang="en-US" altLang="zh-CN" dirty="0"/>
              <a:t>1. HTTPS</a:t>
            </a:r>
            <a:r>
              <a:rPr lang="zh-CN" altLang="en-US" dirty="0"/>
              <a:t>、</a:t>
            </a:r>
            <a:r>
              <a:rPr lang="en-US" altLang="zh-CN" dirty="0"/>
              <a:t>CORS</a:t>
            </a:r>
            <a:r>
              <a:rPr lang="zh-CN" altLang="en-US" dirty="0"/>
              <a:t>设置</a:t>
            </a:r>
            <a:endParaRPr lang="zh-CN" altLang="en-US" dirty="0"/>
          </a:p>
        </p:txBody>
      </p:sp>
      <p:sp>
        <p:nvSpPr>
          <p:cNvPr id="6" name="文本框 5"/>
          <p:cNvSpPr txBox="1"/>
          <p:nvPr/>
        </p:nvSpPr>
        <p:spPr>
          <a:xfrm>
            <a:off x="7112000" y="4146868"/>
            <a:ext cx="5080000" cy="1783715"/>
          </a:xfrm>
          <a:prstGeom prst="rect">
            <a:avLst/>
          </a:prstGeom>
        </p:spPr>
        <p:txBody>
          <a:bodyPr>
            <a:spAutoFit/>
          </a:bodyPr>
          <a:lstStyle/>
          <a:p>
            <a:pPr marL="0" indent="266700"/>
            <a:r>
              <a:rPr lang="en-US" altLang="zh-CN" sz="1000" dirty="0"/>
              <a:t>  </a:t>
            </a:r>
            <a:r>
              <a:rPr lang="zh-CN" altLang="en-US" sz="1000" dirty="0"/>
              <a:t>系统仅允许特定的可信域名（如 </a:t>
            </a:r>
            <a:r>
              <a:rPr lang="en-US" altLang="zh-CN" sz="1000" dirty="0"/>
              <a:t>https://tidb-webapp.local</a:t>
            </a:r>
            <a:r>
              <a:rPr lang="zh-CN" altLang="en-US" sz="1000" dirty="0"/>
              <a:t>）作为跨域请求的来源，通过设置 </a:t>
            </a:r>
            <a:r>
              <a:rPr lang="en-US" altLang="zh-CN" sz="1000" dirty="0"/>
              <a:t>Access-Control-Allow-Origin </a:t>
            </a:r>
            <a:r>
              <a:rPr lang="zh-CN" altLang="en-US" sz="1000" dirty="0"/>
              <a:t>响应头来阻止来自未授权网站的访问，保障接口安全。对于需要携带身份认证信息（如 </a:t>
            </a:r>
            <a:r>
              <a:rPr lang="en-US" altLang="zh-CN" sz="1000" dirty="0"/>
              <a:t>Cookie </a:t>
            </a:r>
            <a:r>
              <a:rPr lang="zh-CN" altLang="en-US" sz="1000" dirty="0"/>
              <a:t>或 </a:t>
            </a:r>
            <a:r>
              <a:rPr lang="en-US" altLang="zh-CN" sz="1000" dirty="0"/>
              <a:t>Token</a:t>
            </a:r>
            <a:r>
              <a:rPr lang="zh-CN" altLang="en-US" sz="1000" dirty="0"/>
              <a:t>）的请求，系统开启了 </a:t>
            </a:r>
            <a:r>
              <a:rPr lang="en-US" altLang="zh-CN" sz="1000" dirty="0"/>
              <a:t>Access-Control-Allow-Credentials</a:t>
            </a:r>
            <a:r>
              <a:rPr lang="zh-CN" altLang="en-US" sz="1000" dirty="0"/>
              <a:t>，确保认证凭据能安全传输，防止身份信息泄露。</a:t>
            </a:r>
            <a:endParaRPr lang="zh-CN" altLang="en-US" sz="1000" dirty="0"/>
          </a:p>
          <a:p>
            <a:pPr marL="0" indent="266700"/>
            <a:r>
              <a:rPr lang="en-US" altLang="zh-CN" sz="1000" dirty="0"/>
              <a:t>  </a:t>
            </a:r>
            <a:r>
              <a:rPr lang="zh-CN" altLang="en-US" sz="1000" dirty="0"/>
              <a:t>此外，系统明确限定了允许的 </a:t>
            </a:r>
            <a:r>
              <a:rPr lang="en-US" altLang="zh-CN" sz="1000" dirty="0"/>
              <a:t>HTTP </a:t>
            </a:r>
            <a:r>
              <a:rPr lang="zh-CN" altLang="en-US" sz="1000" dirty="0"/>
              <a:t>请求方法（如 </a:t>
            </a:r>
            <a:r>
              <a:rPr lang="en-US" altLang="zh-CN" sz="1000" dirty="0"/>
              <a:t>GET</a:t>
            </a:r>
            <a:r>
              <a:rPr lang="zh-CN" altLang="en-US" sz="1000" dirty="0"/>
              <a:t>、</a:t>
            </a:r>
            <a:r>
              <a:rPr lang="en-US" altLang="zh-CN" sz="1000" dirty="0"/>
              <a:t>POST</a:t>
            </a:r>
            <a:r>
              <a:rPr lang="zh-CN" altLang="en-US" sz="1000" dirty="0"/>
              <a:t>、</a:t>
            </a:r>
            <a:r>
              <a:rPr lang="en-US" altLang="zh-CN" sz="1000" dirty="0"/>
              <a:t>PUT</a:t>
            </a:r>
            <a:r>
              <a:rPr lang="zh-CN" altLang="en-US" sz="1000" dirty="0"/>
              <a:t>、</a:t>
            </a:r>
            <a:r>
              <a:rPr lang="en-US" altLang="zh-CN" sz="1000" dirty="0"/>
              <a:t>DELETE</a:t>
            </a:r>
            <a:r>
              <a:rPr lang="zh-CN" altLang="en-US" sz="1000" dirty="0"/>
              <a:t>、</a:t>
            </a:r>
            <a:r>
              <a:rPr lang="en-US" altLang="zh-CN" sz="1000" dirty="0"/>
              <a:t>OPTIONS</a:t>
            </a:r>
            <a:r>
              <a:rPr lang="zh-CN" altLang="en-US" sz="1000" dirty="0"/>
              <a:t>），避免非法方法调用带来的潜在威胁。对于请求头，系统通过 </a:t>
            </a:r>
            <a:r>
              <a:rPr lang="en-US" altLang="zh-CN" sz="1000" dirty="0"/>
              <a:t>Access-Control-Allow-Headers </a:t>
            </a:r>
            <a:r>
              <a:rPr lang="zh-CN" altLang="en-US" sz="1000" dirty="0"/>
              <a:t>指定允许的字段（如 </a:t>
            </a:r>
            <a:r>
              <a:rPr lang="en-US" altLang="zh-CN" sz="1000" dirty="0"/>
              <a:t>Content-Type</a:t>
            </a:r>
            <a:r>
              <a:rPr lang="zh-CN" altLang="en-US" sz="1000" dirty="0"/>
              <a:t>、</a:t>
            </a:r>
            <a:r>
              <a:rPr lang="en-US" altLang="zh-CN" sz="1000" dirty="0"/>
              <a:t>Authorization</a:t>
            </a:r>
            <a:r>
              <a:rPr lang="zh-CN" altLang="en-US" sz="1000" dirty="0"/>
              <a:t>、</a:t>
            </a:r>
            <a:r>
              <a:rPr lang="en-US" altLang="zh-CN" sz="1000" dirty="0"/>
              <a:t>X-Requested-With</a:t>
            </a:r>
            <a:r>
              <a:rPr lang="zh-CN" altLang="en-US" sz="1000" dirty="0"/>
              <a:t>），防止恶意头部注入攻击。</a:t>
            </a:r>
            <a:endParaRPr lang="zh-CN" altLang="en-US" sz="1000" dirty="0"/>
          </a:p>
          <a:p>
            <a:pPr marL="0" indent="266700"/>
            <a:r>
              <a:rPr lang="en-US" altLang="zh-CN" sz="1000" dirty="0"/>
              <a:t>  </a:t>
            </a:r>
            <a:r>
              <a:rPr lang="zh-CN" altLang="en-US" sz="1000" dirty="0"/>
              <a:t>对于复杂跨域请求，浏览器会自动发起 </a:t>
            </a:r>
            <a:r>
              <a:rPr lang="en-US" altLang="zh-CN" sz="1000" dirty="0"/>
              <a:t>OPTIONS </a:t>
            </a:r>
            <a:r>
              <a:rPr lang="zh-CN" altLang="en-US" sz="1000" dirty="0"/>
              <a:t>预检请求，系统能正确响应这些预检请求，返回相应的 </a:t>
            </a:r>
            <a:r>
              <a:rPr lang="en-US" altLang="zh-CN" sz="1000" dirty="0"/>
              <a:t>CORS </a:t>
            </a:r>
            <a:r>
              <a:rPr lang="zh-CN" altLang="en-US" sz="1000" dirty="0"/>
              <a:t>头部信息，确保合法请求能够顺利通过浏览器的安全策略。通过上述配置，系统在保证安全性的前提下，实现了灵活且安全的跨域资源访问控制。</a:t>
            </a:r>
            <a:endParaRPr lang="zh-CN" altLang="en-US" sz="1000"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安全机制设计</a:t>
            </a:r>
            <a:endParaRPr lang="zh-CN" altLang="en-US" dirty="0"/>
          </a:p>
        </p:txBody>
      </p:sp>
      <p:sp>
        <p:nvSpPr>
          <p:cNvPr id="3" name="文本框 2"/>
          <p:cNvSpPr txBox="1"/>
          <p:nvPr/>
        </p:nvSpPr>
        <p:spPr>
          <a:xfrm>
            <a:off x="669925" y="1268730"/>
            <a:ext cx="4064000" cy="368300"/>
          </a:xfrm>
          <a:prstGeom prst="rect">
            <a:avLst/>
          </a:prstGeom>
          <a:noFill/>
        </p:spPr>
        <p:txBody>
          <a:bodyPr wrap="square" rtlCol="0">
            <a:spAutoFit/>
          </a:bodyPr>
          <a:lstStyle/>
          <a:p>
            <a:r>
              <a:rPr lang="en-US" altLang="zh-CN"/>
              <a:t>2. SQL</a:t>
            </a:r>
            <a:r>
              <a:rPr lang="zh-CN" altLang="en-US"/>
              <a:t>注入</a:t>
            </a:r>
            <a:endParaRPr lang="zh-CN" altLang="en-US"/>
          </a:p>
        </p:txBody>
      </p:sp>
      <p:pic>
        <p:nvPicPr>
          <p:cNvPr id="4" name="图片 3"/>
          <p:cNvPicPr>
            <a:picLocks noChangeAspect="1"/>
          </p:cNvPicPr>
          <p:nvPr/>
        </p:nvPicPr>
        <p:blipFill>
          <a:blip r:embed="rId1"/>
          <a:stretch>
            <a:fillRect/>
          </a:stretch>
        </p:blipFill>
        <p:spPr>
          <a:xfrm>
            <a:off x="1934845" y="1762125"/>
            <a:ext cx="7431405" cy="41719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安全机制设计</a:t>
            </a:r>
            <a:endParaRPr lang="zh-CN" altLang="en-US" dirty="0"/>
          </a:p>
        </p:txBody>
      </p:sp>
      <p:pic>
        <p:nvPicPr>
          <p:cNvPr id="3" name="图片 2"/>
          <p:cNvPicPr>
            <a:picLocks noChangeAspect="1"/>
          </p:cNvPicPr>
          <p:nvPr/>
        </p:nvPicPr>
        <p:blipFill>
          <a:blip r:embed="rId1"/>
          <a:stretch>
            <a:fillRect/>
          </a:stretch>
        </p:blipFill>
        <p:spPr>
          <a:xfrm>
            <a:off x="1697990" y="1162050"/>
            <a:ext cx="8934450" cy="4533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安全机制设计</a:t>
            </a:r>
            <a:endParaRPr lang="zh-CN" altLang="en-US" dirty="0"/>
          </a:p>
        </p:txBody>
      </p:sp>
      <p:pic>
        <p:nvPicPr>
          <p:cNvPr id="3" name="图片 2"/>
          <p:cNvPicPr>
            <a:picLocks noChangeAspect="1"/>
          </p:cNvPicPr>
          <p:nvPr/>
        </p:nvPicPr>
        <p:blipFill>
          <a:blip r:embed="rId1"/>
          <a:stretch>
            <a:fillRect/>
          </a:stretch>
        </p:blipFill>
        <p:spPr>
          <a:xfrm>
            <a:off x="1666875" y="1190625"/>
            <a:ext cx="8858250" cy="4476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安全机制设计</a:t>
            </a:r>
            <a:endParaRPr lang="zh-CN" altLang="en-US" dirty="0"/>
          </a:p>
        </p:txBody>
      </p:sp>
      <p:sp>
        <p:nvSpPr>
          <p:cNvPr id="3" name="文本框 2"/>
          <p:cNvSpPr txBox="1"/>
          <p:nvPr/>
        </p:nvSpPr>
        <p:spPr>
          <a:xfrm>
            <a:off x="1240155" y="1528445"/>
            <a:ext cx="4064000" cy="368300"/>
          </a:xfrm>
          <a:prstGeom prst="rect">
            <a:avLst/>
          </a:prstGeom>
          <a:noFill/>
        </p:spPr>
        <p:txBody>
          <a:bodyPr wrap="square" rtlCol="0">
            <a:spAutoFit/>
          </a:bodyPr>
          <a:lstStyle/>
          <a:p>
            <a:r>
              <a:rPr lang="en-US" altLang="zh-CN"/>
              <a:t>3. XSS</a:t>
            </a:r>
            <a:r>
              <a:rPr lang="zh-CN" altLang="en-US"/>
              <a:t>防御</a:t>
            </a:r>
            <a:endParaRPr lang="zh-CN" altLang="en-US"/>
          </a:p>
        </p:txBody>
      </p:sp>
      <p:pic>
        <p:nvPicPr>
          <p:cNvPr id="4" name="图片 3"/>
          <p:cNvPicPr>
            <a:picLocks noChangeAspect="1"/>
          </p:cNvPicPr>
          <p:nvPr/>
        </p:nvPicPr>
        <p:blipFill>
          <a:blip r:embed="rId1"/>
          <a:stretch>
            <a:fillRect/>
          </a:stretch>
        </p:blipFill>
        <p:spPr>
          <a:xfrm>
            <a:off x="4145280" y="1896745"/>
            <a:ext cx="6976110" cy="3623310"/>
          </a:xfrm>
          <a:prstGeom prst="rect">
            <a:avLst/>
          </a:prstGeom>
        </p:spPr>
      </p:pic>
      <p:sp>
        <p:nvSpPr>
          <p:cNvPr id="5" name="文本框 4"/>
          <p:cNvSpPr txBox="1"/>
          <p:nvPr/>
        </p:nvSpPr>
        <p:spPr>
          <a:xfrm>
            <a:off x="221615" y="2233295"/>
            <a:ext cx="3672205" cy="3286760"/>
          </a:xfrm>
          <a:prstGeom prst="rect">
            <a:avLst/>
          </a:prstGeom>
        </p:spPr>
        <p:txBody>
          <a:bodyPr>
            <a:noAutofit/>
          </a:bodyPr>
          <a:lstStyle/>
          <a:p>
            <a:r>
              <a:rPr lang="en-US" altLang="zh-CN" sz="1600"/>
              <a:t>  </a:t>
            </a:r>
            <a:r>
              <a:rPr lang="zh-CN" altLang="en-US" sz="1600"/>
              <a:t>跨站脚本攻击（</a:t>
            </a:r>
            <a:r>
              <a:rPr lang="en-US" altLang="zh-CN" sz="1600"/>
              <a:t>Cross-Site Scripting, XSS</a:t>
            </a:r>
            <a:r>
              <a:rPr lang="zh-CN" altLang="en-US" sz="1600"/>
              <a:t>）指攻击者通过注入恶意脚本代码，使之在其他用户的浏览器中执行，达到窃取身份、劫持会话、修改页面等目的。</a:t>
            </a:r>
            <a:r>
              <a:rPr lang="en-US" altLang="zh-CN" sz="1600"/>
              <a:t>XSS </a:t>
            </a:r>
            <a:r>
              <a:rPr lang="zh-CN" altLang="en-US" sz="1600"/>
              <a:t>分为以下几类：</a:t>
            </a:r>
            <a:endParaRPr lang="zh-CN" altLang="en-US" sz="1600"/>
          </a:p>
          <a:p>
            <a:pPr indent="0" algn="l">
              <a:buFont typeface="Arial" panose="020B0604020202020204"/>
              <a:buNone/>
            </a:pPr>
            <a:r>
              <a:rPr lang="zh-CN" altLang="en-US" sz="1600"/>
              <a:t>反射型 </a:t>
            </a:r>
            <a:r>
              <a:rPr lang="en-US" altLang="zh-CN" sz="1600"/>
              <a:t>XSS</a:t>
            </a:r>
            <a:r>
              <a:rPr lang="zh-CN" altLang="en-US" sz="1600"/>
              <a:t>：恶意脚本作为请求参数立即被响应返回。</a:t>
            </a:r>
            <a:endParaRPr lang="zh-CN" altLang="en-US" sz="1600"/>
          </a:p>
          <a:p>
            <a:pPr indent="0" algn="l">
              <a:buFont typeface="Arial" panose="020B0604020202020204"/>
              <a:buNone/>
            </a:pPr>
            <a:r>
              <a:rPr lang="zh-CN" altLang="en-US" sz="1600"/>
              <a:t>存储型 </a:t>
            </a:r>
            <a:r>
              <a:rPr lang="en-US" altLang="zh-CN" sz="1600"/>
              <a:t>XSS</a:t>
            </a:r>
            <a:r>
              <a:rPr lang="zh-CN" altLang="en-US" sz="1600"/>
              <a:t>：恶意脚本存储在数据库中，被持久化地注入到页面中。</a:t>
            </a:r>
            <a:endParaRPr lang="zh-CN" altLang="en-US" sz="1600"/>
          </a:p>
          <a:p>
            <a:pPr indent="0" algn="l">
              <a:buFont typeface="Arial" panose="020B0604020202020204"/>
              <a:buNone/>
            </a:pPr>
            <a:r>
              <a:rPr lang="en-US" altLang="zh-CN" sz="1600"/>
              <a:t>DOM </a:t>
            </a:r>
            <a:r>
              <a:rPr lang="zh-CN" altLang="en-US" sz="1600"/>
              <a:t>型 </a:t>
            </a:r>
            <a:r>
              <a:rPr lang="en-US" altLang="zh-CN" sz="1600"/>
              <a:t>XSS</a:t>
            </a:r>
            <a:r>
              <a:rPr lang="zh-CN" altLang="en-US" sz="1600"/>
              <a:t>：通过前端 </a:t>
            </a:r>
            <a:r>
              <a:rPr lang="en-US" altLang="zh-CN" sz="1600"/>
              <a:t>JavaScript </a:t>
            </a:r>
            <a:r>
              <a:rPr lang="zh-CN" altLang="en-US" sz="1600"/>
              <a:t>操作引发脚本注入。</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安全机制设计</a:t>
            </a:r>
            <a:endParaRPr lang="zh-CN" altLang="en-US" dirty="0"/>
          </a:p>
        </p:txBody>
      </p:sp>
      <p:pic>
        <p:nvPicPr>
          <p:cNvPr id="3" name="图片 2"/>
          <p:cNvPicPr>
            <a:picLocks noChangeAspect="1"/>
          </p:cNvPicPr>
          <p:nvPr/>
        </p:nvPicPr>
        <p:blipFill>
          <a:blip r:embed="rId1"/>
          <a:stretch>
            <a:fillRect/>
          </a:stretch>
        </p:blipFill>
        <p:spPr>
          <a:xfrm>
            <a:off x="3269615" y="1245870"/>
            <a:ext cx="5650865" cy="47694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a:solidFill>
                  <a:srgbClr val="000000"/>
                </a:solidFill>
                <a:sym typeface="+mn-ea"/>
              </a:rPr>
              <a:t>安全机制设计</a:t>
            </a:r>
            <a:endParaRPr lang="zh-CN" altLang="en-US" dirty="0"/>
          </a:p>
        </p:txBody>
      </p:sp>
      <p:sp>
        <p:nvSpPr>
          <p:cNvPr id="3" name="文本框 2"/>
          <p:cNvSpPr txBox="1"/>
          <p:nvPr/>
        </p:nvSpPr>
        <p:spPr>
          <a:xfrm>
            <a:off x="843280" y="1416050"/>
            <a:ext cx="4064000" cy="368300"/>
          </a:xfrm>
          <a:prstGeom prst="rect">
            <a:avLst/>
          </a:prstGeom>
          <a:noFill/>
        </p:spPr>
        <p:txBody>
          <a:bodyPr wrap="square" rtlCol="0">
            <a:spAutoFit/>
          </a:bodyPr>
          <a:lstStyle/>
          <a:p>
            <a:r>
              <a:rPr lang="en-US" altLang="zh-CN"/>
              <a:t>4. CSRF</a:t>
            </a:r>
            <a:endParaRPr lang="en-US" altLang="zh-CN"/>
          </a:p>
        </p:txBody>
      </p:sp>
      <p:pic>
        <p:nvPicPr>
          <p:cNvPr id="4" name="图片 3"/>
          <p:cNvPicPr>
            <a:picLocks noChangeAspect="1"/>
          </p:cNvPicPr>
          <p:nvPr/>
        </p:nvPicPr>
        <p:blipFill>
          <a:blip r:embed="rId1"/>
          <a:stretch>
            <a:fillRect/>
          </a:stretch>
        </p:blipFill>
        <p:spPr>
          <a:xfrm>
            <a:off x="4686935" y="1784350"/>
            <a:ext cx="6892290" cy="4260850"/>
          </a:xfrm>
          <a:prstGeom prst="rect">
            <a:avLst/>
          </a:prstGeom>
        </p:spPr>
      </p:pic>
      <p:sp>
        <p:nvSpPr>
          <p:cNvPr id="5" name="文本框 4"/>
          <p:cNvSpPr txBox="1"/>
          <p:nvPr/>
        </p:nvSpPr>
        <p:spPr>
          <a:xfrm>
            <a:off x="490855" y="2171700"/>
            <a:ext cx="3681095" cy="2889250"/>
          </a:xfrm>
          <a:prstGeom prst="rect">
            <a:avLst/>
          </a:prstGeom>
        </p:spPr>
        <p:txBody>
          <a:bodyPr>
            <a:noAutofit/>
          </a:bodyPr>
          <a:lstStyle/>
          <a:p>
            <a:pPr marL="0" indent="266700"/>
            <a:r>
              <a:rPr lang="en-US" altLang="zh-CN" sz="1600"/>
              <a:t>  </a:t>
            </a:r>
            <a:r>
              <a:rPr lang="zh-CN" altLang="en-US" sz="1600"/>
              <a:t>跨站请求伪造（</a:t>
            </a:r>
            <a:r>
              <a:rPr lang="en-US" altLang="zh-CN" sz="1600"/>
              <a:t>Cross-Site Request Forgery, CSRF</a:t>
            </a:r>
            <a:r>
              <a:rPr lang="zh-CN" altLang="en-US" sz="1600"/>
              <a:t>）攻击是指攻击者诱导已登录用户在未经授权的情况下向目标网站发送请求，利用其登录状态完成非法操作。</a:t>
            </a:r>
            <a:endParaRPr lang="zh-CN" altLang="en-US" sz="1600"/>
          </a:p>
          <a:p>
            <a:pPr marL="0" indent="266700"/>
            <a:r>
              <a:rPr lang="en-US" altLang="zh-CN" sz="1600"/>
              <a:t>  </a:t>
            </a:r>
            <a:r>
              <a:rPr lang="zh-CN" altLang="en-US" sz="1600"/>
              <a:t>例如，用户登录后未登出，在其他恶意网站点击某链接会触发对目标网站的状态更改请求（如 </a:t>
            </a:r>
            <a:r>
              <a:rPr lang="en-US" altLang="zh-CN" sz="1600"/>
              <a:t>POST /api/auth/logout</a:t>
            </a:r>
            <a:r>
              <a:rPr lang="zh-CN" altLang="en-US" sz="1600"/>
              <a:t>）。</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en-US" altLang="zh-CN" sz="2800">
                <a:solidFill>
                  <a:srgbClr val="000000"/>
                </a:solidFill>
                <a:sym typeface="+mn-ea"/>
              </a:rPr>
              <a:t>CA</a:t>
            </a:r>
            <a:r>
              <a:rPr lang="zh-CN" altLang="en-US" sz="2800">
                <a:solidFill>
                  <a:srgbClr val="000000"/>
                </a:solidFill>
                <a:sym typeface="+mn-ea"/>
              </a:rPr>
              <a:t>证书部署</a:t>
            </a:r>
            <a:endParaRPr lang="zh-CN" altLang="en-US" sz="2800">
              <a:solidFill>
                <a:srgbClr val="000000"/>
              </a:solidFill>
              <a:sym typeface="+mn-ea"/>
            </a:endParaRPr>
          </a:p>
        </p:txBody>
      </p:sp>
      <p:pic>
        <p:nvPicPr>
          <p:cNvPr id="3" name="图片 2"/>
          <p:cNvPicPr>
            <a:picLocks noChangeAspect="1"/>
          </p:cNvPicPr>
          <p:nvPr/>
        </p:nvPicPr>
        <p:blipFill>
          <a:blip r:embed="rId1"/>
          <a:stretch>
            <a:fillRect/>
          </a:stretch>
        </p:blipFill>
        <p:spPr>
          <a:xfrm>
            <a:off x="375920" y="1266825"/>
            <a:ext cx="4453890" cy="1438910"/>
          </a:xfrm>
          <a:prstGeom prst="rect">
            <a:avLst/>
          </a:prstGeom>
        </p:spPr>
      </p:pic>
      <p:pic>
        <p:nvPicPr>
          <p:cNvPr id="4" name="图片 3"/>
          <p:cNvPicPr>
            <a:picLocks noChangeAspect="1"/>
          </p:cNvPicPr>
          <p:nvPr/>
        </p:nvPicPr>
        <p:blipFill>
          <a:blip r:embed="rId2"/>
          <a:stretch>
            <a:fillRect/>
          </a:stretch>
        </p:blipFill>
        <p:spPr>
          <a:xfrm>
            <a:off x="5321300" y="1629410"/>
            <a:ext cx="6198870" cy="3869690"/>
          </a:xfrm>
          <a:prstGeom prst="rect">
            <a:avLst/>
          </a:prstGeom>
        </p:spPr>
      </p:pic>
      <p:pic>
        <p:nvPicPr>
          <p:cNvPr id="5" name="图片 4"/>
          <p:cNvPicPr>
            <a:picLocks noChangeAspect="1"/>
          </p:cNvPicPr>
          <p:nvPr/>
        </p:nvPicPr>
        <p:blipFill>
          <a:blip r:embed="rId3"/>
          <a:stretch>
            <a:fillRect/>
          </a:stretch>
        </p:blipFill>
        <p:spPr>
          <a:xfrm>
            <a:off x="139065" y="2943860"/>
            <a:ext cx="4927600" cy="30759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测试用例</a:t>
            </a:r>
            <a:endParaRPr lang="en-US" altLang="zh-CN" sz="2800" dirty="0"/>
          </a:p>
        </p:txBody>
      </p:sp>
      <p:pic>
        <p:nvPicPr>
          <p:cNvPr id="17" name="图片 16"/>
          <p:cNvPicPr>
            <a:picLocks noChangeAspect="1"/>
          </p:cNvPicPr>
          <p:nvPr/>
        </p:nvPicPr>
        <p:blipFill>
          <a:blip r:embed="rId1"/>
          <a:stretch>
            <a:fillRect/>
          </a:stretch>
        </p:blipFill>
        <p:spPr>
          <a:xfrm>
            <a:off x="669925" y="1111250"/>
            <a:ext cx="3227705" cy="5080635"/>
          </a:xfrm>
          <a:prstGeom prst="rect">
            <a:avLst/>
          </a:prstGeom>
        </p:spPr>
      </p:pic>
      <p:pic>
        <p:nvPicPr>
          <p:cNvPr id="19" name="图片 18"/>
          <p:cNvPicPr>
            <a:picLocks noChangeAspect="1"/>
          </p:cNvPicPr>
          <p:nvPr/>
        </p:nvPicPr>
        <p:blipFill>
          <a:blip r:embed="rId2"/>
          <a:stretch>
            <a:fillRect/>
          </a:stretch>
        </p:blipFill>
        <p:spPr>
          <a:xfrm>
            <a:off x="4070350" y="1111250"/>
            <a:ext cx="6780530" cy="1323975"/>
          </a:xfrm>
          <a:prstGeom prst="rect">
            <a:avLst/>
          </a:prstGeom>
        </p:spPr>
      </p:pic>
      <p:pic>
        <p:nvPicPr>
          <p:cNvPr id="20" name="图片 19"/>
          <p:cNvPicPr>
            <a:picLocks noChangeAspect="1"/>
          </p:cNvPicPr>
          <p:nvPr/>
        </p:nvPicPr>
        <p:blipFill>
          <a:blip r:embed="rId3"/>
          <a:stretch>
            <a:fillRect/>
          </a:stretch>
        </p:blipFill>
        <p:spPr>
          <a:xfrm>
            <a:off x="4070350" y="2696210"/>
            <a:ext cx="6817995" cy="1225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测试用例</a:t>
            </a:r>
            <a:endParaRPr lang="en-US" altLang="zh-CN" sz="2800" dirty="0"/>
          </a:p>
        </p:txBody>
      </p:sp>
      <p:pic>
        <p:nvPicPr>
          <p:cNvPr id="4" name="图片 3"/>
          <p:cNvPicPr>
            <a:picLocks noChangeAspect="1"/>
          </p:cNvPicPr>
          <p:nvPr/>
        </p:nvPicPr>
        <p:blipFill>
          <a:blip r:embed="rId1"/>
          <a:stretch>
            <a:fillRect/>
          </a:stretch>
        </p:blipFill>
        <p:spPr>
          <a:xfrm>
            <a:off x="1372235" y="1389380"/>
            <a:ext cx="8963025" cy="2524125"/>
          </a:xfrm>
          <a:prstGeom prst="rect">
            <a:avLst/>
          </a:prstGeom>
        </p:spPr>
      </p:pic>
      <p:pic>
        <p:nvPicPr>
          <p:cNvPr id="6" name="图片 5"/>
          <p:cNvPicPr>
            <a:picLocks noChangeAspect="1"/>
          </p:cNvPicPr>
          <p:nvPr/>
        </p:nvPicPr>
        <p:blipFill>
          <a:blip r:embed="rId2"/>
          <a:stretch>
            <a:fillRect/>
          </a:stretch>
        </p:blipFill>
        <p:spPr>
          <a:xfrm>
            <a:off x="1260475" y="4097020"/>
            <a:ext cx="9305925" cy="20669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测试用例</a:t>
            </a:r>
            <a:endParaRPr lang="en-US" altLang="zh-CN" sz="2800" dirty="0"/>
          </a:p>
        </p:txBody>
      </p:sp>
      <p:pic>
        <p:nvPicPr>
          <p:cNvPr id="3" name="图片 2"/>
          <p:cNvPicPr>
            <a:picLocks noChangeAspect="1"/>
          </p:cNvPicPr>
          <p:nvPr/>
        </p:nvPicPr>
        <p:blipFill>
          <a:blip r:embed="rId1"/>
          <a:stretch>
            <a:fillRect/>
          </a:stretch>
        </p:blipFill>
        <p:spPr>
          <a:xfrm>
            <a:off x="522605" y="1221105"/>
            <a:ext cx="5573395" cy="4527550"/>
          </a:xfrm>
          <a:prstGeom prst="rect">
            <a:avLst/>
          </a:prstGeom>
        </p:spPr>
      </p:pic>
      <p:pic>
        <p:nvPicPr>
          <p:cNvPr id="5" name="图片 4"/>
          <p:cNvPicPr>
            <a:picLocks noChangeAspect="1"/>
          </p:cNvPicPr>
          <p:nvPr/>
        </p:nvPicPr>
        <p:blipFill>
          <a:blip r:embed="rId2"/>
          <a:stretch>
            <a:fillRect/>
          </a:stretch>
        </p:blipFill>
        <p:spPr>
          <a:xfrm>
            <a:off x="6290945" y="1776095"/>
            <a:ext cx="5547360" cy="3814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技术方法</a:t>
            </a:r>
            <a:r>
              <a:rPr lang="en-US" altLang="zh-CN" dirty="0"/>
              <a:t>-</a:t>
            </a:r>
            <a:r>
              <a:rPr lang="zh-CN" altLang="en-US" sz="2800" dirty="0"/>
              <a:t>测试用例</a:t>
            </a:r>
            <a:endParaRPr lang="en-US" altLang="zh-CN" sz="2800" dirty="0"/>
          </a:p>
        </p:txBody>
      </p:sp>
      <p:pic>
        <p:nvPicPr>
          <p:cNvPr id="3" name="图片 2"/>
          <p:cNvPicPr/>
          <p:nvPr/>
        </p:nvPicPr>
        <p:blipFill>
          <a:blip r:embed="rId1"/>
          <a:stretch>
            <a:fillRect/>
          </a:stretch>
        </p:blipFill>
        <p:spPr>
          <a:xfrm>
            <a:off x="669924" y="1263239"/>
            <a:ext cx="7103745" cy="4756785"/>
          </a:xfrm>
          <a:prstGeom prst="rect">
            <a:avLst/>
          </a:prstGeom>
        </p:spPr>
      </p:pic>
      <p:sp>
        <p:nvSpPr>
          <p:cNvPr id="5" name="文本框 4"/>
          <p:cNvSpPr txBox="1"/>
          <p:nvPr/>
        </p:nvSpPr>
        <p:spPr>
          <a:xfrm>
            <a:off x="7773669" y="1388650"/>
            <a:ext cx="3671047" cy="3416320"/>
          </a:xfrm>
          <a:prstGeom prst="rect">
            <a:avLst/>
          </a:prstGeom>
          <a:noFill/>
        </p:spPr>
        <p:txBody>
          <a:bodyPr wrap="square">
            <a:spAutoFit/>
          </a:bodyPr>
          <a:lstStyle/>
          <a:p>
            <a:r>
              <a:rPr lang="en-US" altLang="zh-CN" dirty="0"/>
              <a:t>Select </a:t>
            </a:r>
            <a:r>
              <a:rPr lang="zh-CN" altLang="en-US" dirty="0"/>
              <a:t>类型的 </a:t>
            </a:r>
            <a:r>
              <a:rPr lang="en-US" altLang="zh-CN" dirty="0"/>
              <a:t>SQL </a:t>
            </a:r>
            <a:r>
              <a:rPr lang="zh-CN" altLang="en-US" dirty="0"/>
              <a:t>占用了约 </a:t>
            </a:r>
            <a:r>
              <a:rPr lang="en-US" altLang="zh-CN" dirty="0"/>
              <a:t>50 </a:t>
            </a:r>
            <a:r>
              <a:rPr lang="zh-CN" altLang="en-US" dirty="0"/>
              <a:t>秒的数据库时间，表明该时段查询操作频繁且复杂，而其他类型的 </a:t>
            </a:r>
            <a:r>
              <a:rPr lang="en-US" altLang="zh-CN" dirty="0"/>
              <a:t>SQL </a:t>
            </a:r>
            <a:r>
              <a:rPr lang="zh-CN" altLang="en-US" dirty="0"/>
              <a:t>占用时间较少，说明它们并非主要性能瓶颈。</a:t>
            </a:r>
            <a:endParaRPr lang="en-US" altLang="zh-CN" dirty="0"/>
          </a:p>
          <a:p>
            <a:endParaRPr lang="en-US" altLang="zh-CN" dirty="0"/>
          </a:p>
          <a:p>
            <a:r>
              <a:rPr lang="zh-CN" altLang="en-US" dirty="0"/>
              <a:t>表明 </a:t>
            </a:r>
            <a:r>
              <a:rPr lang="en-US" altLang="zh-CN" dirty="0"/>
              <a:t>SQL </a:t>
            </a:r>
            <a:r>
              <a:rPr lang="zh-CN" altLang="en-US" dirty="0"/>
              <a:t>实际执行时间较长；解析和编译阶段耗时较低，说明这两个阶段性能表现正常。总数据库时间与执行阶段耗时高度相关。</a:t>
            </a:r>
            <a:endParaRPr lang="zh-CN" altLang="en-US" dirty="0"/>
          </a:p>
          <a:p>
            <a:endParaRPr lang="en-US" altLang="zh-CN" dirty="0"/>
          </a:p>
          <a:p>
            <a:endParaRPr lang="zh-CN" altLang="en-US" dirty="0"/>
          </a:p>
        </p:txBody>
      </p:sp>
      <p:sp>
        <p:nvSpPr>
          <p:cNvPr id="7" name="文本框 6"/>
          <p:cNvSpPr txBox="1"/>
          <p:nvPr/>
        </p:nvSpPr>
        <p:spPr>
          <a:xfrm>
            <a:off x="4688914" y="4526283"/>
            <a:ext cx="6169510" cy="1277273"/>
          </a:xfrm>
          <a:prstGeom prst="rect">
            <a:avLst/>
          </a:prstGeom>
          <a:noFill/>
        </p:spPr>
        <p:txBody>
          <a:bodyPr wrap="square">
            <a:spAutoFit/>
          </a:bodyPr>
          <a:lstStyle/>
          <a:p>
            <a:r>
              <a:rPr lang="zh-CN" altLang="en-US" sz="1100" dirty="0">
                <a:effectLst/>
              </a:rPr>
              <a:t>图表中，横轴时间范围为 </a:t>
            </a:r>
            <a:r>
              <a:rPr lang="en-US" altLang="zh-CN" sz="1100" dirty="0">
                <a:effectLst/>
              </a:rPr>
              <a:t>09:38:00 </a:t>
            </a:r>
            <a:r>
              <a:rPr lang="zh-CN" altLang="en-US" sz="1100" dirty="0">
                <a:effectLst/>
              </a:rPr>
              <a:t>至 </a:t>
            </a:r>
            <a:r>
              <a:rPr lang="en-US" altLang="zh-CN" sz="1100" dirty="0">
                <a:effectLst/>
              </a:rPr>
              <a:t>09:42:00</a:t>
            </a:r>
            <a:r>
              <a:rPr lang="zh-CN" altLang="en-US" sz="1100" dirty="0">
                <a:effectLst/>
              </a:rPr>
              <a:t>，纵轴为 </a:t>
            </a:r>
            <a:r>
              <a:rPr lang="en-US" altLang="zh-CN" sz="1100" dirty="0">
                <a:effectLst/>
              </a:rPr>
              <a:t>SQL </a:t>
            </a:r>
            <a:r>
              <a:rPr lang="zh-CN" altLang="en-US" sz="1100" dirty="0">
                <a:effectLst/>
              </a:rPr>
              <a:t>执行时间（秒），颜色区分多种执行操作，包括等待全局事务 </a:t>
            </a:r>
            <a:r>
              <a:rPr lang="en-US" altLang="zh-CN" sz="1100" dirty="0">
                <a:effectLst/>
              </a:rPr>
              <a:t>ID </a:t>
            </a:r>
            <a:r>
              <a:rPr lang="zh-CN" altLang="en-US" sz="1100" dirty="0">
                <a:effectLst/>
              </a:rPr>
              <a:t>的时间（</a:t>
            </a:r>
            <a:r>
              <a:rPr lang="en-US" altLang="zh-CN" sz="1100" dirty="0" err="1">
                <a:effectLst/>
              </a:rPr>
              <a:t>tso_wait</a:t>
            </a:r>
            <a:r>
              <a:rPr lang="zh-CN" altLang="en-US" sz="1100" dirty="0">
                <a:effectLst/>
              </a:rPr>
              <a:t>）、扫描锁（</a:t>
            </a:r>
            <a:r>
              <a:rPr lang="en-US" altLang="zh-CN" sz="1100" dirty="0" err="1">
                <a:effectLst/>
              </a:rPr>
              <a:t>ScanLock</a:t>
            </a:r>
            <a:r>
              <a:rPr lang="zh-CN" altLang="en-US" sz="1100" dirty="0">
                <a:effectLst/>
              </a:rPr>
              <a:t>）、扫描数据（</a:t>
            </a:r>
            <a:r>
              <a:rPr lang="en-US" altLang="zh-CN" sz="1100" dirty="0">
                <a:effectLst/>
              </a:rPr>
              <a:t>Scan</a:t>
            </a:r>
            <a:r>
              <a:rPr lang="zh-CN" altLang="en-US" sz="1100" dirty="0">
                <a:effectLst/>
              </a:rPr>
              <a:t>）、预写入（</a:t>
            </a:r>
            <a:r>
              <a:rPr lang="en-US" altLang="zh-CN" sz="1100" dirty="0">
                <a:effectLst/>
              </a:rPr>
              <a:t>Prewrite</a:t>
            </a:r>
            <a:r>
              <a:rPr lang="zh-CN" altLang="en-US" sz="1100" dirty="0">
                <a:effectLst/>
              </a:rPr>
              <a:t>）、悲观锁（</a:t>
            </a:r>
            <a:r>
              <a:rPr lang="en-US" altLang="zh-CN" sz="1100" dirty="0" err="1">
                <a:effectLst/>
              </a:rPr>
              <a:t>PessimisticLock</a:t>
            </a:r>
            <a:r>
              <a:rPr lang="zh-CN" altLang="en-US" sz="1100" dirty="0">
                <a:effectLst/>
              </a:rPr>
              <a:t>）、多版本并发控制获取（</a:t>
            </a:r>
            <a:r>
              <a:rPr lang="en-US" altLang="zh-CN" sz="1100" dirty="0" err="1">
                <a:effectLst/>
              </a:rPr>
              <a:t>MvccGetByKey</a:t>
            </a:r>
            <a:r>
              <a:rPr lang="zh-CN" altLang="en-US" sz="1100" dirty="0">
                <a:effectLst/>
              </a:rPr>
              <a:t>）、获取数据（</a:t>
            </a:r>
            <a:r>
              <a:rPr lang="en-US" altLang="zh-CN" sz="1100" dirty="0">
                <a:effectLst/>
              </a:rPr>
              <a:t>Get</a:t>
            </a:r>
            <a:r>
              <a:rPr lang="zh-CN" altLang="en-US" sz="1100" dirty="0">
                <a:effectLst/>
              </a:rPr>
              <a:t>）、</a:t>
            </a:r>
            <a:r>
              <a:rPr lang="en-US" altLang="zh-CN" sz="1100" dirty="0">
                <a:effectLst/>
              </a:rPr>
              <a:t>COP </a:t>
            </a:r>
            <a:r>
              <a:rPr lang="zh-CN" altLang="en-US" sz="1100" dirty="0">
                <a:effectLst/>
              </a:rPr>
              <a:t>处理时间（</a:t>
            </a:r>
            <a:r>
              <a:rPr lang="en-US" altLang="zh-CN" sz="1100" dirty="0">
                <a:effectLst/>
              </a:rPr>
              <a:t>Cop</a:t>
            </a:r>
            <a:r>
              <a:rPr lang="zh-CN" altLang="en-US" sz="1100" dirty="0">
                <a:effectLst/>
              </a:rPr>
              <a:t>）和提交事务时间（</a:t>
            </a:r>
            <a:r>
              <a:rPr lang="en-US" altLang="zh-CN" sz="1100" dirty="0">
                <a:effectLst/>
              </a:rPr>
              <a:t>Commit</a:t>
            </a:r>
            <a:r>
              <a:rPr lang="zh-CN" altLang="en-US" sz="1100" dirty="0">
                <a:effectLst/>
              </a:rPr>
              <a:t>）。在 </a:t>
            </a:r>
            <a:r>
              <a:rPr lang="en-US" altLang="zh-CN" sz="1100" dirty="0">
                <a:effectLst/>
              </a:rPr>
              <a:t>09:40:00 </a:t>
            </a:r>
            <a:r>
              <a:rPr lang="zh-CN" altLang="en-US" sz="1100" dirty="0">
                <a:effectLst/>
              </a:rPr>
              <a:t>附近，</a:t>
            </a:r>
            <a:r>
              <a:rPr lang="en-US" altLang="zh-CN" sz="1100" dirty="0" err="1">
                <a:effectLst/>
              </a:rPr>
              <a:t>tso_wait</a:t>
            </a:r>
            <a:r>
              <a:rPr lang="en-US" altLang="zh-CN" sz="1100" dirty="0">
                <a:effectLst/>
              </a:rPr>
              <a:t> </a:t>
            </a:r>
            <a:r>
              <a:rPr lang="zh-CN" altLang="en-US" sz="1100" dirty="0">
                <a:effectLst/>
              </a:rPr>
              <a:t>和 </a:t>
            </a:r>
            <a:r>
              <a:rPr lang="en-US" altLang="zh-CN" sz="1100" dirty="0">
                <a:effectLst/>
              </a:rPr>
              <a:t>Scan </a:t>
            </a:r>
            <a:r>
              <a:rPr lang="zh-CN" altLang="en-US" sz="1100" dirty="0">
                <a:effectLst/>
              </a:rPr>
              <a:t>的时间较长，分别约 </a:t>
            </a:r>
            <a:r>
              <a:rPr lang="en-US" altLang="zh-CN" sz="1100" dirty="0">
                <a:effectLst/>
              </a:rPr>
              <a:t>40 </a:t>
            </a:r>
            <a:r>
              <a:rPr lang="zh-CN" altLang="en-US" sz="1100" dirty="0">
                <a:effectLst/>
              </a:rPr>
              <a:t>秒和 </a:t>
            </a:r>
            <a:r>
              <a:rPr lang="en-US" altLang="zh-CN" sz="1100" dirty="0">
                <a:effectLst/>
              </a:rPr>
              <a:t>30 </a:t>
            </a:r>
            <a:r>
              <a:rPr lang="zh-CN" altLang="en-US" sz="1100" dirty="0">
                <a:effectLst/>
              </a:rPr>
              <a:t>秒，预写入和提交事务时间也较高，说明事务处理存在延迟，而其他操作耗时较少。针对这些情况，建议检查 </a:t>
            </a:r>
            <a:r>
              <a:rPr lang="en-US" altLang="zh-CN" sz="1100" dirty="0">
                <a:effectLst/>
              </a:rPr>
              <a:t>PD</a:t>
            </a:r>
            <a:r>
              <a:rPr lang="zh-CN" altLang="en-US" sz="1100" dirty="0">
                <a:effectLst/>
              </a:rPr>
              <a:t>（</a:t>
            </a:r>
            <a:r>
              <a:rPr lang="en-US" altLang="zh-CN" sz="1100" dirty="0">
                <a:effectLst/>
              </a:rPr>
              <a:t>Placement Driver</a:t>
            </a:r>
            <a:r>
              <a:rPr lang="zh-CN" altLang="en-US" sz="1100" dirty="0">
                <a:effectLst/>
              </a:rPr>
              <a:t>）性能以缓解 </a:t>
            </a:r>
            <a:r>
              <a:rPr lang="en-US" altLang="zh-CN" sz="1100" dirty="0" err="1">
                <a:effectLst/>
              </a:rPr>
              <a:t>tso_wait</a:t>
            </a:r>
            <a:r>
              <a:rPr lang="en-US" altLang="zh-CN" sz="1100" dirty="0">
                <a:effectLst/>
              </a:rPr>
              <a:t> </a:t>
            </a:r>
            <a:r>
              <a:rPr lang="zh-CN" altLang="en-US" sz="1100" dirty="0">
                <a:effectLst/>
              </a:rPr>
              <a:t>时间过长，优化查询以减少扫描数据量，并关注事务冲突及网络延迟以缩短 </a:t>
            </a:r>
            <a:r>
              <a:rPr lang="en-US" altLang="zh-CN" sz="1100" dirty="0">
                <a:effectLst/>
              </a:rPr>
              <a:t>Prewrite </a:t>
            </a:r>
            <a:r>
              <a:rPr lang="zh-CN" altLang="en-US" sz="1100" dirty="0">
                <a:effectLst/>
              </a:rPr>
              <a:t>和 </a:t>
            </a:r>
            <a:r>
              <a:rPr lang="en-US" altLang="zh-CN" sz="1100" dirty="0">
                <a:effectLst/>
              </a:rPr>
              <a:t>Commit </a:t>
            </a:r>
            <a:r>
              <a:rPr lang="zh-CN" altLang="en-US" sz="1100" dirty="0">
                <a:effectLst/>
              </a:rPr>
              <a:t>时间。</a:t>
            </a:r>
            <a:endParaRPr lang="zh-CN" altLang="en-US" sz="1100" dirty="0">
              <a:effectLst/>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4545149" y="1536974"/>
            <a:ext cx="3102428" cy="628955"/>
          </a:xfrm>
          <a:prstGeom prst="rect">
            <a:avLst/>
          </a:prstGeom>
          <a:noFill/>
        </p:spPr>
        <p:txBody>
          <a:bodyPr wrap="square" rtlCol="0">
            <a:spAutoFit/>
          </a:bodyPr>
          <a:lstStyle/>
          <a:p>
            <a:pPr algn="ctr">
              <a:lnSpc>
                <a:spcPct val="120000"/>
              </a:lnSpc>
            </a:pPr>
            <a:r>
              <a:rPr lang="en-MY" sz="3200" b="1" dirty="0"/>
              <a:t>PART</a:t>
            </a:r>
            <a:r>
              <a:rPr lang="en-MY" sz="3200" b="1" dirty="0">
                <a:solidFill>
                  <a:srgbClr val="006C30"/>
                </a:solidFill>
              </a:rPr>
              <a:t> </a:t>
            </a:r>
            <a:r>
              <a:rPr lang="en-US" sz="3200" b="1" dirty="0"/>
              <a:t>3</a:t>
            </a:r>
            <a:endParaRPr lang="en-US" altLang="en-MY" sz="3200" b="1" dirty="0"/>
          </a:p>
        </p:txBody>
      </p:sp>
      <p:sp>
        <p:nvSpPr>
          <p:cNvPr id="14" name="矩形 13"/>
          <p:cNvSpPr/>
          <p:nvPr/>
        </p:nvSpPr>
        <p:spPr>
          <a:xfrm>
            <a:off x="4839490" y="2950476"/>
            <a:ext cx="2513019" cy="768350"/>
          </a:xfrm>
          <a:prstGeom prst="rect">
            <a:avLst/>
          </a:prstGeom>
        </p:spPr>
        <p:txBody>
          <a:bodyPr wrap="square">
            <a:spAutoFit/>
          </a:bodyPr>
          <a:lstStyle/>
          <a:p>
            <a:pPr algn="ctr"/>
            <a:r>
              <a:rPr lang="zh-CN" altLang="en-US" sz="4400" dirty="0">
                <a:latin typeface="Times New Roman" panose="02020603050405020304" pitchFamily="18" charset="0"/>
                <a:cs typeface="Times New Roman" panose="02020603050405020304" pitchFamily="18" charset="0"/>
                <a:sym typeface="+mn-lt"/>
              </a:rPr>
              <a:t>评分点</a:t>
            </a:r>
            <a:endParaRPr lang="zh-CN" altLang="en-US" sz="4400" dirty="0">
              <a:latin typeface="Times New Roman" panose="02020603050405020304" pitchFamily="18" charset="0"/>
              <a:cs typeface="Times New Roman" panose="02020603050405020304" pitchFamily="18" charset="0"/>
            </a:endParaRPr>
          </a:p>
        </p:txBody>
      </p:sp>
      <p:cxnSp>
        <p:nvCxnSpPr>
          <p:cNvPr id="2" name="直接连接符 1"/>
          <p:cNvCxnSpPr/>
          <p:nvPr/>
        </p:nvCxnSpPr>
        <p:spPr>
          <a:xfrm>
            <a:off x="4808548" y="3719917"/>
            <a:ext cx="2708451" cy="0"/>
          </a:xfrm>
          <a:prstGeom prst="line">
            <a:avLst/>
          </a:prstGeom>
          <a:ln>
            <a:solidFill>
              <a:srgbClr val="006C3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create</a:t>
            </a:r>
            <a:endParaRPr lang="en-US" altLang="zh-CN" sz="2800" dirty="0"/>
          </a:p>
        </p:txBody>
      </p:sp>
      <p:sp>
        <p:nvSpPr>
          <p:cNvPr id="7" name="文本框 6"/>
          <p:cNvSpPr txBox="1"/>
          <p:nvPr/>
        </p:nvSpPr>
        <p:spPr>
          <a:xfrm>
            <a:off x="669925" y="1305560"/>
            <a:ext cx="6096000" cy="4246245"/>
          </a:xfrm>
          <a:prstGeom prst="rect">
            <a:avLst/>
          </a:prstGeom>
          <a:noFill/>
        </p:spPr>
        <p:txBody>
          <a:bodyPr wrap="square" rtlCol="0" anchor="t">
            <a:spAutoFit/>
          </a:bodyPr>
          <a:lstStyle/>
          <a:p>
            <a:r>
              <a:rPr lang="en-US" altLang="zh-CN" dirty="0"/>
              <a:t>-- </a:t>
            </a:r>
            <a:r>
              <a:rPr lang="zh-CN" altLang="en-US" dirty="0"/>
              <a:t>主表</a:t>
            </a:r>
            <a:endParaRPr lang="zh-CN" altLang="en-US" dirty="0"/>
          </a:p>
          <a:p>
            <a:r>
              <a:rPr lang="en-US" altLang="zh-CN" dirty="0">
                <a:solidFill>
                  <a:srgbClr val="FF0000"/>
                </a:solidFill>
              </a:rPr>
              <a:t>CREATE</a:t>
            </a:r>
            <a:r>
              <a:rPr lang="en-US" altLang="zh-CN" dirty="0"/>
              <a:t> TABLE IF NOT EXISTS </a:t>
            </a:r>
            <a:r>
              <a:rPr lang="en-US" altLang="zh-CN" dirty="0" err="1"/>
              <a:t>CVEEntry</a:t>
            </a:r>
            <a:r>
              <a:rPr lang="en-US" altLang="zh-CN" dirty="0"/>
              <a:t> (</a:t>
            </a:r>
            <a:endParaRPr lang="en-US" altLang="zh-CN" dirty="0"/>
          </a:p>
          <a:p>
            <a:r>
              <a:rPr lang="en-US" altLang="zh-CN" dirty="0"/>
              <a:t>    id VARCHAR(50) PRIMARY KEY,</a:t>
            </a:r>
            <a:endParaRPr lang="en-US" altLang="zh-CN" dirty="0"/>
          </a:p>
          <a:p>
            <a:r>
              <a:rPr lang="en-US" altLang="zh-CN" dirty="0"/>
              <a:t>    </a:t>
            </a:r>
            <a:r>
              <a:rPr lang="en-US" altLang="zh-CN" dirty="0" err="1"/>
              <a:t>sourceIdentifier</a:t>
            </a:r>
            <a:r>
              <a:rPr lang="en-US" altLang="zh-CN" dirty="0"/>
              <a:t> VARCHAR(255),</a:t>
            </a:r>
            <a:endParaRPr lang="en-US" altLang="zh-CN" dirty="0"/>
          </a:p>
          <a:p>
            <a:r>
              <a:rPr lang="en-US" altLang="zh-CN" dirty="0"/>
              <a:t>    published DATETIME,</a:t>
            </a:r>
            <a:endParaRPr lang="en-US" altLang="zh-CN" dirty="0"/>
          </a:p>
          <a:p>
            <a:r>
              <a:rPr lang="en-US" altLang="zh-CN" dirty="0"/>
              <a:t>    </a:t>
            </a:r>
            <a:r>
              <a:rPr lang="en-US" altLang="zh-CN" dirty="0" err="1"/>
              <a:t>lastModified</a:t>
            </a:r>
            <a:r>
              <a:rPr lang="en-US" altLang="zh-CN" dirty="0"/>
              <a:t> DATETIME,</a:t>
            </a:r>
            <a:endParaRPr lang="en-US" altLang="zh-CN" dirty="0"/>
          </a:p>
          <a:p>
            <a:r>
              <a:rPr lang="en-US" altLang="zh-CN" dirty="0"/>
              <a:t>    </a:t>
            </a:r>
            <a:r>
              <a:rPr lang="en-US" altLang="zh-CN" dirty="0" err="1"/>
              <a:t>vulnStatus</a:t>
            </a:r>
            <a:r>
              <a:rPr lang="en-US" altLang="zh-CN" dirty="0"/>
              <a:t> VARCHAR(50),</a:t>
            </a:r>
            <a:endParaRPr lang="en-US" altLang="zh-CN" dirty="0"/>
          </a:p>
          <a:p>
            <a:r>
              <a:rPr lang="en-US" altLang="zh-CN" dirty="0"/>
              <a:t>    </a:t>
            </a:r>
            <a:r>
              <a:rPr lang="en-US" altLang="zh-CN" dirty="0" err="1"/>
              <a:t>evaluatorComment</a:t>
            </a:r>
            <a:r>
              <a:rPr lang="en-US" altLang="zh-CN" dirty="0"/>
              <a:t> TEXT,</a:t>
            </a:r>
            <a:endParaRPr lang="en-US" altLang="zh-CN" dirty="0"/>
          </a:p>
          <a:p>
            <a:r>
              <a:rPr lang="en-US" altLang="zh-CN" dirty="0"/>
              <a:t>    </a:t>
            </a:r>
            <a:r>
              <a:rPr lang="en-US" altLang="zh-CN" dirty="0" err="1"/>
              <a:t>evaluatorImpact</a:t>
            </a:r>
            <a:r>
              <a:rPr lang="en-US" altLang="zh-CN" dirty="0"/>
              <a:t> TEXT,</a:t>
            </a:r>
            <a:endParaRPr lang="en-US" altLang="zh-CN" dirty="0"/>
          </a:p>
          <a:p>
            <a:r>
              <a:rPr lang="en-US" altLang="zh-CN" dirty="0"/>
              <a:t>    </a:t>
            </a:r>
            <a:r>
              <a:rPr lang="en-US" altLang="zh-CN" dirty="0" err="1"/>
              <a:t>evaluatorSolution</a:t>
            </a:r>
            <a:r>
              <a:rPr lang="en-US" altLang="zh-CN" dirty="0"/>
              <a:t> TEXT,</a:t>
            </a:r>
            <a:endParaRPr lang="en-US" altLang="zh-CN" dirty="0"/>
          </a:p>
          <a:p>
            <a:r>
              <a:rPr lang="en-US" altLang="zh-CN" dirty="0"/>
              <a:t>    </a:t>
            </a:r>
            <a:r>
              <a:rPr lang="en-US" altLang="zh-CN" dirty="0" err="1"/>
              <a:t>cisaActionDue</a:t>
            </a:r>
            <a:r>
              <a:rPr lang="en-US" altLang="zh-CN" dirty="0"/>
              <a:t> DATETIME,</a:t>
            </a:r>
            <a:endParaRPr lang="en-US" altLang="zh-CN" dirty="0"/>
          </a:p>
          <a:p>
            <a:r>
              <a:rPr lang="en-US" altLang="zh-CN" dirty="0"/>
              <a:t>    </a:t>
            </a:r>
            <a:r>
              <a:rPr lang="en-US" altLang="zh-CN" dirty="0" err="1"/>
              <a:t>cisaExploitAdd</a:t>
            </a:r>
            <a:r>
              <a:rPr lang="en-US" altLang="zh-CN" dirty="0"/>
              <a:t> DATETIME,</a:t>
            </a:r>
            <a:endParaRPr lang="en-US" altLang="zh-CN" dirty="0"/>
          </a:p>
          <a:p>
            <a:r>
              <a:rPr lang="en-US" altLang="zh-CN" dirty="0"/>
              <a:t>    </a:t>
            </a:r>
            <a:r>
              <a:rPr lang="en-US" altLang="zh-CN" dirty="0" err="1"/>
              <a:t>cisaRequiredAction</a:t>
            </a:r>
            <a:r>
              <a:rPr lang="en-US" altLang="zh-CN" dirty="0"/>
              <a:t> TEXT,</a:t>
            </a:r>
            <a:endParaRPr lang="en-US" altLang="zh-CN" dirty="0"/>
          </a:p>
          <a:p>
            <a:r>
              <a:rPr lang="en-US" altLang="zh-CN" dirty="0"/>
              <a:t>    </a:t>
            </a:r>
            <a:r>
              <a:rPr lang="en-US" altLang="zh-CN" dirty="0" err="1"/>
              <a:t>cisaVulnerabilityName</a:t>
            </a:r>
            <a:r>
              <a:rPr lang="en-US" altLang="zh-CN" dirty="0"/>
              <a:t> TEXT</a:t>
            </a:r>
            <a:endParaRPr lang="en-US" altLang="zh-CN" dirty="0"/>
          </a:p>
          <a:p>
            <a:r>
              <a:rPr lang="en-US" altLang="zh-CN" dirty="0"/>
              <a:t>);</a:t>
            </a:r>
            <a:endParaRPr lang="zh-CN" altLang="en-US" dirty="0"/>
          </a:p>
        </p:txBody>
      </p:sp>
      <p:sp>
        <p:nvSpPr>
          <p:cNvPr id="9" name="文本框 8"/>
          <p:cNvSpPr txBox="1"/>
          <p:nvPr/>
        </p:nvSpPr>
        <p:spPr>
          <a:xfrm>
            <a:off x="5327650" y="1305560"/>
            <a:ext cx="6096000" cy="2306955"/>
          </a:xfrm>
          <a:prstGeom prst="rect">
            <a:avLst/>
          </a:prstGeom>
          <a:noFill/>
        </p:spPr>
        <p:txBody>
          <a:bodyPr wrap="square" rtlCol="0" anchor="t">
            <a:spAutoFit/>
          </a:bodyPr>
          <a:lstStyle/>
          <a:p>
            <a:r>
              <a:rPr lang="en-US" altLang="zh-CN" dirty="0"/>
              <a:t>-- </a:t>
            </a:r>
            <a:r>
              <a:rPr lang="zh-CN" altLang="en-US" dirty="0"/>
              <a:t>描述（多语言）</a:t>
            </a:r>
            <a:endParaRPr lang="zh-CN" altLang="en-US" dirty="0"/>
          </a:p>
          <a:p>
            <a:r>
              <a:rPr lang="en-US" altLang="zh-CN" dirty="0">
                <a:solidFill>
                  <a:srgbClr val="FF0000"/>
                </a:solidFill>
              </a:rPr>
              <a:t>CREATE</a:t>
            </a:r>
            <a:r>
              <a:rPr lang="en-US" altLang="zh-CN" dirty="0"/>
              <a:t> TABLE IF NOT EXISTS Description (</a:t>
            </a:r>
            <a:endParaRPr lang="en-US" altLang="zh-CN" dirty="0"/>
          </a:p>
          <a:p>
            <a:r>
              <a:rPr lang="en-US" altLang="zh-CN" dirty="0"/>
              <a:t>    </a:t>
            </a:r>
            <a:r>
              <a:rPr lang="en-US" altLang="zh-CN" dirty="0" err="1"/>
              <a:t>cve_id</a:t>
            </a:r>
            <a:r>
              <a:rPr lang="en-US" altLang="zh-CN" dirty="0"/>
              <a:t> VARCHAR(50),</a:t>
            </a:r>
            <a:endParaRPr lang="en-US" altLang="zh-CN" dirty="0"/>
          </a:p>
          <a:p>
            <a:r>
              <a:rPr lang="en-US" altLang="zh-CN" dirty="0"/>
              <a:t>    lang VARCHAR(10),</a:t>
            </a:r>
            <a:endParaRPr lang="en-US" altLang="zh-CN" dirty="0"/>
          </a:p>
          <a:p>
            <a:r>
              <a:rPr lang="en-US" altLang="zh-CN" dirty="0"/>
              <a:t>    value TEXT,</a:t>
            </a:r>
            <a:endParaRPr lang="en-US" altLang="zh-CN" dirty="0"/>
          </a:p>
          <a:p>
            <a:r>
              <a:rPr lang="en-US" altLang="zh-CN" dirty="0"/>
              <a:t>    </a:t>
            </a:r>
            <a:r>
              <a:rPr lang="en-US" altLang="zh-CN" dirty="0">
                <a:solidFill>
                  <a:srgbClr val="FF0000"/>
                </a:solidFill>
              </a:rPr>
              <a:t>FOREIGN KEY (</a:t>
            </a:r>
            <a:r>
              <a:rPr lang="en-US" altLang="zh-CN" dirty="0" err="1">
                <a:solidFill>
                  <a:srgbClr val="FF0000"/>
                </a:solidFill>
              </a:rPr>
              <a:t>cve_id</a:t>
            </a:r>
            <a:r>
              <a:rPr lang="en-US" altLang="zh-CN" dirty="0">
                <a:solidFill>
                  <a:srgbClr val="FF0000"/>
                </a:solidFill>
              </a:rPr>
              <a:t>) REFERENCES </a:t>
            </a:r>
            <a:r>
              <a:rPr lang="en-US" altLang="zh-CN" dirty="0" err="1">
                <a:solidFill>
                  <a:srgbClr val="FF0000"/>
                </a:solidFill>
              </a:rPr>
              <a:t>CVEEntry</a:t>
            </a:r>
            <a:r>
              <a:rPr lang="en-US" altLang="zh-CN" dirty="0">
                <a:solidFill>
                  <a:srgbClr val="FF0000"/>
                </a:solidFill>
              </a:rPr>
              <a:t>(id) ON DELETE CASCADE</a:t>
            </a:r>
            <a:endParaRPr lang="en-US" altLang="zh-CN" dirty="0">
              <a:solidFill>
                <a:srgbClr val="FF0000"/>
              </a:solidFill>
            </a:endParaRPr>
          </a:p>
          <a:p>
            <a:r>
              <a:rPr lang="en-US" altLang="zh-CN" dirty="0"/>
              <a:t>);</a:t>
            </a:r>
            <a:endParaRPr lang="zh-CN" altLang="en-US" dirty="0"/>
          </a:p>
        </p:txBody>
      </p:sp>
      <p:sp>
        <p:nvSpPr>
          <p:cNvPr id="11" name="文本框 10"/>
          <p:cNvSpPr txBox="1"/>
          <p:nvPr/>
        </p:nvSpPr>
        <p:spPr>
          <a:xfrm>
            <a:off x="5327650" y="4000500"/>
            <a:ext cx="6096000" cy="2030095"/>
          </a:xfrm>
          <a:prstGeom prst="rect">
            <a:avLst/>
          </a:prstGeom>
          <a:noFill/>
        </p:spPr>
        <p:txBody>
          <a:bodyPr wrap="square" rtlCol="0" anchor="t">
            <a:spAutoFit/>
          </a:bodyPr>
          <a:lstStyle/>
          <a:p>
            <a:r>
              <a:rPr lang="en-US" altLang="zh-CN" dirty="0"/>
              <a:t>-- </a:t>
            </a:r>
            <a:r>
              <a:rPr lang="zh-CN" altLang="en-US" dirty="0"/>
              <a:t>向量数据（预留，</a:t>
            </a:r>
            <a:r>
              <a:rPr lang="en-US" altLang="zh-CN" dirty="0"/>
              <a:t>JSON </a:t>
            </a:r>
            <a:r>
              <a:rPr lang="zh-CN" altLang="en-US" dirty="0"/>
              <a:t>存储或向量索引）</a:t>
            </a:r>
            <a:endParaRPr lang="zh-CN" altLang="en-US" dirty="0"/>
          </a:p>
          <a:p>
            <a:r>
              <a:rPr lang="en-US" altLang="zh-CN" dirty="0">
                <a:solidFill>
                  <a:srgbClr val="FF0000"/>
                </a:solidFill>
              </a:rPr>
              <a:t>CREATE</a:t>
            </a:r>
            <a:r>
              <a:rPr lang="en-US" altLang="zh-CN" dirty="0"/>
              <a:t> TABLE IF NOT EXISTS </a:t>
            </a:r>
            <a:r>
              <a:rPr lang="en-US" altLang="zh-CN" dirty="0" err="1"/>
              <a:t>VectorEmbedding</a:t>
            </a:r>
            <a:r>
              <a:rPr lang="en-US" altLang="zh-CN" dirty="0"/>
              <a:t> (</a:t>
            </a:r>
            <a:endParaRPr lang="en-US" altLang="zh-CN" dirty="0"/>
          </a:p>
          <a:p>
            <a:r>
              <a:rPr lang="en-US" altLang="zh-CN" dirty="0"/>
              <a:t>    </a:t>
            </a:r>
            <a:r>
              <a:rPr lang="en-US" altLang="zh-CN" dirty="0" err="1"/>
              <a:t>cve_id</a:t>
            </a:r>
            <a:r>
              <a:rPr lang="en-US" altLang="zh-CN" dirty="0"/>
              <a:t> VARCHAR(50) PRIMARY KEY,</a:t>
            </a:r>
            <a:endParaRPr lang="en-US" altLang="zh-CN" dirty="0"/>
          </a:p>
          <a:p>
            <a:r>
              <a:rPr lang="en-US" altLang="zh-CN" dirty="0"/>
              <a:t>    embedding BLOB,</a:t>
            </a:r>
            <a:endParaRPr lang="en-US" altLang="zh-CN" dirty="0"/>
          </a:p>
          <a:p>
            <a:r>
              <a:rPr lang="en-US" altLang="zh-CN" dirty="0"/>
              <a:t>    </a:t>
            </a:r>
            <a:r>
              <a:rPr lang="en-US" altLang="zh-CN" dirty="0">
                <a:solidFill>
                  <a:srgbClr val="FF0000"/>
                </a:solidFill>
              </a:rPr>
              <a:t>FOREIGN KEY (</a:t>
            </a:r>
            <a:r>
              <a:rPr lang="en-US" altLang="zh-CN" dirty="0" err="1">
                <a:solidFill>
                  <a:srgbClr val="FF0000"/>
                </a:solidFill>
              </a:rPr>
              <a:t>cve_id</a:t>
            </a:r>
            <a:r>
              <a:rPr lang="en-US" altLang="zh-CN" dirty="0">
                <a:solidFill>
                  <a:srgbClr val="FF0000"/>
                </a:solidFill>
              </a:rPr>
              <a:t>) REFERENCES </a:t>
            </a:r>
            <a:r>
              <a:rPr lang="en-US" altLang="zh-CN" dirty="0" err="1">
                <a:solidFill>
                  <a:srgbClr val="FF0000"/>
                </a:solidFill>
              </a:rPr>
              <a:t>CVEEntry</a:t>
            </a:r>
            <a:r>
              <a:rPr lang="en-US" altLang="zh-CN" dirty="0">
                <a:solidFill>
                  <a:srgbClr val="FF0000"/>
                </a:solidFill>
              </a:rPr>
              <a:t>(id) ON DELETE CASCADE</a:t>
            </a:r>
            <a:endParaRPr lang="en-US" altLang="zh-CN" dirty="0">
              <a:solidFill>
                <a:srgbClr val="FF0000"/>
              </a:solidFill>
            </a:endParaRPr>
          </a:p>
          <a:p>
            <a:r>
              <a:rPr lang="en-US" altLang="zh-CN"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insert</a:t>
            </a:r>
            <a:endParaRPr lang="en-US" altLang="zh-CN" sz="2800" dirty="0"/>
          </a:p>
        </p:txBody>
      </p:sp>
      <p:sp>
        <p:nvSpPr>
          <p:cNvPr id="2" name="文本框 1"/>
          <p:cNvSpPr txBox="1"/>
          <p:nvPr/>
        </p:nvSpPr>
        <p:spPr>
          <a:xfrm>
            <a:off x="669925" y="1165225"/>
            <a:ext cx="9144000" cy="4892675"/>
          </a:xfrm>
          <a:prstGeom prst="rect">
            <a:avLst/>
          </a:prstGeom>
          <a:noFill/>
        </p:spPr>
        <p:txBody>
          <a:bodyPr wrap="square" rtlCol="0" anchor="t">
            <a:spAutoFit/>
          </a:bodyPr>
          <a:lstStyle/>
          <a:p>
            <a:r>
              <a:rPr lang="en-US" altLang="zh-CN" sz="1200" dirty="0"/>
              <a:t>/* 1. </a:t>
            </a:r>
            <a:r>
              <a:rPr lang="zh-CN" altLang="en-US" sz="1200" dirty="0"/>
              <a:t>漏洞类别及其正则</a:t>
            </a:r>
            <a:r>
              <a:rPr lang="en-US" altLang="zh-CN" sz="1200" dirty="0"/>
              <a:t> */</a:t>
            </a:r>
            <a:endParaRPr lang="en-US" altLang="zh-CN" sz="1200" dirty="0"/>
          </a:p>
          <a:p>
            <a:r>
              <a:rPr lang="en-US" altLang="zh-CN" sz="1200" dirty="0"/>
              <a:t>DROP TABLE IF EXISTS </a:t>
            </a:r>
            <a:r>
              <a:rPr lang="en-US" altLang="zh-CN" sz="1200" dirty="0" err="1"/>
              <a:t>category_lookup</a:t>
            </a:r>
            <a:r>
              <a:rPr lang="en-US" altLang="zh-CN" sz="1200" dirty="0"/>
              <a:t>;</a:t>
            </a:r>
            <a:endParaRPr lang="en-US" altLang="zh-CN" sz="1200" dirty="0"/>
          </a:p>
          <a:p>
            <a:r>
              <a:rPr lang="en-US" altLang="zh-CN" sz="1200" dirty="0"/>
              <a:t>CREATE TABLE </a:t>
            </a:r>
            <a:r>
              <a:rPr lang="en-US" altLang="zh-CN" sz="1200" dirty="0" err="1"/>
              <a:t>category_lookup</a:t>
            </a:r>
            <a:r>
              <a:rPr lang="en-US" altLang="zh-CN" sz="1200" dirty="0"/>
              <a:t> (</a:t>
            </a:r>
            <a:endParaRPr lang="en-US" altLang="zh-CN" sz="1200" dirty="0"/>
          </a:p>
          <a:p>
            <a:r>
              <a:rPr lang="en-US" altLang="zh-CN" sz="1200" dirty="0"/>
              <a:t>    </a:t>
            </a:r>
            <a:r>
              <a:rPr lang="en-US" altLang="zh-CN" sz="1200" dirty="0" err="1"/>
              <a:t>category_id</a:t>
            </a:r>
            <a:r>
              <a:rPr lang="en-US" altLang="zh-CN" sz="1200" dirty="0"/>
              <a:t>   INT PRIMARY KEY AUTO_INCREMENT,</a:t>
            </a:r>
            <a:endParaRPr lang="en-US" altLang="zh-CN" sz="1200" dirty="0"/>
          </a:p>
          <a:p>
            <a:r>
              <a:rPr lang="en-US" altLang="zh-CN" sz="1200" dirty="0"/>
              <a:t>    </a:t>
            </a:r>
            <a:r>
              <a:rPr lang="en-US" altLang="zh-CN" sz="1200" dirty="0" err="1"/>
              <a:t>category_name</a:t>
            </a:r>
            <a:r>
              <a:rPr lang="en-US" altLang="zh-CN" sz="1200" dirty="0"/>
              <a:t> VARCHAR(40) NOT NULL,</a:t>
            </a:r>
            <a:endParaRPr lang="en-US" altLang="zh-CN" sz="1200" dirty="0"/>
          </a:p>
          <a:p>
            <a:r>
              <a:rPr lang="en-US" altLang="zh-CN" sz="1200" dirty="0"/>
              <a:t>    pattern       VARCHAR(255) NOT NULL        -- ICU/PCRE </a:t>
            </a:r>
            <a:r>
              <a:rPr lang="zh-CN" altLang="en-US" sz="1200" dirty="0"/>
              <a:t>兼容正则</a:t>
            </a:r>
            <a:endParaRPr lang="zh-CN" altLang="en-US" sz="1200" dirty="0"/>
          </a:p>
          <a:p>
            <a:r>
              <a:rPr lang="en-US" altLang="zh-CN" sz="1200" dirty="0"/>
              <a:t>);</a:t>
            </a:r>
            <a:endParaRPr lang="en-US" altLang="zh-CN" sz="1200" dirty="0"/>
          </a:p>
          <a:p>
            <a:endParaRPr lang="en-US" altLang="zh-CN" sz="1200" dirty="0"/>
          </a:p>
          <a:p>
            <a:r>
              <a:rPr lang="en-US" altLang="zh-CN" sz="1200" dirty="0">
                <a:solidFill>
                  <a:srgbClr val="FF0000"/>
                </a:solidFill>
              </a:rPr>
              <a:t>INSERT</a:t>
            </a:r>
            <a:r>
              <a:rPr lang="en-US" altLang="zh-CN" sz="1200" dirty="0"/>
              <a:t> INTO </a:t>
            </a:r>
            <a:r>
              <a:rPr lang="en-US" altLang="zh-CN" sz="1200" dirty="0" err="1"/>
              <a:t>category_lookup</a:t>
            </a:r>
            <a:r>
              <a:rPr lang="en-US" altLang="zh-CN" sz="1200" dirty="0"/>
              <a:t> (</a:t>
            </a:r>
            <a:r>
              <a:rPr lang="en-US" altLang="zh-CN" sz="1200" dirty="0" err="1"/>
              <a:t>category_name</a:t>
            </a:r>
            <a:r>
              <a:rPr lang="en-US" altLang="zh-CN" sz="1200" dirty="0"/>
              <a:t>, pattern) VALUES</a:t>
            </a:r>
            <a:endParaRPr lang="en-US" altLang="zh-CN" sz="1200" dirty="0"/>
          </a:p>
          <a:p>
            <a:r>
              <a:rPr lang="en-US" altLang="zh-CN" sz="1200" dirty="0"/>
              <a:t>  ('Overflow',               '(?</a:t>
            </a:r>
            <a:r>
              <a:rPr lang="en-US" altLang="zh-CN" sz="1200" dirty="0" err="1"/>
              <a:t>i</a:t>
            </a:r>
            <a:r>
              <a:rPr lang="en-US" altLang="zh-CN" sz="1200" dirty="0"/>
              <a:t>)(</a:t>
            </a:r>
            <a:r>
              <a:rPr lang="en-US" altLang="zh-CN" sz="1200" dirty="0" err="1"/>
              <a:t>stack|heap|integer</a:t>
            </a:r>
            <a:r>
              <a:rPr lang="en-US" altLang="zh-CN" sz="1200" dirty="0"/>
              <a:t>)?\\s*overflow'),</a:t>
            </a:r>
            <a:endParaRPr lang="en-US" altLang="zh-CN" sz="1200" dirty="0"/>
          </a:p>
          <a:p>
            <a:r>
              <a:rPr lang="en-US" altLang="zh-CN" sz="1200" dirty="0"/>
              <a:t>  ('File Inclusion',         '(?</a:t>
            </a:r>
            <a:r>
              <a:rPr lang="en-US" altLang="zh-CN" sz="1200" dirty="0" err="1"/>
              <a:t>i</a:t>
            </a:r>
            <a:r>
              <a:rPr lang="en-US" altLang="zh-CN" sz="1200" dirty="0"/>
              <a:t>)file\\</a:t>
            </a:r>
            <a:r>
              <a:rPr lang="en-US" altLang="zh-CN" sz="1200" dirty="0" err="1"/>
              <a:t>s+inclusion</a:t>
            </a:r>
            <a:r>
              <a:rPr lang="en-US" altLang="zh-CN" sz="1200" dirty="0"/>
              <a:t>'),</a:t>
            </a:r>
            <a:endParaRPr lang="en-US" altLang="zh-CN" sz="1200" dirty="0"/>
          </a:p>
          <a:p>
            <a:r>
              <a:rPr lang="en-US" altLang="zh-CN" sz="1200" dirty="0"/>
              <a:t>  ('Create code',            '(?</a:t>
            </a:r>
            <a:r>
              <a:rPr lang="en-US" altLang="zh-CN" sz="1200" dirty="0" err="1"/>
              <a:t>i</a:t>
            </a:r>
            <a:r>
              <a:rPr lang="en-US" altLang="zh-CN" sz="1200" dirty="0"/>
              <a:t>)(</a:t>
            </a:r>
            <a:r>
              <a:rPr lang="en-US" altLang="zh-CN" sz="1200" dirty="0" err="1"/>
              <a:t>arbitrary|remote|malicious</a:t>
            </a:r>
            <a:r>
              <a:rPr lang="en-US" altLang="zh-CN" sz="1200" dirty="0"/>
              <a:t>)\\</a:t>
            </a:r>
            <a:r>
              <a:rPr lang="en-US" altLang="zh-CN" sz="1200" dirty="0" err="1"/>
              <a:t>s+code</a:t>
            </a:r>
            <a:r>
              <a:rPr lang="en-US" altLang="zh-CN" sz="1200" dirty="0"/>
              <a:t>\\s+(</a:t>
            </a:r>
            <a:r>
              <a:rPr lang="en-US" altLang="zh-CN" sz="1200" dirty="0" err="1"/>
              <a:t>execution|injection|creation</a:t>
            </a:r>
            <a:r>
              <a:rPr lang="en-US" altLang="zh-CN" sz="1200" dirty="0"/>
              <a:t>)'),</a:t>
            </a:r>
            <a:endParaRPr lang="en-US" altLang="zh-CN" sz="1200" dirty="0"/>
          </a:p>
          <a:p>
            <a:r>
              <a:rPr lang="en-US" altLang="zh-CN" sz="1200" dirty="0"/>
              <a:t>  ('Memory Corruption',      '(?</a:t>
            </a:r>
            <a:r>
              <a:rPr lang="en-US" altLang="zh-CN" sz="1200" dirty="0" err="1"/>
              <a:t>i</a:t>
            </a:r>
            <a:r>
              <a:rPr lang="en-US" altLang="zh-CN" sz="1200" dirty="0"/>
              <a:t>)memory\\</a:t>
            </a:r>
            <a:r>
              <a:rPr lang="en-US" altLang="zh-CN" sz="1200" dirty="0" err="1"/>
              <a:t>s+corruption</a:t>
            </a:r>
            <a:r>
              <a:rPr lang="en-US" altLang="zh-CN" sz="1200" dirty="0"/>
              <a:t>'),</a:t>
            </a:r>
            <a:endParaRPr lang="en-US" altLang="zh-CN" sz="1200" dirty="0"/>
          </a:p>
          <a:p>
            <a:r>
              <a:rPr lang="en-US" altLang="zh-CN" sz="1200" dirty="0"/>
              <a:t>  ('CSRF',                   '(?</a:t>
            </a:r>
            <a:r>
              <a:rPr lang="en-US" altLang="zh-CN" sz="1200" dirty="0" err="1"/>
              <a:t>i</a:t>
            </a:r>
            <a:r>
              <a:rPr lang="en-US" altLang="zh-CN" sz="1200" dirty="0"/>
              <a:t>)(cross[- ]site\\</a:t>
            </a:r>
            <a:r>
              <a:rPr lang="en-US" altLang="zh-CN" sz="1200" dirty="0" err="1"/>
              <a:t>s+request</a:t>
            </a:r>
            <a:r>
              <a:rPr lang="en-US" altLang="zh-CN" sz="1200" dirty="0"/>
              <a:t>\\</a:t>
            </a:r>
            <a:r>
              <a:rPr lang="en-US" altLang="zh-CN" sz="1200" dirty="0" err="1"/>
              <a:t>s+forgery</a:t>
            </a:r>
            <a:r>
              <a:rPr lang="en-US" altLang="zh-CN" sz="1200" dirty="0"/>
              <a:t>|\\</a:t>
            </a:r>
            <a:r>
              <a:rPr lang="en-US" altLang="zh-CN" sz="1200" dirty="0" err="1"/>
              <a:t>bcsrf</a:t>
            </a:r>
            <a:r>
              <a:rPr lang="en-US" altLang="zh-CN" sz="1200" dirty="0"/>
              <a:t>\\b)'),</a:t>
            </a:r>
            <a:endParaRPr lang="en-US" altLang="zh-CN" sz="1200" dirty="0"/>
          </a:p>
          <a:p>
            <a:r>
              <a:rPr lang="en-US" altLang="zh-CN" sz="1200" dirty="0"/>
              <a:t>  ('Bypass',                 '(?</a:t>
            </a:r>
            <a:r>
              <a:rPr lang="en-US" altLang="zh-CN" sz="1200" dirty="0" err="1"/>
              <a:t>i</a:t>
            </a:r>
            <a:r>
              <a:rPr lang="en-US" altLang="zh-CN" sz="1200" dirty="0"/>
              <a:t>)authentication\\</a:t>
            </a:r>
            <a:r>
              <a:rPr lang="en-US" altLang="zh-CN" sz="1200" dirty="0" err="1"/>
              <a:t>s+bypass|access</a:t>
            </a:r>
            <a:r>
              <a:rPr lang="en-US" altLang="zh-CN" sz="1200" dirty="0"/>
              <a:t>\\</a:t>
            </a:r>
            <a:r>
              <a:rPr lang="en-US" altLang="zh-CN" sz="1200" dirty="0" err="1"/>
              <a:t>s+bypass|security</a:t>
            </a:r>
            <a:r>
              <a:rPr lang="en-US" altLang="zh-CN" sz="1200" dirty="0"/>
              <a:t>\\</a:t>
            </a:r>
            <a:r>
              <a:rPr lang="en-US" altLang="zh-CN" sz="1200" dirty="0" err="1"/>
              <a:t>s+bypass</a:t>
            </a:r>
            <a:r>
              <a:rPr lang="en-US" altLang="zh-CN" sz="1200" dirty="0"/>
              <a:t>'),</a:t>
            </a:r>
            <a:endParaRPr lang="en-US" altLang="zh-CN" sz="1200" dirty="0"/>
          </a:p>
          <a:p>
            <a:r>
              <a:rPr lang="en-US" altLang="zh-CN" sz="1200" dirty="0"/>
              <a:t>  ('SQL Injection',          '(?</a:t>
            </a:r>
            <a:r>
              <a:rPr lang="en-US" altLang="zh-CN" sz="1200" dirty="0" err="1"/>
              <a:t>i</a:t>
            </a:r>
            <a:r>
              <a:rPr lang="en-US" altLang="zh-CN" sz="1200" dirty="0"/>
              <a:t>)</a:t>
            </a:r>
            <a:r>
              <a:rPr lang="en-US" altLang="zh-CN" sz="1200" dirty="0" err="1"/>
              <a:t>sql</a:t>
            </a:r>
            <a:r>
              <a:rPr lang="en-US" altLang="zh-CN" sz="1200" dirty="0"/>
              <a:t>\\</a:t>
            </a:r>
            <a:r>
              <a:rPr lang="en-US" altLang="zh-CN" sz="1200" dirty="0" err="1"/>
              <a:t>s+injection</a:t>
            </a:r>
            <a:r>
              <a:rPr lang="en-US" altLang="zh-CN" sz="1200" dirty="0"/>
              <a:t>|\\</a:t>
            </a:r>
            <a:r>
              <a:rPr lang="en-US" altLang="zh-CN" sz="1200" dirty="0" err="1"/>
              <a:t>bsqli</a:t>
            </a:r>
            <a:r>
              <a:rPr lang="en-US" altLang="zh-CN" sz="1200" dirty="0"/>
              <a:t>\\b'),</a:t>
            </a:r>
            <a:endParaRPr lang="en-US" altLang="zh-CN" sz="1200" dirty="0"/>
          </a:p>
          <a:p>
            <a:r>
              <a:rPr lang="en-US" altLang="zh-CN" sz="1200" dirty="0"/>
              <a:t>  ('XXE',                    '(?</a:t>
            </a:r>
            <a:r>
              <a:rPr lang="en-US" altLang="zh-CN" sz="1200" dirty="0" err="1"/>
              <a:t>i</a:t>
            </a:r>
            <a:r>
              <a:rPr lang="en-US" altLang="zh-CN" sz="1200" dirty="0"/>
              <a:t>)(xml\\</a:t>
            </a:r>
            <a:r>
              <a:rPr lang="en-US" altLang="zh-CN" sz="1200" dirty="0" err="1"/>
              <a:t>s+external</a:t>
            </a:r>
            <a:r>
              <a:rPr lang="en-US" altLang="zh-CN" sz="1200" dirty="0"/>
              <a:t>\\</a:t>
            </a:r>
            <a:r>
              <a:rPr lang="en-US" altLang="zh-CN" sz="1200" dirty="0" err="1"/>
              <a:t>s+entity</a:t>
            </a:r>
            <a:r>
              <a:rPr lang="en-US" altLang="zh-CN" sz="1200" dirty="0"/>
              <a:t>|\\</a:t>
            </a:r>
            <a:r>
              <a:rPr lang="en-US" altLang="zh-CN" sz="1200" dirty="0" err="1"/>
              <a:t>bxxe</a:t>
            </a:r>
            <a:r>
              <a:rPr lang="en-US" altLang="zh-CN" sz="1200" dirty="0"/>
              <a:t>\\b)'),</a:t>
            </a:r>
            <a:endParaRPr lang="en-US" altLang="zh-CN" sz="1200" dirty="0"/>
          </a:p>
          <a:p>
            <a:r>
              <a:rPr lang="en-US" altLang="zh-CN" sz="1200" dirty="0"/>
              <a:t>  ('Privilege escalation',   '(?</a:t>
            </a:r>
            <a:r>
              <a:rPr lang="en-US" altLang="zh-CN" sz="1200" dirty="0" err="1"/>
              <a:t>i</a:t>
            </a:r>
            <a:r>
              <a:rPr lang="en-US" altLang="zh-CN" sz="1200" dirty="0"/>
              <a:t>)privilege\\</a:t>
            </a:r>
            <a:r>
              <a:rPr lang="en-US" altLang="zh-CN" sz="1200" dirty="0" err="1"/>
              <a:t>s+escalation|elevat</a:t>
            </a:r>
            <a:r>
              <a:rPr lang="en-US" altLang="zh-CN" sz="1200" dirty="0"/>
              <a:t>(</a:t>
            </a:r>
            <a:r>
              <a:rPr lang="en-US" altLang="zh-CN" sz="1200" dirty="0" err="1"/>
              <a:t>e|ion</a:t>
            </a:r>
            <a:r>
              <a:rPr lang="en-US" altLang="zh-CN" sz="1200" dirty="0"/>
              <a:t>)\\</a:t>
            </a:r>
            <a:r>
              <a:rPr lang="en-US" altLang="zh-CN" sz="1200" dirty="0" err="1"/>
              <a:t>s+privileges</a:t>
            </a:r>
            <a:r>
              <a:rPr lang="en-US" altLang="zh-CN" sz="1200" dirty="0"/>
              <a:t>'),</a:t>
            </a:r>
            <a:endParaRPr lang="en-US" altLang="zh-CN" sz="1200" dirty="0"/>
          </a:p>
          <a:p>
            <a:r>
              <a:rPr lang="en-US" altLang="zh-CN" sz="1200" dirty="0"/>
              <a:t>  ('XSS',                    '(?</a:t>
            </a:r>
            <a:r>
              <a:rPr lang="en-US" altLang="zh-CN" sz="1200" dirty="0" err="1"/>
              <a:t>i</a:t>
            </a:r>
            <a:r>
              <a:rPr lang="en-US" altLang="zh-CN" sz="1200" dirty="0"/>
              <a:t>)(cross[- ]site\\</a:t>
            </a:r>
            <a:r>
              <a:rPr lang="en-US" altLang="zh-CN" sz="1200" dirty="0" err="1"/>
              <a:t>s+scripting</a:t>
            </a:r>
            <a:r>
              <a:rPr lang="en-US" altLang="zh-CN" sz="1200" dirty="0"/>
              <a:t>|\\</a:t>
            </a:r>
            <a:r>
              <a:rPr lang="en-US" altLang="zh-CN" sz="1200" dirty="0" err="1"/>
              <a:t>bxss</a:t>
            </a:r>
            <a:r>
              <a:rPr lang="en-US" altLang="zh-CN" sz="1200" dirty="0"/>
              <a:t>\\b)'),</a:t>
            </a:r>
            <a:endParaRPr lang="en-US" altLang="zh-CN" sz="1200" dirty="0"/>
          </a:p>
          <a:p>
            <a:r>
              <a:rPr lang="en-US" altLang="zh-CN" sz="1200" dirty="0"/>
              <a:t>  ('SSRF',                   '(?</a:t>
            </a:r>
            <a:r>
              <a:rPr lang="en-US" altLang="zh-CN" sz="1200" dirty="0" err="1"/>
              <a:t>i</a:t>
            </a:r>
            <a:r>
              <a:rPr lang="en-US" altLang="zh-CN" sz="1200" dirty="0"/>
              <a:t>)(server[- ]side\\</a:t>
            </a:r>
            <a:r>
              <a:rPr lang="en-US" altLang="zh-CN" sz="1200" dirty="0" err="1"/>
              <a:t>s+request</a:t>
            </a:r>
            <a:r>
              <a:rPr lang="en-US" altLang="zh-CN" sz="1200" dirty="0"/>
              <a:t>\\</a:t>
            </a:r>
            <a:r>
              <a:rPr lang="en-US" altLang="zh-CN" sz="1200" dirty="0" err="1"/>
              <a:t>s+forgery</a:t>
            </a:r>
            <a:r>
              <a:rPr lang="en-US" altLang="zh-CN" sz="1200" dirty="0"/>
              <a:t>|\\</a:t>
            </a:r>
            <a:r>
              <a:rPr lang="en-US" altLang="zh-CN" sz="1200" dirty="0" err="1"/>
              <a:t>bssrf</a:t>
            </a:r>
            <a:r>
              <a:rPr lang="en-US" altLang="zh-CN" sz="1200" dirty="0"/>
              <a:t>\\b)'),</a:t>
            </a:r>
            <a:endParaRPr lang="en-US" altLang="zh-CN" sz="1200" dirty="0"/>
          </a:p>
          <a:p>
            <a:r>
              <a:rPr lang="en-US" altLang="zh-CN" sz="1200" dirty="0"/>
              <a:t>  ('Denial of service',      '(?</a:t>
            </a:r>
            <a:r>
              <a:rPr lang="en-US" altLang="zh-CN" sz="1200" dirty="0" err="1"/>
              <a:t>i</a:t>
            </a:r>
            <a:r>
              <a:rPr lang="en-US" altLang="zh-CN" sz="1200" dirty="0"/>
              <a:t>)(denial[- ]of[- ]service|\\</a:t>
            </a:r>
            <a:r>
              <a:rPr lang="en-US" altLang="zh-CN" sz="1200" dirty="0" err="1"/>
              <a:t>bdos</a:t>
            </a:r>
            <a:r>
              <a:rPr lang="en-US" altLang="zh-CN" sz="1200" dirty="0"/>
              <a:t>\\b|\\bd\\.o\\.s\\b)'),</a:t>
            </a:r>
            <a:endParaRPr lang="en-US" altLang="zh-CN" sz="1200" dirty="0"/>
          </a:p>
          <a:p>
            <a:r>
              <a:rPr lang="en-US" altLang="zh-CN" sz="1200" dirty="0"/>
              <a:t>  ('Directory Traversal',    '(?</a:t>
            </a:r>
            <a:r>
              <a:rPr lang="en-US" altLang="zh-CN" sz="1200" dirty="0" err="1"/>
              <a:t>i</a:t>
            </a:r>
            <a:r>
              <a:rPr lang="en-US" altLang="zh-CN" sz="1200" dirty="0"/>
              <a:t>)(</a:t>
            </a:r>
            <a:r>
              <a:rPr lang="en-US" altLang="zh-CN" sz="1200" dirty="0" err="1"/>
              <a:t>directory|path</a:t>
            </a:r>
            <a:r>
              <a:rPr lang="en-US" altLang="zh-CN" sz="1200" dirty="0"/>
              <a:t>)\\</a:t>
            </a:r>
            <a:r>
              <a:rPr lang="en-US" altLang="zh-CN" sz="1200" dirty="0" err="1"/>
              <a:t>s+traversal</a:t>
            </a:r>
            <a:r>
              <a:rPr lang="en-US" altLang="zh-CN" sz="1200" dirty="0"/>
              <a:t>'),</a:t>
            </a:r>
            <a:endParaRPr lang="en-US" altLang="zh-CN" sz="1200" dirty="0"/>
          </a:p>
          <a:p>
            <a:r>
              <a:rPr lang="en-US" altLang="zh-CN" sz="1200" dirty="0"/>
              <a:t>  ('Open redirect',          '(?</a:t>
            </a:r>
            <a:r>
              <a:rPr lang="en-US" altLang="zh-CN" sz="1200" dirty="0" err="1"/>
              <a:t>i</a:t>
            </a:r>
            <a:r>
              <a:rPr lang="en-US" altLang="zh-CN" sz="1200" dirty="0"/>
              <a:t>)open\\</a:t>
            </a:r>
            <a:r>
              <a:rPr lang="en-US" altLang="zh-CN" sz="1200" dirty="0" err="1"/>
              <a:t>s+redirect</a:t>
            </a:r>
            <a:r>
              <a:rPr lang="en-US" altLang="zh-CN" sz="1200" dirty="0"/>
              <a:t>'),</a:t>
            </a:r>
            <a:endParaRPr lang="en-US" altLang="zh-CN" sz="1200" dirty="0"/>
          </a:p>
          <a:p>
            <a:r>
              <a:rPr lang="en-US" altLang="zh-CN" sz="1200" dirty="0"/>
              <a:t>  ('Information leak',       '(?</a:t>
            </a:r>
            <a:r>
              <a:rPr lang="en-US" altLang="zh-CN" sz="1200" dirty="0" err="1"/>
              <a:t>i</a:t>
            </a:r>
            <a:r>
              <a:rPr lang="en-US" altLang="zh-CN" sz="1200" dirty="0"/>
              <a:t>)information\\s+(</a:t>
            </a:r>
            <a:r>
              <a:rPr lang="en-US" altLang="zh-CN" sz="1200" dirty="0" err="1"/>
              <a:t>leak|disclosure</a:t>
            </a:r>
            <a:r>
              <a:rPr lang="en-US" altLang="zh-CN" sz="1200" dirty="0"/>
              <a:t>)'),</a:t>
            </a:r>
            <a:endParaRPr lang="en-US" altLang="zh-CN" sz="1200" dirty="0"/>
          </a:p>
          <a:p>
            <a:r>
              <a:rPr lang="en-US" altLang="zh-CN" sz="1200" dirty="0"/>
              <a:t>  ('Input validation',       '(?</a:t>
            </a:r>
            <a:r>
              <a:rPr lang="en-US" altLang="zh-CN" sz="1200" dirty="0" err="1"/>
              <a:t>i</a:t>
            </a:r>
            <a:r>
              <a:rPr lang="en-US" altLang="zh-CN" sz="1200" dirty="0"/>
              <a:t>)(</a:t>
            </a:r>
            <a:r>
              <a:rPr lang="en-US" altLang="zh-CN" sz="1200" dirty="0" err="1"/>
              <a:t>improper|insufficient</a:t>
            </a:r>
            <a:r>
              <a:rPr lang="en-US" altLang="zh-CN" sz="1200" dirty="0"/>
              <a:t>)\\</a:t>
            </a:r>
            <a:r>
              <a:rPr lang="en-US" altLang="zh-CN" sz="1200" dirty="0" err="1"/>
              <a:t>s+input</a:t>
            </a:r>
            <a:r>
              <a:rPr lang="en-US" altLang="zh-CN" sz="1200" dirty="0"/>
              <a:t>\\</a:t>
            </a:r>
            <a:r>
              <a:rPr lang="en-US" altLang="zh-CN" sz="1200" dirty="0" err="1"/>
              <a:t>s+validation|unsanitized</a:t>
            </a:r>
            <a:r>
              <a:rPr lang="en-US" altLang="zh-CN" sz="1200" dirty="0"/>
              <a:t>\\</a:t>
            </a:r>
            <a:r>
              <a:rPr lang="en-US" altLang="zh-CN" sz="1200" dirty="0" err="1"/>
              <a:t>s+input</a:t>
            </a:r>
            <a:r>
              <a:rPr lang="en-US" altLang="zh-CN" sz="1200" dirty="0"/>
              <a:t>');</a:t>
            </a:r>
            <a:endParaRPr lang="en-US" altLang="zh-CN" sz="1200" dirty="0"/>
          </a:p>
          <a:p>
            <a:r>
              <a:rPr lang="en-US" altLang="zh-CN" sz="1200" dirty="0"/>
              <a:t>  </a:t>
            </a:r>
            <a:endParaRPr lang="en-US" altLang="zh-CN" sz="1200" dirty="0"/>
          </a:p>
        </p:txBody>
      </p:sp>
      <p:pic>
        <p:nvPicPr>
          <p:cNvPr id="4" name="图片 3"/>
          <p:cNvPicPr>
            <a:picLocks noChangeAspect="1"/>
          </p:cNvPicPr>
          <p:nvPr/>
        </p:nvPicPr>
        <p:blipFill>
          <a:blip r:embed="rId1"/>
          <a:stretch>
            <a:fillRect/>
          </a:stretch>
        </p:blipFill>
        <p:spPr>
          <a:xfrm>
            <a:off x="6416040" y="1515745"/>
            <a:ext cx="4381500" cy="1200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update</a:t>
            </a:r>
            <a:endParaRPr lang="en-US" altLang="zh-CN" sz="2800" dirty="0"/>
          </a:p>
        </p:txBody>
      </p:sp>
      <p:sp>
        <p:nvSpPr>
          <p:cNvPr id="6" name="文本框 5"/>
          <p:cNvSpPr txBox="1"/>
          <p:nvPr/>
        </p:nvSpPr>
        <p:spPr>
          <a:xfrm>
            <a:off x="669925" y="1160145"/>
            <a:ext cx="8058150" cy="3753485"/>
          </a:xfrm>
          <a:prstGeom prst="rect">
            <a:avLst/>
          </a:prstGeom>
          <a:noFill/>
        </p:spPr>
        <p:txBody>
          <a:bodyPr wrap="square" rtlCol="0" anchor="t">
            <a:spAutoFit/>
          </a:bodyPr>
          <a:lstStyle/>
          <a:p>
            <a:r>
              <a:rPr lang="en-US" altLang="zh-CN" sz="1400"/>
              <a:t>CREATE TABLE permissions (</a:t>
            </a:r>
            <a:endParaRPr lang="en-US" altLang="zh-CN" sz="1400"/>
          </a:p>
          <a:p>
            <a:r>
              <a:rPr lang="en-US" altLang="zh-CN" sz="1400"/>
              <a:t>    id           BIGINT UNSIGNED AUTO_INCREMENT PRIMARY KEY,</a:t>
            </a:r>
            <a:endParaRPr lang="en-US" altLang="zh-CN" sz="1400"/>
          </a:p>
          <a:p>
            <a:r>
              <a:rPr lang="en-US" altLang="zh-CN" sz="1400"/>
              <a:t>    user_id      BIGINT UNSIGNED NOT NULL,</a:t>
            </a:r>
            <a:endParaRPr lang="en-US" altLang="zh-CN" sz="1400"/>
          </a:p>
          <a:p>
            <a:r>
              <a:rPr lang="en-US" altLang="zh-CN" sz="1400"/>
              <a:t>    table_name   VARCHAR(64) NOT NULL,</a:t>
            </a:r>
            <a:endParaRPr lang="en-US" altLang="zh-CN" sz="1400"/>
          </a:p>
          <a:p>
            <a:r>
              <a:rPr lang="en-US" altLang="zh-CN" sz="1400"/>
              <a:t>    can_select   BOOLEAN DEFAULT FALSE,</a:t>
            </a:r>
            <a:endParaRPr lang="en-US" altLang="zh-CN" sz="1400"/>
          </a:p>
          <a:p>
            <a:r>
              <a:rPr lang="en-US" altLang="zh-CN" sz="1400"/>
              <a:t>    can_insert   BOOLEAN DEFAULT FALSE,</a:t>
            </a:r>
            <a:endParaRPr lang="en-US" altLang="zh-CN" sz="1400"/>
          </a:p>
          <a:p>
            <a:r>
              <a:rPr lang="en-US" altLang="zh-CN" sz="1400"/>
              <a:t>    can_update   BOOLEAN DEFAULT FALSE,</a:t>
            </a:r>
            <a:endParaRPr lang="en-US" altLang="zh-CN" sz="1400"/>
          </a:p>
          <a:p>
            <a:r>
              <a:rPr lang="en-US" altLang="zh-CN" sz="1400"/>
              <a:t>    can_delete   BOOLEAN DEFAULT FALSE,</a:t>
            </a:r>
            <a:endParaRPr lang="en-US" altLang="zh-CN" sz="1400"/>
          </a:p>
          <a:p>
            <a:r>
              <a:rPr lang="en-US" altLang="zh-CN" sz="1400"/>
              <a:t>    created_at   TIMESTAMP DEFAULT CURRENT_TIMESTAMP,</a:t>
            </a:r>
            <a:endParaRPr lang="en-US" altLang="zh-CN" sz="1400"/>
          </a:p>
          <a:p>
            <a:r>
              <a:rPr lang="en-US" altLang="zh-CN" sz="1400"/>
              <a:t>    updated_at   TIMESTAMP DEFAULT CURRENT_TIMESTAMP ON </a:t>
            </a:r>
            <a:r>
              <a:rPr lang="en-US" altLang="zh-CN" sz="1400">
                <a:solidFill>
                  <a:srgbClr val="FF0000"/>
                </a:solidFill>
              </a:rPr>
              <a:t>UPDATE CURRENT_TIMESTAMP,</a:t>
            </a:r>
            <a:endParaRPr lang="en-US" altLang="zh-CN" sz="1400">
              <a:solidFill>
                <a:srgbClr val="FF0000"/>
              </a:solidFill>
            </a:endParaRPr>
          </a:p>
          <a:p>
            <a:r>
              <a:rPr lang="en-US" altLang="zh-CN" sz="1400"/>
              <a:t>    CONSTRAINT fk_perm_user</a:t>
            </a:r>
            <a:endParaRPr lang="en-US" altLang="zh-CN" sz="1400"/>
          </a:p>
          <a:p>
            <a:r>
              <a:rPr lang="en-US" altLang="zh-CN" sz="1400"/>
              <a:t>        FOREIGN KEY (user_id) REFERENCES users(id)</a:t>
            </a:r>
            <a:endParaRPr lang="en-US" altLang="zh-CN" sz="1400"/>
          </a:p>
          <a:p>
            <a:r>
              <a:rPr lang="en-US" altLang="zh-CN" sz="1400"/>
              <a:t>        ON DELETE CASCADE</a:t>
            </a:r>
            <a:endParaRPr lang="en-US" altLang="zh-CN" sz="1400"/>
          </a:p>
          <a:p>
            <a:r>
              <a:rPr lang="en-US" altLang="zh-CN" sz="1400"/>
              <a:t>        ON UPDATE CASCADE,</a:t>
            </a:r>
            <a:endParaRPr lang="en-US" altLang="zh-CN" sz="1400"/>
          </a:p>
          <a:p>
            <a:r>
              <a:rPr lang="en-US" altLang="zh-CN" sz="1400"/>
              <a:t>    UNIQUE KEY uk_user_table (user_id, table_name)</a:t>
            </a:r>
            <a:endParaRPr lang="en-US" altLang="zh-CN" sz="1400"/>
          </a:p>
          <a:p>
            <a:r>
              <a:rPr lang="en-US" altLang="zh-CN" sz="1400"/>
              <a:t>) ENGINE=InnoDB DEFAULT CHARSET=utf8mb4;</a:t>
            </a:r>
            <a:endParaRPr lang="en-US" altLang="zh-CN" sz="1400"/>
          </a:p>
          <a:p>
            <a:endParaRPr lang="en-US" altLang="zh-CN" sz="1400"/>
          </a:p>
        </p:txBody>
      </p:sp>
      <p:sp>
        <p:nvSpPr>
          <p:cNvPr id="8" name="文本框 7"/>
          <p:cNvSpPr txBox="1"/>
          <p:nvPr/>
        </p:nvSpPr>
        <p:spPr>
          <a:xfrm>
            <a:off x="669925" y="4684395"/>
            <a:ext cx="7915910" cy="1568450"/>
          </a:xfrm>
          <a:prstGeom prst="rect">
            <a:avLst/>
          </a:prstGeom>
          <a:noFill/>
        </p:spPr>
        <p:txBody>
          <a:bodyPr wrap="square" rtlCol="0" anchor="t">
            <a:spAutoFit/>
          </a:bodyPr>
          <a:lstStyle/>
          <a:p>
            <a:r>
              <a:rPr lang="en-US" altLang="zh-CN" sz="1200">
                <a:solidFill>
                  <a:srgbClr val="FF0000"/>
                </a:solidFill>
              </a:rPr>
              <a:t>UPDATE metric</a:t>
            </a:r>
            <a:endParaRPr lang="en-US" altLang="zh-CN" sz="1200"/>
          </a:p>
          <a:p>
            <a:r>
              <a:rPr lang="en-US" altLang="zh-CN" sz="1200"/>
              <a:t>SET baseSeverity = CASE</a:t>
            </a:r>
            <a:endParaRPr lang="en-US" altLang="zh-CN" sz="1200"/>
          </a:p>
          <a:p>
            <a:r>
              <a:rPr lang="en-US" altLang="zh-CN" sz="1200"/>
              <a:t>    WHEN baseScore &lt; 4.0 THEN 'LOW'</a:t>
            </a:r>
            <a:endParaRPr lang="en-US" altLang="zh-CN" sz="1200"/>
          </a:p>
          <a:p>
            <a:r>
              <a:rPr lang="en-US" altLang="zh-CN" sz="1200"/>
              <a:t>    WHEN baseScore &gt;= 4.0 AND baseScore &lt; 7.0 THEN 'MEDIUM'</a:t>
            </a:r>
            <a:endParaRPr lang="en-US" altLang="zh-CN" sz="1200"/>
          </a:p>
          <a:p>
            <a:r>
              <a:rPr lang="en-US" altLang="zh-CN" sz="1200"/>
              <a:t>    WHEN baseScore &gt;= 7.0 THEN 'HIGH'</a:t>
            </a:r>
            <a:endParaRPr lang="en-US" altLang="zh-CN" sz="1200"/>
          </a:p>
          <a:p>
            <a:r>
              <a:rPr lang="en-US" altLang="zh-CN" sz="1200"/>
              <a:t>    ELSE baseSeverity -- </a:t>
            </a:r>
            <a:r>
              <a:rPr lang="zh-CN" altLang="en-US" sz="1200"/>
              <a:t>保留原有值</a:t>
            </a:r>
            <a:endParaRPr lang="zh-CN" altLang="en-US" sz="1200"/>
          </a:p>
          <a:p>
            <a:r>
              <a:rPr lang="en-US" altLang="zh-CN" sz="1200"/>
              <a:t>END</a:t>
            </a:r>
            <a:endParaRPr lang="en-US" altLang="zh-CN" sz="1200"/>
          </a:p>
          <a:p>
            <a:r>
              <a:rPr lang="en-US" altLang="zh-CN" sz="1200"/>
              <a:t>WHERE baseSeverity IS NULL;</a:t>
            </a:r>
            <a:endParaRPr lang="en-US" altLang="zh-CN" sz="1200"/>
          </a:p>
        </p:txBody>
      </p:sp>
      <p:pic>
        <p:nvPicPr>
          <p:cNvPr id="4" name="图片 3"/>
          <p:cNvPicPr>
            <a:picLocks noChangeAspect="1"/>
          </p:cNvPicPr>
          <p:nvPr/>
        </p:nvPicPr>
        <p:blipFill>
          <a:blip r:embed="rId1"/>
          <a:stretch>
            <a:fillRect/>
          </a:stretch>
        </p:blipFill>
        <p:spPr>
          <a:xfrm>
            <a:off x="6095205" y="4552949"/>
            <a:ext cx="4542857" cy="15047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delete</a:t>
            </a:r>
            <a:endParaRPr lang="en-US" altLang="zh-CN" sz="2800" dirty="0"/>
          </a:p>
        </p:txBody>
      </p:sp>
      <p:sp>
        <p:nvSpPr>
          <p:cNvPr id="4" name="文本框 3"/>
          <p:cNvSpPr txBox="1"/>
          <p:nvPr/>
        </p:nvSpPr>
        <p:spPr>
          <a:xfrm>
            <a:off x="669925" y="1423670"/>
            <a:ext cx="6096000" cy="1599565"/>
          </a:xfrm>
          <a:prstGeom prst="rect">
            <a:avLst/>
          </a:prstGeom>
          <a:noFill/>
        </p:spPr>
        <p:txBody>
          <a:bodyPr wrap="square" rtlCol="0" anchor="t">
            <a:spAutoFit/>
          </a:bodyPr>
          <a:lstStyle/>
          <a:p>
            <a:r>
              <a:rPr lang="en-US" altLang="zh-CN" sz="1400"/>
              <a:t>-- </a:t>
            </a:r>
            <a:r>
              <a:rPr lang="zh-CN" altLang="en-US" sz="1400"/>
              <a:t>描述（多语言）</a:t>
            </a:r>
            <a:endParaRPr lang="zh-CN" altLang="en-US" sz="1400"/>
          </a:p>
          <a:p>
            <a:r>
              <a:rPr lang="en-US" altLang="zh-CN" sz="1400"/>
              <a:t>CREATE TABLE IF NOT EXISTS Description (</a:t>
            </a:r>
            <a:endParaRPr lang="en-US" altLang="zh-CN" sz="1400"/>
          </a:p>
          <a:p>
            <a:r>
              <a:rPr lang="en-US" altLang="zh-CN" sz="1400"/>
              <a:t>    cve_id VARCHAR(50),</a:t>
            </a:r>
            <a:endParaRPr lang="en-US" altLang="zh-CN" sz="1400"/>
          </a:p>
          <a:p>
            <a:r>
              <a:rPr lang="en-US" altLang="zh-CN" sz="1400"/>
              <a:t>    lang VARCHAR(10),</a:t>
            </a:r>
            <a:endParaRPr lang="en-US" altLang="zh-CN" sz="1400"/>
          </a:p>
          <a:p>
            <a:r>
              <a:rPr lang="en-US" altLang="zh-CN" sz="1400"/>
              <a:t>    value TEXT,</a:t>
            </a:r>
            <a:endParaRPr lang="en-US" altLang="zh-CN" sz="1400"/>
          </a:p>
          <a:p>
            <a:r>
              <a:rPr lang="en-US" altLang="zh-CN" sz="1400"/>
              <a:t>    FOREIGN KEY (cve_id) REFERENCES CVEEntry(id) ON</a:t>
            </a:r>
            <a:r>
              <a:rPr lang="en-US" altLang="zh-CN" sz="1400">
                <a:solidFill>
                  <a:srgbClr val="FF0000"/>
                </a:solidFill>
              </a:rPr>
              <a:t> DELETE CASCADE</a:t>
            </a:r>
            <a:endParaRPr lang="en-US" altLang="zh-CN" sz="1400"/>
          </a:p>
          <a:p>
            <a:r>
              <a:rPr lang="en-US" altLang="zh-CN" sz="1400"/>
              <a:t>);</a:t>
            </a:r>
            <a:endParaRPr lang="en-US" altLang="zh-CN" sz="1400"/>
          </a:p>
        </p:txBody>
      </p:sp>
      <p:sp>
        <p:nvSpPr>
          <p:cNvPr id="6" name="文本框 5"/>
          <p:cNvSpPr txBox="1"/>
          <p:nvPr/>
        </p:nvSpPr>
        <p:spPr>
          <a:xfrm>
            <a:off x="669925" y="2967990"/>
            <a:ext cx="10436225" cy="645160"/>
          </a:xfrm>
          <a:prstGeom prst="rect">
            <a:avLst/>
          </a:prstGeom>
          <a:noFill/>
        </p:spPr>
        <p:txBody>
          <a:bodyPr wrap="square" rtlCol="0" anchor="t">
            <a:spAutoFit/>
          </a:bodyPr>
          <a:lstStyle/>
          <a:p>
            <a:r>
              <a:rPr lang="zh-CN" altLang="en-US"/>
              <a:t>当被引用表（这里是</a:t>
            </a:r>
            <a:r>
              <a:rPr lang="en-US" altLang="zh-CN"/>
              <a:t> CVEEntry</a:t>
            </a:r>
            <a:r>
              <a:rPr lang="zh-CN" altLang="en-US"/>
              <a:t>）中的某条记录被删除时，数据库会自动删除当前表（这里是</a:t>
            </a:r>
            <a:r>
              <a:rPr lang="en-US" altLang="zh-CN"/>
              <a:t> Description</a:t>
            </a:r>
            <a:r>
              <a:rPr lang="zh-CN" altLang="en-US"/>
              <a:t>）中所有与该记录关联的行</a:t>
            </a:r>
            <a:r>
              <a:rPr lang="en-US" altLang="zh-CN"/>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delete</a:t>
            </a:r>
            <a:endParaRPr lang="en-US" altLang="zh-CN" sz="2800" dirty="0"/>
          </a:p>
        </p:txBody>
      </p:sp>
      <p:sp>
        <p:nvSpPr>
          <p:cNvPr id="4" name="文本框 3"/>
          <p:cNvSpPr txBox="1"/>
          <p:nvPr/>
        </p:nvSpPr>
        <p:spPr>
          <a:xfrm>
            <a:off x="669925" y="1329055"/>
            <a:ext cx="6096000" cy="4799965"/>
          </a:xfrm>
          <a:prstGeom prst="rect">
            <a:avLst/>
          </a:prstGeom>
          <a:noFill/>
        </p:spPr>
        <p:txBody>
          <a:bodyPr wrap="square" rtlCol="0" anchor="t">
            <a:spAutoFit/>
          </a:bodyPr>
          <a:lstStyle/>
          <a:p>
            <a:r>
              <a:rPr lang="en-US" altLang="zh-CN" sz="900"/>
              <a:t>// DeleteRecord </a:t>
            </a:r>
            <a:r>
              <a:rPr lang="zh-CN" altLang="en-US" sz="900"/>
              <a:t>删除记录</a:t>
            </a:r>
            <a:endParaRPr lang="zh-CN" altLang="en-US" sz="900"/>
          </a:p>
          <a:p>
            <a:r>
              <a:rPr lang="en-US" altLang="zh-CN" sz="900"/>
              <a:t>func (a *App) DeleteRecord(c *gin.Context) {</a:t>
            </a:r>
            <a:endParaRPr lang="en-US" altLang="zh-CN" sz="900"/>
          </a:p>
          <a:p>
            <a:r>
              <a:rPr lang="en-US" altLang="zh-CN" sz="900"/>
              <a:t>    table := c.Param("table")</a:t>
            </a:r>
            <a:endParaRPr lang="en-US" altLang="zh-CN" sz="900"/>
          </a:p>
          <a:p>
            <a:r>
              <a:rPr lang="en-US" altLang="zh-CN" sz="900"/>
              <a:t>    userID, ok := a.getUserID(c)</a:t>
            </a:r>
            <a:endParaRPr lang="en-US" altLang="zh-CN" sz="900"/>
          </a:p>
          <a:p>
            <a:r>
              <a:rPr lang="en-US" altLang="zh-CN" sz="900"/>
              <a:t>    if !ok {</a:t>
            </a:r>
            <a:endParaRPr lang="en-US" altLang="zh-CN" sz="900"/>
          </a:p>
          <a:p>
            <a:r>
              <a:rPr lang="en-US" altLang="zh-CN" sz="900"/>
              <a:t>        c.AbortWithStatusJSON(http.StatusUnauthorized, gin.H{"error": "unauthorized"})</a:t>
            </a:r>
            <a:endParaRPr lang="en-US" altLang="zh-CN" sz="900"/>
          </a:p>
          <a:p>
            <a:r>
              <a:rPr lang="en-US" altLang="zh-CN" sz="900"/>
              <a:t>        return</a:t>
            </a:r>
            <a:endParaRPr lang="en-US" altLang="zh-CN" sz="900"/>
          </a:p>
          <a:p>
            <a:r>
              <a:rPr lang="en-US" altLang="zh-CN" sz="900"/>
              <a:t>    }</a:t>
            </a:r>
            <a:endParaRPr lang="en-US" altLang="zh-CN" sz="900"/>
          </a:p>
          <a:p>
            <a:endParaRPr lang="en-US" altLang="zh-CN" sz="900"/>
          </a:p>
          <a:p>
            <a:r>
              <a:rPr lang="en-US" altLang="zh-CN" sz="900"/>
              <a:t>    p, _ := a.getPerm(userID, table)</a:t>
            </a:r>
            <a:endParaRPr lang="en-US" altLang="zh-CN" sz="900"/>
          </a:p>
          <a:p>
            <a:r>
              <a:rPr lang="en-US" altLang="zh-CN" sz="900"/>
              <a:t>    if !p.allow("delete") {</a:t>
            </a:r>
            <a:endParaRPr lang="en-US" altLang="zh-CN" sz="900"/>
          </a:p>
          <a:p>
            <a:r>
              <a:rPr lang="en-US" altLang="zh-CN" sz="900"/>
              <a:t>        c.AbortWithStatusJSON(http.StatusForbidden, gin.H{</a:t>
            </a:r>
            <a:endParaRPr lang="en-US" altLang="zh-CN" sz="900"/>
          </a:p>
          <a:p>
            <a:r>
              <a:rPr lang="en-US" altLang="zh-CN" sz="900"/>
              <a:t>            "error": "permission denied",</a:t>
            </a:r>
            <a:endParaRPr lang="en-US" altLang="zh-CN" sz="900"/>
          </a:p>
          <a:p>
            <a:r>
              <a:rPr lang="en-US" altLang="zh-CN" sz="900"/>
              <a:t>            "message": fmt.Sprintf("You do not have permission to perform the delete operation, access to table %s is denied", table),</a:t>
            </a:r>
            <a:endParaRPr lang="en-US" altLang="zh-CN" sz="900"/>
          </a:p>
          <a:p>
            <a:r>
              <a:rPr lang="en-US" altLang="zh-CN" sz="900"/>
              <a:t>            "redirect": "/permission-denied.html",</a:t>
            </a:r>
            <a:endParaRPr lang="en-US" altLang="zh-CN" sz="900"/>
          </a:p>
          <a:p>
            <a:r>
              <a:rPr lang="en-US" altLang="zh-CN" sz="900"/>
              <a:t>        })</a:t>
            </a:r>
            <a:endParaRPr lang="en-US" altLang="zh-CN" sz="900"/>
          </a:p>
          <a:p>
            <a:r>
              <a:rPr lang="en-US" altLang="zh-CN" sz="900"/>
              <a:t>        return</a:t>
            </a:r>
            <a:endParaRPr lang="en-US" altLang="zh-CN" sz="900"/>
          </a:p>
          <a:p>
            <a:r>
              <a:rPr lang="en-US" altLang="zh-CN" sz="900"/>
              <a:t>    }</a:t>
            </a:r>
            <a:endParaRPr lang="en-US" altLang="zh-CN" sz="900"/>
          </a:p>
          <a:p>
            <a:endParaRPr lang="en-US" altLang="zh-CN" sz="900"/>
          </a:p>
          <a:p>
            <a:r>
              <a:rPr lang="en-US" altLang="zh-CN" sz="900"/>
              <a:t>    id, err := parseID(c)</a:t>
            </a:r>
            <a:endParaRPr lang="en-US" altLang="zh-CN" sz="900"/>
          </a:p>
          <a:p>
            <a:r>
              <a:rPr lang="en-US" altLang="zh-CN" sz="900"/>
              <a:t>    if err != nil {</a:t>
            </a:r>
            <a:endParaRPr lang="en-US" altLang="zh-CN" sz="900"/>
          </a:p>
          <a:p>
            <a:r>
              <a:rPr lang="en-US" altLang="zh-CN" sz="900"/>
              <a:t>        c.AbortWithStatusJSON(http.StatusBadRequest, gin.H{"error": err.Error()})</a:t>
            </a:r>
            <a:endParaRPr lang="en-US" altLang="zh-CN" sz="900"/>
          </a:p>
          <a:p>
            <a:r>
              <a:rPr lang="en-US" altLang="zh-CN" sz="900"/>
              <a:t>        return</a:t>
            </a:r>
            <a:endParaRPr lang="en-US" altLang="zh-CN" sz="900"/>
          </a:p>
          <a:p>
            <a:r>
              <a:rPr lang="en-US" altLang="zh-CN" sz="900"/>
              <a:t>    }</a:t>
            </a:r>
            <a:endParaRPr lang="en-US" altLang="zh-CN" sz="900"/>
          </a:p>
          <a:p>
            <a:endParaRPr lang="en-US" altLang="zh-CN" sz="900"/>
          </a:p>
          <a:p>
            <a:r>
              <a:rPr lang="en-US" altLang="zh-CN" sz="900"/>
              <a:t>    result := a.DB.Table(table).Where("id = ?", id).</a:t>
            </a:r>
            <a:r>
              <a:rPr lang="en-US" altLang="zh-CN" sz="900">
                <a:solidFill>
                  <a:srgbClr val="FF0000"/>
                </a:solidFill>
              </a:rPr>
              <a:t>Delete(nil)</a:t>
            </a:r>
            <a:endParaRPr lang="en-US" altLang="zh-CN" sz="900"/>
          </a:p>
          <a:p>
            <a:r>
              <a:rPr lang="en-US" altLang="zh-CN" sz="900"/>
              <a:t>    if result.Error != nil {</a:t>
            </a:r>
            <a:endParaRPr lang="en-US" altLang="zh-CN" sz="900"/>
          </a:p>
          <a:p>
            <a:r>
              <a:rPr lang="en-US" altLang="zh-CN" sz="900"/>
              <a:t>        c.AbortWithStatusJSON(http.StatusInternalServerError, gin.H{"error": result.Error.Error()})</a:t>
            </a:r>
            <a:endParaRPr lang="en-US" altLang="zh-CN" sz="900"/>
          </a:p>
          <a:p>
            <a:r>
              <a:rPr lang="en-US" altLang="zh-CN" sz="900"/>
              <a:t>        return</a:t>
            </a:r>
            <a:endParaRPr lang="en-US" altLang="zh-CN" sz="900"/>
          </a:p>
          <a:p>
            <a:r>
              <a:rPr lang="en-US" altLang="zh-CN" sz="900"/>
              <a:t>    }</a:t>
            </a:r>
            <a:endParaRPr lang="en-US" altLang="zh-CN" sz="900"/>
          </a:p>
          <a:p>
            <a:endParaRPr lang="en-US" altLang="zh-CN" sz="900"/>
          </a:p>
          <a:p>
            <a:r>
              <a:rPr lang="en-US" altLang="zh-CN" sz="900"/>
              <a:t>    c.JSON(http.StatusOK, gin.H{"affected": result.RowsAffected})</a:t>
            </a:r>
            <a:endParaRPr lang="en-US" altLang="zh-CN" sz="900"/>
          </a:p>
          <a:p>
            <a:r>
              <a:rPr lang="en-US" altLang="zh-CN" sz="900"/>
              <a:t>}</a:t>
            </a:r>
            <a:endParaRPr lang="en-US" altLang="zh-CN" sz="9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select</a:t>
            </a:r>
            <a:endParaRPr lang="en-US" altLang="zh-CN" sz="2800" dirty="0"/>
          </a:p>
        </p:txBody>
      </p:sp>
      <p:sp>
        <p:nvSpPr>
          <p:cNvPr id="4" name="文本框 3"/>
          <p:cNvSpPr txBox="1"/>
          <p:nvPr/>
        </p:nvSpPr>
        <p:spPr>
          <a:xfrm>
            <a:off x="669925" y="1216025"/>
            <a:ext cx="8880475" cy="3107690"/>
          </a:xfrm>
          <a:prstGeom prst="rect">
            <a:avLst/>
          </a:prstGeom>
          <a:noFill/>
        </p:spPr>
        <p:txBody>
          <a:bodyPr wrap="square" rtlCol="0" anchor="t">
            <a:spAutoFit/>
          </a:bodyPr>
          <a:lstStyle/>
          <a:p>
            <a:r>
              <a:rPr lang="en-US" altLang="zh-CN" sz="1400"/>
              <a:t>// </a:t>
            </a:r>
            <a:r>
              <a:rPr lang="zh-CN" altLang="en-US" sz="1400"/>
              <a:t>查询总数</a:t>
            </a:r>
            <a:r>
              <a:rPr lang="en-US" altLang="zh-CN" sz="1400"/>
              <a:t>SQL</a:t>
            </a:r>
            <a:r>
              <a:rPr lang="zh-CN" altLang="en-US" sz="1400"/>
              <a:t>（注意只计算总数，不取数据）</a:t>
            </a:r>
            <a:endParaRPr lang="zh-CN" altLang="en-US" sz="1400"/>
          </a:p>
          <a:p>
            <a:r>
              <a:rPr lang="en-US" altLang="zh-CN" sz="1400"/>
              <a:t>        countSQL := `</a:t>
            </a:r>
            <a:endParaRPr lang="en-US" altLang="zh-CN" sz="1400"/>
          </a:p>
          <a:p>
            <a:r>
              <a:rPr lang="en-US" altLang="zh-CN" sz="1400"/>
              <a:t>        SELECT COUNT(*) </a:t>
            </a:r>
            <a:endParaRPr lang="en-US" altLang="zh-CN" sz="1400"/>
          </a:p>
          <a:p>
            <a:r>
              <a:rPr lang="en-US" altLang="zh-CN" sz="1400"/>
              <a:t>        FROM metric m</a:t>
            </a:r>
            <a:endParaRPr lang="en-US" altLang="zh-CN" sz="1400"/>
          </a:p>
          <a:p>
            <a:r>
              <a:rPr lang="en-US" altLang="zh-CN" sz="1400"/>
              <a:t>        JOIN cveentry c ON m.cve_id = c.id</a:t>
            </a:r>
            <a:endParaRPr lang="en-US" altLang="zh-CN" sz="1400"/>
          </a:p>
          <a:p>
            <a:r>
              <a:rPr lang="en-US" altLang="zh-CN" sz="1400"/>
              <a:t>        JOIN description d ON m.cve_id = d.cve_id AND d.lang = 'en'</a:t>
            </a:r>
            <a:endParaRPr lang="en-US" altLang="zh-CN" sz="1400"/>
          </a:p>
          <a:p>
            <a:r>
              <a:rPr lang="en-US" altLang="zh-CN" sz="1400"/>
              <a:t>        WHERE m.baseScore &gt; 9.0;</a:t>
            </a:r>
            <a:endParaRPr lang="en-US" altLang="zh-CN" sz="1400"/>
          </a:p>
          <a:p>
            <a:r>
              <a:rPr lang="en-US" altLang="zh-CN" sz="1400"/>
              <a:t>        `</a:t>
            </a:r>
            <a:endParaRPr lang="en-US" altLang="zh-CN" sz="1400"/>
          </a:p>
          <a:p>
            <a:endParaRPr lang="en-US" altLang="zh-CN" sz="1400"/>
          </a:p>
          <a:p>
            <a:r>
              <a:rPr lang="en-US" altLang="zh-CN" sz="1400"/>
              <a:t>        var total int64</a:t>
            </a:r>
            <a:endParaRPr lang="en-US" altLang="zh-CN" sz="1400"/>
          </a:p>
          <a:p>
            <a:r>
              <a:rPr lang="en-US" altLang="zh-CN" sz="1400"/>
              <a:t>        if err := db.Raw(countSQL).Scan(&amp;total).Error; err != nil {</a:t>
            </a:r>
            <a:endParaRPr lang="en-US" altLang="zh-CN" sz="1400"/>
          </a:p>
          <a:p>
            <a:r>
              <a:rPr lang="en-US" altLang="zh-CN" sz="1400"/>
              <a:t>            c.JSON(http.StatusInternalServerError, gin.H{"error": err.Error()})</a:t>
            </a:r>
            <a:endParaRPr lang="en-US" altLang="zh-CN" sz="1400"/>
          </a:p>
          <a:p>
            <a:r>
              <a:rPr lang="en-US" altLang="zh-CN" sz="1400"/>
              <a:t>            return</a:t>
            </a:r>
            <a:endParaRPr lang="en-US" altLang="zh-CN" sz="1400"/>
          </a:p>
          <a:p>
            <a:r>
              <a:rPr lang="en-US" altLang="zh-CN" sz="1400"/>
              <a:t>        }</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select</a:t>
            </a:r>
            <a:endParaRPr lang="en-US" altLang="zh-CN" sz="2800" dirty="0"/>
          </a:p>
        </p:txBody>
      </p:sp>
      <p:sp>
        <p:nvSpPr>
          <p:cNvPr id="5" name="文本框 4"/>
          <p:cNvSpPr txBox="1"/>
          <p:nvPr/>
        </p:nvSpPr>
        <p:spPr>
          <a:xfrm>
            <a:off x="669925" y="1351915"/>
            <a:ext cx="8577580" cy="4154170"/>
          </a:xfrm>
          <a:prstGeom prst="rect">
            <a:avLst/>
          </a:prstGeom>
          <a:noFill/>
        </p:spPr>
        <p:txBody>
          <a:bodyPr wrap="square" rtlCol="0" anchor="t">
            <a:spAutoFit/>
          </a:bodyPr>
          <a:lstStyle/>
          <a:p>
            <a:r>
              <a:rPr lang="en-US" altLang="zh-CN" sz="1200"/>
              <a:t>sql := `</a:t>
            </a:r>
            <a:endParaRPr lang="en-US" altLang="zh-CN" sz="1200"/>
          </a:p>
          <a:p>
            <a:r>
              <a:rPr lang="en-US" altLang="zh-CN" sz="1200"/>
              <a:t>            SELECT</a:t>
            </a:r>
            <a:endParaRPr lang="en-US" altLang="zh-CN" sz="1200"/>
          </a:p>
          <a:p>
            <a:r>
              <a:rPr lang="en-US" altLang="zh-CN" sz="1200"/>
              <a:t>                e.id,</a:t>
            </a:r>
            <a:endParaRPr lang="en-US" altLang="zh-CN" sz="1200"/>
          </a:p>
          <a:p>
            <a:r>
              <a:rPr lang="en-US" altLang="zh-CN" sz="1200"/>
              <a:t>                e.published,</a:t>
            </a:r>
            <a:endParaRPr lang="en-US" altLang="zh-CN" sz="1200"/>
          </a:p>
          <a:p>
            <a:r>
              <a:rPr lang="en-US" altLang="zh-CN" sz="1200"/>
              <a:t>                (SELECT d.value FROM description d WHERE d.cve_id = e.id AND d.lang = 'en' LIMIT 1) AS description,</a:t>
            </a:r>
            <a:endParaRPr lang="en-US" altLang="zh-CN" sz="1200"/>
          </a:p>
          <a:p>
            <a:r>
              <a:rPr lang="en-US" altLang="zh-CN" sz="1200"/>
              <a:t>                (SELECT m.baseScore</a:t>
            </a:r>
            <a:endParaRPr lang="en-US" altLang="zh-CN" sz="1200"/>
          </a:p>
          <a:p>
            <a:r>
              <a:rPr lang="en-US" altLang="zh-CN" sz="1200"/>
              <a:t>                 FROM metric m</a:t>
            </a:r>
            <a:endParaRPr lang="en-US" altLang="zh-CN" sz="1200"/>
          </a:p>
          <a:p>
            <a:r>
              <a:rPr lang="en-US" altLang="zh-CN" sz="1200"/>
              <a:t>                 WHERE m.cve_id = e.id</a:t>
            </a:r>
            <a:endParaRPr lang="en-US" altLang="zh-CN" sz="1200"/>
          </a:p>
          <a:p>
            <a:r>
              <a:rPr lang="en-US" altLang="zh-CN" sz="1200"/>
              <a:t>                 ORDER BY CASE m.version</a:t>
            </a:r>
            <a:endParaRPr lang="en-US" altLang="zh-CN" sz="1200"/>
          </a:p>
          <a:p>
            <a:r>
              <a:rPr lang="en-US" altLang="zh-CN" sz="1200"/>
              <a:t>                     WHEN '3.1' THEN 1</a:t>
            </a:r>
            <a:endParaRPr lang="en-US" altLang="zh-CN" sz="1200"/>
          </a:p>
          <a:p>
            <a:r>
              <a:rPr lang="en-US" altLang="zh-CN" sz="1200"/>
              <a:t>                     WHEN '3.0' THEN 2</a:t>
            </a:r>
            <a:endParaRPr lang="en-US" altLang="zh-CN" sz="1200"/>
          </a:p>
          <a:p>
            <a:r>
              <a:rPr lang="en-US" altLang="zh-CN" sz="1200"/>
              <a:t>					 WHEN '2.0' THEN 3</a:t>
            </a:r>
            <a:endParaRPr lang="en-US" altLang="zh-CN" sz="1200"/>
          </a:p>
          <a:p>
            <a:r>
              <a:rPr lang="en-US" altLang="zh-CN" sz="1200"/>
              <a:t>                     ELSE 4</a:t>
            </a:r>
            <a:endParaRPr lang="en-US" altLang="zh-CN" sz="1200"/>
          </a:p>
          <a:p>
            <a:r>
              <a:rPr lang="en-US" altLang="zh-CN" sz="1200"/>
              <a:t>                 END</a:t>
            </a:r>
            <a:endParaRPr lang="en-US" altLang="zh-CN" sz="1200"/>
          </a:p>
          <a:p>
            <a:r>
              <a:rPr lang="en-US" altLang="zh-CN" sz="1200"/>
              <a:t>                 LIMIT 1) AS baseScore</a:t>
            </a:r>
            <a:endParaRPr lang="en-US" altLang="zh-CN" sz="1200"/>
          </a:p>
          <a:p>
            <a:r>
              <a:rPr lang="en-US" altLang="zh-CN" sz="1200"/>
              <a:t>            FROM CVEEntry e</a:t>
            </a:r>
            <a:endParaRPr lang="en-US" altLang="zh-CN" sz="1200"/>
          </a:p>
          <a:p>
            <a:r>
              <a:rPr lang="en-US" altLang="zh-CN" sz="1200"/>
              <a:t>            ORDER BY e.id DESC</a:t>
            </a:r>
            <a:endParaRPr lang="en-US" altLang="zh-CN" sz="1200"/>
          </a:p>
          <a:p>
            <a:r>
              <a:rPr lang="en-US" altLang="zh-CN" sz="1200"/>
              <a:t>            LIMIT ? OFFSET ?`</a:t>
            </a:r>
            <a:endParaRPr lang="en-US" altLang="zh-CN" sz="1200"/>
          </a:p>
          <a:p>
            <a:r>
              <a:rPr lang="en-US" altLang="zh-CN" sz="1200"/>
              <a:t>        if err := db.Raw(sql, size, offset).Scan(&amp;list).Error; err != nil {</a:t>
            </a:r>
            <a:endParaRPr lang="en-US" altLang="zh-CN" sz="1200"/>
          </a:p>
          <a:p>
            <a:r>
              <a:rPr lang="en-US" altLang="zh-CN" sz="1200"/>
              <a:t>            c.JSON(http.StatusInternalServerError, gin.H{"error": err.Error()})</a:t>
            </a:r>
            <a:endParaRPr lang="en-US" altLang="zh-CN" sz="1200"/>
          </a:p>
          <a:p>
            <a:r>
              <a:rPr lang="en-US" altLang="zh-CN" sz="1200"/>
              <a:t>            return</a:t>
            </a:r>
            <a:endParaRPr lang="en-US" altLang="zh-CN" sz="1200"/>
          </a:p>
          <a:p>
            <a:r>
              <a:rPr lang="en-US" altLang="zh-CN" sz="1200"/>
              <a:t>        }</a:t>
            </a:r>
            <a:endParaRPr lang="en-US" altLang="zh-CN" sz="12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select</a:t>
            </a:r>
            <a:endParaRPr lang="en-US" altLang="zh-CN" sz="2800" dirty="0"/>
          </a:p>
        </p:txBody>
      </p:sp>
      <p:sp>
        <p:nvSpPr>
          <p:cNvPr id="2" name="文本框 1"/>
          <p:cNvSpPr txBox="1"/>
          <p:nvPr/>
        </p:nvSpPr>
        <p:spPr>
          <a:xfrm>
            <a:off x="1757045" y="1377315"/>
            <a:ext cx="9558020" cy="4524315"/>
          </a:xfrm>
          <a:prstGeom prst="rect">
            <a:avLst/>
          </a:prstGeom>
          <a:noFill/>
        </p:spPr>
        <p:txBody>
          <a:bodyPr wrap="square" rtlCol="0" anchor="t">
            <a:spAutoFit/>
          </a:bodyPr>
          <a:lstStyle/>
          <a:p>
            <a:r>
              <a:rPr lang="en-US" altLang="zh-CN" dirty="0" err="1"/>
              <a:t>dataSQL</a:t>
            </a:r>
            <a:r>
              <a:rPr lang="en-US" altLang="zh-CN" dirty="0"/>
              <a:t> := `SELECT DISTINCT ce.id, </a:t>
            </a:r>
            <a:r>
              <a:rPr lang="en-US" altLang="zh-CN" dirty="0" err="1"/>
              <a:t>ce.published</a:t>
            </a:r>
            <a:endParaRPr lang="en-US" altLang="zh-CN" dirty="0"/>
          </a:p>
          <a:p>
            <a:r>
              <a:rPr lang="en-US" altLang="zh-CN" dirty="0"/>
              <a:t>		FROM </a:t>
            </a:r>
            <a:r>
              <a:rPr lang="en-US" altLang="zh-CN" dirty="0" err="1"/>
              <a:t>cveEntry</a:t>
            </a:r>
            <a:r>
              <a:rPr lang="en-US" altLang="zh-CN" dirty="0"/>
              <a:t> </a:t>
            </a:r>
            <a:r>
              <a:rPr lang="en-US" altLang="zh-CN" dirty="0" err="1"/>
              <a:t>ce</a:t>
            </a:r>
            <a:endParaRPr lang="en-US" altLang="zh-CN" dirty="0"/>
          </a:p>
          <a:p>
            <a:r>
              <a:rPr lang="en-US" altLang="zh-CN" dirty="0"/>
              <a:t>		LEFT JOIN metric m ON ce.id = </a:t>
            </a:r>
            <a:r>
              <a:rPr lang="en-US" altLang="zh-CN" dirty="0" err="1"/>
              <a:t>m.cve_id</a:t>
            </a:r>
            <a:endParaRPr lang="en-US" altLang="zh-CN" dirty="0"/>
          </a:p>
          <a:p>
            <a:r>
              <a:rPr lang="en-US" altLang="zh-CN" dirty="0"/>
              <a:t>		LEFT JOIN </a:t>
            </a:r>
            <a:r>
              <a:rPr lang="en-US" altLang="zh-CN" dirty="0" err="1"/>
              <a:t>cpe_entries</a:t>
            </a:r>
            <a:r>
              <a:rPr lang="en-US" altLang="zh-CN" dirty="0"/>
              <a:t> </a:t>
            </a:r>
            <a:r>
              <a:rPr lang="en-US" altLang="zh-CN" dirty="0" err="1"/>
              <a:t>cpe</a:t>
            </a:r>
            <a:r>
              <a:rPr lang="en-US" altLang="zh-CN" dirty="0"/>
              <a:t> ON ce.id = </a:t>
            </a:r>
            <a:r>
              <a:rPr lang="en-US" altLang="zh-CN" dirty="0" err="1"/>
              <a:t>cpe.cve_id</a:t>
            </a:r>
            <a:endParaRPr lang="en-US" altLang="zh-CN" dirty="0"/>
          </a:p>
          <a:p>
            <a:r>
              <a:rPr lang="en-US" altLang="zh-CN" dirty="0"/>
              <a:t>		LEFT JOIN weakness w ON ce.id = </a:t>
            </a:r>
            <a:r>
              <a:rPr lang="en-US" altLang="zh-CN" dirty="0" err="1"/>
              <a:t>w.cve_id</a:t>
            </a:r>
            <a:endParaRPr lang="en-US" altLang="zh-CN" dirty="0"/>
          </a:p>
          <a:p>
            <a:r>
              <a:rPr lang="en-US" altLang="zh-CN" dirty="0"/>
              <a:t>		LEFT JOIN </a:t>
            </a:r>
            <a:r>
              <a:rPr lang="en-US" altLang="zh-CN" dirty="0" err="1"/>
              <a:t>parsedVector</a:t>
            </a:r>
            <a:r>
              <a:rPr lang="en-US" altLang="zh-CN" dirty="0"/>
              <a:t> v ON ce.id = </a:t>
            </a:r>
            <a:r>
              <a:rPr lang="en-US" altLang="zh-CN" dirty="0" err="1"/>
              <a:t>v.cve_id</a:t>
            </a:r>
            <a:endParaRPr lang="en-US" altLang="zh-CN" dirty="0"/>
          </a:p>
          <a:p>
            <a:r>
              <a:rPr lang="en-US" altLang="zh-CN" dirty="0"/>
              <a:t>		LEFT JOIN </a:t>
            </a:r>
            <a:r>
              <a:rPr lang="en-US" altLang="zh-CN" dirty="0" err="1"/>
              <a:t>cve_category_match</a:t>
            </a:r>
            <a:r>
              <a:rPr lang="en-US" altLang="zh-CN" dirty="0"/>
              <a:t> ccm ON ce.id = </a:t>
            </a:r>
            <a:r>
              <a:rPr lang="en-US" altLang="zh-CN" dirty="0" err="1"/>
              <a:t>ccm.cve_id</a:t>
            </a:r>
            <a:endParaRPr lang="en-US" altLang="zh-CN" dirty="0"/>
          </a:p>
          <a:p>
            <a:r>
              <a:rPr lang="en-US" altLang="zh-CN" dirty="0"/>
              <a:t>		LEFT JOIN </a:t>
            </a:r>
            <a:r>
              <a:rPr lang="en-US" altLang="zh-CN" dirty="0" err="1"/>
              <a:t>category_lookup</a:t>
            </a:r>
            <a:r>
              <a:rPr lang="en-US" altLang="zh-CN" dirty="0"/>
              <a:t> cl ON </a:t>
            </a:r>
            <a:r>
              <a:rPr lang="en-US" altLang="zh-CN" dirty="0" err="1"/>
              <a:t>ccm.category_id</a:t>
            </a:r>
            <a:r>
              <a:rPr lang="en-US" altLang="zh-CN" dirty="0"/>
              <a:t> = </a:t>
            </a:r>
            <a:r>
              <a:rPr lang="en-US" altLang="zh-CN" dirty="0" err="1"/>
              <a:t>cl.category_id</a:t>
            </a:r>
            <a:r>
              <a:rPr lang="en-US" altLang="zh-CN" dirty="0"/>
              <a:t> ` +</a:t>
            </a:r>
            <a:endParaRPr lang="en-US" altLang="zh-CN" dirty="0"/>
          </a:p>
          <a:p>
            <a:r>
              <a:rPr lang="en-US" altLang="zh-CN" dirty="0"/>
              <a:t>			</a:t>
            </a:r>
            <a:r>
              <a:rPr lang="en-US" altLang="zh-CN" dirty="0" err="1"/>
              <a:t>conditionSQL</a:t>
            </a:r>
            <a:r>
              <a:rPr lang="en-US" altLang="zh-CN" dirty="0"/>
              <a:t> +</a:t>
            </a:r>
            <a:endParaRPr lang="en-US" altLang="zh-CN" dirty="0"/>
          </a:p>
          <a:p>
            <a:r>
              <a:rPr lang="en-US" altLang="zh-CN" dirty="0"/>
              <a:t>			` ORDER BY ce.id DESC`</a:t>
            </a:r>
            <a:endParaRPr lang="en-US" altLang="zh-CN" dirty="0"/>
          </a:p>
          <a:p>
            <a:endParaRPr lang="en-US" altLang="zh-CN" dirty="0"/>
          </a:p>
          <a:p>
            <a:r>
              <a:rPr lang="en-US" altLang="zh-CN" dirty="0"/>
              <a:t>		var rows []</a:t>
            </a:r>
            <a:r>
              <a:rPr lang="en-US" altLang="zh-CN" dirty="0" err="1"/>
              <a:t>idWithPublished</a:t>
            </a:r>
            <a:endParaRPr lang="en-US" altLang="zh-CN" dirty="0"/>
          </a:p>
          <a:p>
            <a:r>
              <a:rPr lang="en-US" altLang="zh-CN" dirty="0"/>
              <a:t>		if err := </a:t>
            </a:r>
            <a:r>
              <a:rPr lang="en-US" altLang="zh-CN" dirty="0" err="1"/>
              <a:t>db.Raw</a:t>
            </a:r>
            <a:r>
              <a:rPr lang="en-US" altLang="zh-CN" dirty="0"/>
              <a:t>(</a:t>
            </a:r>
            <a:r>
              <a:rPr lang="en-US" altLang="zh-CN" dirty="0" err="1"/>
              <a:t>dataSQL</a:t>
            </a:r>
            <a:r>
              <a:rPr lang="en-US" altLang="zh-CN" dirty="0"/>
              <a:t>, </a:t>
            </a:r>
            <a:r>
              <a:rPr lang="en-US" altLang="zh-CN" dirty="0" err="1"/>
              <a:t>args</a:t>
            </a:r>
            <a:r>
              <a:rPr lang="en-US" altLang="zh-CN" dirty="0"/>
              <a:t>...).Scan(&amp;rows).Error; err != nil {</a:t>
            </a:r>
            <a:endParaRPr lang="en-US" altLang="zh-CN" dirty="0"/>
          </a:p>
          <a:p>
            <a:r>
              <a:rPr lang="en-US" altLang="zh-CN" dirty="0"/>
              <a:t>			</a:t>
            </a:r>
            <a:r>
              <a:rPr lang="en-US" altLang="zh-CN" dirty="0" err="1"/>
              <a:t>c.JSON</a:t>
            </a:r>
            <a:r>
              <a:rPr lang="en-US" altLang="zh-CN" dirty="0"/>
              <a:t>(</a:t>
            </a:r>
            <a:r>
              <a:rPr lang="en-US" altLang="zh-CN" dirty="0" err="1"/>
              <a:t>http.StatusInternalServerError</a:t>
            </a:r>
            <a:r>
              <a:rPr lang="en-US" altLang="zh-CN" dirty="0"/>
              <a:t>, </a:t>
            </a:r>
            <a:r>
              <a:rPr lang="en-US" altLang="zh-CN" dirty="0" err="1"/>
              <a:t>gin.H</a:t>
            </a:r>
            <a:r>
              <a:rPr lang="en-US" altLang="zh-CN" dirty="0"/>
              <a:t>{"error": </a:t>
            </a:r>
            <a:r>
              <a:rPr lang="en-US" altLang="zh-CN" dirty="0" err="1"/>
              <a:t>err.Error</a:t>
            </a:r>
            <a:r>
              <a:rPr lang="en-US" altLang="zh-CN" dirty="0"/>
              <a:t>()})</a:t>
            </a:r>
            <a:endParaRPr lang="en-US" altLang="zh-CN" dirty="0"/>
          </a:p>
          <a:p>
            <a:r>
              <a:rPr lang="en-US" altLang="zh-CN" dirty="0"/>
              <a:t>			return</a:t>
            </a:r>
            <a:endParaRPr lang="en-US" altLang="zh-CN" dirty="0"/>
          </a:p>
          <a:p>
            <a:r>
              <a:rPr lang="en-US" altLang="zh-CN" dirty="0"/>
              <a:t>		}</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select</a:t>
            </a:r>
            <a:endParaRPr lang="en-US" altLang="zh-CN" sz="2800" dirty="0"/>
          </a:p>
        </p:txBody>
      </p:sp>
      <p:pic>
        <p:nvPicPr>
          <p:cNvPr id="2" name="图片 1"/>
          <p:cNvPicPr>
            <a:picLocks noChangeAspect="1"/>
          </p:cNvPicPr>
          <p:nvPr/>
        </p:nvPicPr>
        <p:blipFill>
          <a:blip r:embed="rId1"/>
          <a:stretch>
            <a:fillRect/>
          </a:stretch>
        </p:blipFill>
        <p:spPr>
          <a:xfrm>
            <a:off x="669925" y="1129665"/>
            <a:ext cx="4017010" cy="5095240"/>
          </a:xfrm>
          <a:prstGeom prst="rect">
            <a:avLst/>
          </a:prstGeom>
        </p:spPr>
      </p:pic>
      <p:pic>
        <p:nvPicPr>
          <p:cNvPr id="4" name="图片 3"/>
          <p:cNvPicPr>
            <a:picLocks noChangeAspect="1"/>
          </p:cNvPicPr>
          <p:nvPr/>
        </p:nvPicPr>
        <p:blipFill>
          <a:blip r:embed="rId2"/>
          <a:stretch>
            <a:fillRect/>
          </a:stretch>
        </p:blipFill>
        <p:spPr>
          <a:xfrm>
            <a:off x="4929505" y="1642745"/>
            <a:ext cx="6343650" cy="35718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select</a:t>
            </a:r>
            <a:endParaRPr lang="en-US" altLang="zh-CN" sz="2800" dirty="0"/>
          </a:p>
        </p:txBody>
      </p:sp>
      <p:pic>
        <p:nvPicPr>
          <p:cNvPr id="2" name="图片 1"/>
          <p:cNvPicPr>
            <a:picLocks noChangeAspect="1"/>
          </p:cNvPicPr>
          <p:nvPr/>
        </p:nvPicPr>
        <p:blipFill>
          <a:blip r:embed="rId1"/>
          <a:stretch>
            <a:fillRect/>
          </a:stretch>
        </p:blipFill>
        <p:spPr>
          <a:xfrm>
            <a:off x="2833370" y="1547495"/>
            <a:ext cx="6524625" cy="37623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TRIGGER</a:t>
            </a:r>
            <a:endParaRPr lang="en-US" altLang="zh-CN" sz="2800" dirty="0"/>
          </a:p>
        </p:txBody>
      </p:sp>
      <p:pic>
        <p:nvPicPr>
          <p:cNvPr id="4" name="图片 3"/>
          <p:cNvPicPr>
            <a:picLocks noChangeAspect="1"/>
          </p:cNvPicPr>
          <p:nvPr/>
        </p:nvPicPr>
        <p:blipFill>
          <a:blip r:embed="rId1"/>
          <a:stretch>
            <a:fillRect/>
          </a:stretch>
        </p:blipFill>
        <p:spPr>
          <a:xfrm>
            <a:off x="2330450" y="1701165"/>
            <a:ext cx="6737350" cy="32499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view</a:t>
            </a:r>
            <a:r>
              <a:rPr lang="zh-CN" altLang="en-US" sz="2800" dirty="0"/>
              <a:t>、</a:t>
            </a:r>
            <a:r>
              <a:rPr lang="en-US" altLang="zh-CN" sz="2800" dirty="0"/>
              <a:t>order by</a:t>
            </a:r>
            <a:r>
              <a:rPr lang="zh-CN" altLang="en-US" sz="2800" dirty="0"/>
              <a:t>、</a:t>
            </a:r>
            <a:r>
              <a:rPr lang="en-US" altLang="zh-CN" sz="2800" dirty="0"/>
              <a:t>group by</a:t>
            </a:r>
            <a:endParaRPr lang="en-US" altLang="zh-CN" sz="2800" dirty="0"/>
          </a:p>
        </p:txBody>
      </p:sp>
      <p:pic>
        <p:nvPicPr>
          <p:cNvPr id="2" name="图片 1"/>
          <p:cNvPicPr>
            <a:picLocks noChangeAspect="1"/>
          </p:cNvPicPr>
          <p:nvPr/>
        </p:nvPicPr>
        <p:blipFill>
          <a:blip r:embed="rId1"/>
          <a:stretch>
            <a:fillRect/>
          </a:stretch>
        </p:blipFill>
        <p:spPr>
          <a:xfrm>
            <a:off x="3594100" y="1187450"/>
            <a:ext cx="5004435" cy="51847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index</a:t>
            </a:r>
            <a:endParaRPr lang="en-US" altLang="zh-CN" sz="2800" dirty="0"/>
          </a:p>
        </p:txBody>
      </p:sp>
      <p:pic>
        <p:nvPicPr>
          <p:cNvPr id="2" name="图片 1"/>
          <p:cNvPicPr>
            <a:picLocks noChangeAspect="1"/>
          </p:cNvPicPr>
          <p:nvPr/>
        </p:nvPicPr>
        <p:blipFill>
          <a:blip r:embed="rId1"/>
          <a:stretch>
            <a:fillRect/>
          </a:stretch>
        </p:blipFill>
        <p:spPr>
          <a:xfrm>
            <a:off x="809625" y="1544955"/>
            <a:ext cx="10256520" cy="5359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SUBSTRING</a:t>
            </a:r>
            <a:endParaRPr lang="en-US" altLang="zh-CN" sz="2800" dirty="0"/>
          </a:p>
        </p:txBody>
      </p:sp>
      <p:pic>
        <p:nvPicPr>
          <p:cNvPr id="2" name="图片 1"/>
          <p:cNvPicPr>
            <a:picLocks noChangeAspect="1"/>
          </p:cNvPicPr>
          <p:nvPr/>
        </p:nvPicPr>
        <p:blipFill>
          <a:blip r:embed="rId1"/>
          <a:stretch>
            <a:fillRect/>
          </a:stretch>
        </p:blipFill>
        <p:spPr>
          <a:xfrm>
            <a:off x="1999615" y="1158240"/>
            <a:ext cx="8423275" cy="49663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sum</a:t>
            </a:r>
            <a:endParaRPr lang="en-US" altLang="zh-CN" sz="2800" dirty="0"/>
          </a:p>
        </p:txBody>
      </p:sp>
      <p:pic>
        <p:nvPicPr>
          <p:cNvPr id="2" name="图片 1"/>
          <p:cNvPicPr>
            <a:picLocks noChangeAspect="1"/>
          </p:cNvPicPr>
          <p:nvPr/>
        </p:nvPicPr>
        <p:blipFill>
          <a:blip r:embed="rId1"/>
          <a:stretch>
            <a:fillRect/>
          </a:stretch>
        </p:blipFill>
        <p:spPr>
          <a:xfrm>
            <a:off x="2143125" y="2238375"/>
            <a:ext cx="7905750" cy="2381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round</a:t>
            </a:r>
            <a:endParaRPr lang="en-US" altLang="zh-CN" sz="2800" dirty="0"/>
          </a:p>
        </p:txBody>
      </p:sp>
      <p:pic>
        <p:nvPicPr>
          <p:cNvPr id="2" name="图片 1"/>
          <p:cNvPicPr>
            <a:picLocks noChangeAspect="1"/>
          </p:cNvPicPr>
          <p:nvPr/>
        </p:nvPicPr>
        <p:blipFill>
          <a:blip r:embed="rId1"/>
          <a:stretch>
            <a:fillRect/>
          </a:stretch>
        </p:blipFill>
        <p:spPr>
          <a:xfrm>
            <a:off x="1666875" y="1981200"/>
            <a:ext cx="8858250" cy="2895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case</a:t>
            </a:r>
            <a:endParaRPr lang="en-US" altLang="zh-CN" sz="2800" dirty="0"/>
          </a:p>
        </p:txBody>
      </p:sp>
      <p:pic>
        <p:nvPicPr>
          <p:cNvPr id="2" name="图片 1"/>
          <p:cNvPicPr>
            <a:picLocks noChangeAspect="1"/>
          </p:cNvPicPr>
          <p:nvPr/>
        </p:nvPicPr>
        <p:blipFill>
          <a:blip r:embed="rId1"/>
          <a:stretch>
            <a:fillRect/>
          </a:stretch>
        </p:blipFill>
        <p:spPr>
          <a:xfrm>
            <a:off x="1537970" y="1278890"/>
            <a:ext cx="9115425" cy="4762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SUBSTRING_INDEX</a:t>
            </a:r>
            <a:endParaRPr lang="en-US" altLang="zh-CN" sz="2800" dirty="0"/>
          </a:p>
        </p:txBody>
      </p:sp>
      <p:pic>
        <p:nvPicPr>
          <p:cNvPr id="2" name="图片 1"/>
          <p:cNvPicPr>
            <a:picLocks noChangeAspect="1"/>
          </p:cNvPicPr>
          <p:nvPr/>
        </p:nvPicPr>
        <p:blipFill>
          <a:blip r:embed="rId1"/>
          <a:stretch>
            <a:fillRect/>
          </a:stretch>
        </p:blipFill>
        <p:spPr>
          <a:xfrm>
            <a:off x="4075430" y="1157605"/>
            <a:ext cx="4041775" cy="48971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grant</a:t>
            </a:r>
            <a:endParaRPr lang="en-US" altLang="zh-CN" sz="2800" dirty="0"/>
          </a:p>
        </p:txBody>
      </p:sp>
      <p:sp>
        <p:nvSpPr>
          <p:cNvPr id="2" name="文本框 1"/>
          <p:cNvSpPr txBox="1"/>
          <p:nvPr/>
        </p:nvSpPr>
        <p:spPr>
          <a:xfrm>
            <a:off x="280670" y="1444625"/>
            <a:ext cx="6096000" cy="3969385"/>
          </a:xfrm>
          <a:prstGeom prst="rect">
            <a:avLst/>
          </a:prstGeom>
          <a:noFill/>
        </p:spPr>
        <p:txBody>
          <a:bodyPr wrap="square" rtlCol="0" anchor="t">
            <a:spAutoFit/>
          </a:bodyPr>
          <a:lstStyle/>
          <a:p>
            <a:r>
              <a:rPr lang="en-US" altLang="zh-CN" sz="1400"/>
              <a:t>CREATE TABLE permissions (</a:t>
            </a:r>
            <a:endParaRPr lang="en-US" altLang="zh-CN" sz="1400"/>
          </a:p>
          <a:p>
            <a:r>
              <a:rPr lang="en-US" altLang="zh-CN" sz="1400"/>
              <a:t>    id           BIGINT UNSIGNED AUTO_INCREMENT PRIMARY KEY,</a:t>
            </a:r>
            <a:endParaRPr lang="en-US" altLang="zh-CN" sz="1400"/>
          </a:p>
          <a:p>
            <a:r>
              <a:rPr lang="en-US" altLang="zh-CN" sz="1400"/>
              <a:t>    user_id      BIGINT UNSIGNED NOT NULL,</a:t>
            </a:r>
            <a:endParaRPr lang="en-US" altLang="zh-CN" sz="1400"/>
          </a:p>
          <a:p>
            <a:r>
              <a:rPr lang="en-US" altLang="zh-CN" sz="1400"/>
              <a:t>    table_name   VARCHAR(64) NOT NULL,</a:t>
            </a:r>
            <a:endParaRPr lang="en-US" altLang="zh-CN" sz="1400"/>
          </a:p>
          <a:p>
            <a:r>
              <a:rPr lang="en-US" altLang="zh-CN" sz="1400"/>
              <a:t>    can_select   BOOLEAN DEFAULT FALSE,</a:t>
            </a:r>
            <a:endParaRPr lang="en-US" altLang="zh-CN" sz="1400"/>
          </a:p>
          <a:p>
            <a:r>
              <a:rPr lang="en-US" altLang="zh-CN" sz="1400"/>
              <a:t>    can_insert   BOOLEAN DEFAULT FALSE,</a:t>
            </a:r>
            <a:endParaRPr lang="en-US" altLang="zh-CN" sz="1400"/>
          </a:p>
          <a:p>
            <a:r>
              <a:rPr lang="en-US" altLang="zh-CN" sz="1400"/>
              <a:t>    can_update   BOOLEAN DEFAULT FALSE,</a:t>
            </a:r>
            <a:endParaRPr lang="en-US" altLang="zh-CN" sz="1400"/>
          </a:p>
          <a:p>
            <a:r>
              <a:rPr lang="en-US" altLang="zh-CN" sz="1400"/>
              <a:t>    can_delete   BOOLEAN DEFAULT FALSE,</a:t>
            </a:r>
            <a:endParaRPr lang="en-US" altLang="zh-CN" sz="1400"/>
          </a:p>
          <a:p>
            <a:r>
              <a:rPr lang="en-US" altLang="zh-CN" sz="1400"/>
              <a:t>    created_at   TIMESTAMP DEFAULT CURRENT_TIMESTAMP,</a:t>
            </a:r>
            <a:endParaRPr lang="en-US" altLang="zh-CN" sz="1400"/>
          </a:p>
          <a:p>
            <a:r>
              <a:rPr lang="en-US" altLang="zh-CN" sz="1400"/>
              <a:t>    updated_at   TIMESTAMP DEFAULT CURRENT_TIMESTAMP ON UPDATE CURRENT_TIMESTAMP,</a:t>
            </a:r>
            <a:endParaRPr lang="en-US" altLang="zh-CN" sz="1400"/>
          </a:p>
          <a:p>
            <a:r>
              <a:rPr lang="en-US" altLang="zh-CN" sz="1400"/>
              <a:t>    CONSTRAINT fk_perm_user</a:t>
            </a:r>
            <a:endParaRPr lang="en-US" altLang="zh-CN" sz="1400"/>
          </a:p>
          <a:p>
            <a:r>
              <a:rPr lang="en-US" altLang="zh-CN" sz="1400"/>
              <a:t>        FOREIGN KEY (user_id) REFERENCES users(id)</a:t>
            </a:r>
            <a:endParaRPr lang="en-US" altLang="zh-CN" sz="1400"/>
          </a:p>
          <a:p>
            <a:r>
              <a:rPr lang="en-US" altLang="zh-CN" sz="1400"/>
              <a:t>        ON DELETE CASCADE</a:t>
            </a:r>
            <a:endParaRPr lang="en-US" altLang="zh-CN" sz="1400"/>
          </a:p>
          <a:p>
            <a:r>
              <a:rPr lang="en-US" altLang="zh-CN" sz="1400"/>
              <a:t>        ON UPDATE CASCADE,</a:t>
            </a:r>
            <a:endParaRPr lang="en-US" altLang="zh-CN" sz="1400"/>
          </a:p>
          <a:p>
            <a:r>
              <a:rPr lang="en-US" altLang="zh-CN" sz="1400"/>
              <a:t>    UNIQUE KEY uk_user_table (user_id, table_name)</a:t>
            </a:r>
            <a:endParaRPr lang="en-US" altLang="zh-CN" sz="1400"/>
          </a:p>
          <a:p>
            <a:r>
              <a:rPr lang="en-US" altLang="zh-CN" sz="1400"/>
              <a:t>) ENGINE=InnoDB DEFAULT CHARSET=utf8mb4;</a:t>
            </a:r>
            <a:endParaRPr lang="en-US" altLang="zh-CN" sz="1400"/>
          </a:p>
          <a:p>
            <a:endParaRPr lang="en-US" altLang="zh-CN" sz="1400"/>
          </a:p>
        </p:txBody>
      </p:sp>
      <p:sp>
        <p:nvSpPr>
          <p:cNvPr id="5" name="文本框 4"/>
          <p:cNvSpPr txBox="1"/>
          <p:nvPr/>
        </p:nvSpPr>
        <p:spPr>
          <a:xfrm>
            <a:off x="6096000" y="1582420"/>
            <a:ext cx="6096000" cy="2245360"/>
          </a:xfrm>
          <a:prstGeom prst="rect">
            <a:avLst/>
          </a:prstGeom>
          <a:noFill/>
        </p:spPr>
        <p:txBody>
          <a:bodyPr wrap="square" rtlCol="0" anchor="t">
            <a:spAutoFit/>
          </a:bodyPr>
          <a:lstStyle/>
          <a:p>
            <a:r>
              <a:rPr lang="en-US" altLang="zh-CN" sz="1400"/>
              <a:t>CREATE TABLE IF NOT EXISTS users (</a:t>
            </a:r>
            <a:endParaRPr lang="en-US" altLang="zh-CN" sz="1400"/>
          </a:p>
          <a:p>
            <a:r>
              <a:rPr lang="en-US" altLang="zh-CN" sz="1400"/>
              <a:t>    id            BIGINT UNSIGNED AUTO_INCREMENT PRIMARY KEY,</a:t>
            </a:r>
            <a:endParaRPr lang="en-US" altLang="zh-CN" sz="1400"/>
          </a:p>
          <a:p>
            <a:r>
              <a:rPr lang="en-US" altLang="zh-CN" sz="1400"/>
              <a:t>    email         VARCHAR(255) NOT NULL UNIQUE,</a:t>
            </a:r>
            <a:endParaRPr lang="en-US" altLang="zh-CN" sz="1400"/>
          </a:p>
          <a:p>
            <a:r>
              <a:rPr lang="en-US" altLang="zh-CN" sz="1400"/>
              <a:t>    username      VARCHAR(100) NOT NULL UNIQUE,        -- </a:t>
            </a:r>
            <a:r>
              <a:rPr lang="zh-CN" altLang="en-US" sz="1400"/>
              <a:t>新增字段</a:t>
            </a:r>
            <a:endParaRPr lang="zh-CN" altLang="en-US" sz="1400"/>
          </a:p>
          <a:p>
            <a:r>
              <a:rPr lang="en-US" altLang="zh-CN" sz="1400"/>
              <a:t>    password_hash VARBINARY(60) NOT NULL,</a:t>
            </a:r>
            <a:endParaRPr lang="en-US" altLang="zh-CN" sz="1400"/>
          </a:p>
          <a:p>
            <a:r>
              <a:rPr lang="en-US" altLang="zh-CN" sz="1400"/>
              <a:t>    created_at    TIMESTAMP    DEFAULT CURRENT_TIMESTAMP,</a:t>
            </a:r>
            <a:endParaRPr lang="en-US" altLang="zh-CN" sz="1400"/>
          </a:p>
          <a:p>
            <a:r>
              <a:rPr lang="en-US" altLang="zh-CN" sz="1400"/>
              <a:t>    updated_at    TIMESTAMP    DEFAULT CURRENT_TIMESTAMP ON UPDATE CURRENT_TIMESTAMP</a:t>
            </a:r>
            <a:endParaRPr lang="en-US" altLang="zh-CN" sz="1400"/>
          </a:p>
          <a:p>
            <a:r>
              <a:rPr lang="en-US" altLang="zh-CN" sz="1400"/>
              <a:t>) ENGINE = InnoDB</a:t>
            </a:r>
            <a:endParaRPr lang="en-US" altLang="zh-CN" sz="1400"/>
          </a:p>
          <a:p>
            <a:r>
              <a:rPr lang="en-US" altLang="zh-CN" sz="1400"/>
              <a:t>  DEFAULT CHARSET = utf8mb4;</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latin typeface="Times New Roman" panose="02020603050405020304" pitchFamily="18" charset="0"/>
                <a:cs typeface="Times New Roman" panose="02020603050405020304" pitchFamily="18" charset="0"/>
                <a:sym typeface="+mn-lt"/>
              </a:rPr>
              <a:t>评分点</a:t>
            </a:r>
            <a:r>
              <a:rPr lang="en-US" altLang="zh-CN" dirty="0"/>
              <a:t>-</a:t>
            </a:r>
            <a:r>
              <a:rPr lang="en-US" altLang="zh-CN" sz="2800" dirty="0"/>
              <a:t>permission</a:t>
            </a:r>
            <a:endParaRPr lang="en-US" altLang="zh-CN" sz="2800" dirty="0"/>
          </a:p>
        </p:txBody>
      </p:sp>
      <p:pic>
        <p:nvPicPr>
          <p:cNvPr id="2" name="图片 1"/>
          <p:cNvPicPr>
            <a:picLocks noChangeAspect="1"/>
          </p:cNvPicPr>
          <p:nvPr/>
        </p:nvPicPr>
        <p:blipFill>
          <a:blip r:embed="rId1"/>
          <a:stretch>
            <a:fillRect/>
          </a:stretch>
        </p:blipFill>
        <p:spPr>
          <a:xfrm>
            <a:off x="1013460" y="1151890"/>
            <a:ext cx="10163175" cy="48082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4545149" y="1536974"/>
            <a:ext cx="3102428" cy="645113"/>
          </a:xfrm>
          <a:prstGeom prst="rect">
            <a:avLst/>
          </a:prstGeom>
          <a:noFill/>
        </p:spPr>
        <p:txBody>
          <a:bodyPr wrap="square" rtlCol="0">
            <a:spAutoFit/>
          </a:bodyPr>
          <a:lstStyle/>
          <a:p>
            <a:pPr algn="ctr">
              <a:lnSpc>
                <a:spcPct val="120000"/>
              </a:lnSpc>
            </a:pPr>
            <a:r>
              <a:rPr lang="en-MY" sz="3200" b="1" dirty="0"/>
              <a:t>PART</a:t>
            </a:r>
            <a:r>
              <a:rPr lang="en-MY" sz="3200" b="1" dirty="0">
                <a:solidFill>
                  <a:srgbClr val="006C30"/>
                </a:solidFill>
              </a:rPr>
              <a:t> </a:t>
            </a:r>
            <a:r>
              <a:rPr lang="en-US" sz="3200" b="1" dirty="0"/>
              <a:t>4</a:t>
            </a:r>
            <a:endParaRPr lang="en-US" altLang="en-MY" sz="3200" b="1" dirty="0"/>
          </a:p>
        </p:txBody>
      </p:sp>
      <p:sp>
        <p:nvSpPr>
          <p:cNvPr id="14" name="矩形 13"/>
          <p:cNvSpPr/>
          <p:nvPr/>
        </p:nvSpPr>
        <p:spPr>
          <a:xfrm>
            <a:off x="4545149" y="2933239"/>
            <a:ext cx="3102428" cy="769441"/>
          </a:xfrm>
          <a:prstGeom prst="rect">
            <a:avLst/>
          </a:prstGeom>
        </p:spPr>
        <p:txBody>
          <a:bodyPr wrap="square">
            <a:spAutoFit/>
          </a:bodyPr>
          <a:lstStyle/>
          <a:p>
            <a:pPr algn="ctr"/>
            <a:r>
              <a:rPr lang="zh-CN" altLang="en-US" sz="4400" dirty="0">
                <a:latin typeface="Times New Roman" panose="02020603050405020304" pitchFamily="18" charset="0"/>
                <a:cs typeface="Times New Roman" panose="02020603050405020304" pitchFamily="18" charset="0"/>
              </a:rPr>
              <a:t>总结与展望</a:t>
            </a:r>
            <a:endParaRPr lang="zh-CN" altLang="en-US" sz="4400" dirty="0">
              <a:latin typeface="Times New Roman" panose="02020603050405020304" pitchFamily="18" charset="0"/>
              <a:cs typeface="Times New Roman" panose="02020603050405020304" pitchFamily="18" charset="0"/>
            </a:endParaRPr>
          </a:p>
        </p:txBody>
      </p:sp>
      <p:cxnSp>
        <p:nvCxnSpPr>
          <p:cNvPr id="2" name="直接连接符 1"/>
          <p:cNvCxnSpPr/>
          <p:nvPr/>
        </p:nvCxnSpPr>
        <p:spPr>
          <a:xfrm>
            <a:off x="4808548" y="3719917"/>
            <a:ext cx="2708451" cy="0"/>
          </a:xfrm>
          <a:prstGeom prst="line">
            <a:avLst/>
          </a:prstGeom>
          <a:ln>
            <a:solidFill>
              <a:srgbClr val="006C3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363636"/>
            <a:ext cx="10850563" cy="665063"/>
          </a:xfrm>
        </p:spPr>
        <p:txBody>
          <a:bodyPr anchor="b" anchorCtr="0">
            <a:normAutofit/>
          </a:bodyPr>
          <a:lstStyle>
            <a:lvl1pPr>
              <a:defRPr sz="4000">
                <a:solidFill>
                  <a:srgbClr val="394479"/>
                </a:solidFill>
              </a:defRPr>
            </a:lvl1pPr>
          </a:lstStyle>
          <a:p>
            <a:r>
              <a:rPr lang="zh-CN" altLang="en-US" dirty="0"/>
              <a:t>总结与展望</a:t>
            </a:r>
            <a:endParaRPr lang="zh-CN" altLang="en-US" dirty="0"/>
          </a:p>
        </p:txBody>
      </p:sp>
      <p:sp>
        <p:nvSpPr>
          <p:cNvPr id="6" name="文本框 5"/>
          <p:cNvSpPr txBox="1"/>
          <p:nvPr/>
        </p:nvSpPr>
        <p:spPr>
          <a:xfrm>
            <a:off x="1612900" y="2432050"/>
            <a:ext cx="8589010" cy="645160"/>
          </a:xfrm>
          <a:prstGeom prst="rect">
            <a:avLst/>
          </a:prstGeom>
          <a:noFill/>
        </p:spPr>
        <p:txBody>
          <a:bodyPr wrap="square" rtlCol="0">
            <a:spAutoFit/>
          </a:bodyPr>
          <a:lstStyle/>
          <a:p>
            <a:r>
              <a:rPr lang="zh-CN" altLang="en-US"/>
              <a:t>后续可以引入</a:t>
            </a:r>
            <a:r>
              <a:rPr lang="en-US" altLang="zh-CN"/>
              <a:t>msmarco-MiniLM-L12-cosv5 </a:t>
            </a:r>
            <a:r>
              <a:rPr lang="zh-CN" altLang="en-US"/>
              <a:t>将</a:t>
            </a:r>
            <a:r>
              <a:rPr lang="en-US" altLang="en-US"/>
              <a:t>⽂</a:t>
            </a:r>
            <a:r>
              <a:rPr lang="zh-CN" altLang="en-US"/>
              <a:t>本数据转换为向量嵌</a:t>
            </a:r>
            <a:r>
              <a:rPr lang="en-US" altLang="en-US"/>
              <a:t>⼊</a:t>
            </a:r>
            <a:r>
              <a:rPr lang="zh-CN" altLang="en-US"/>
              <a:t>。</a:t>
            </a:r>
            <a:endParaRPr lang="zh-CN" altLang="en-US"/>
          </a:p>
          <a:p>
            <a:r>
              <a:rPr lang="zh-CN" altLang="en-US"/>
              <a:t>实现按照文本描述语言查找对应漏洞</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idx="4294967295"/>
          </p:nvPr>
        </p:nvSpPr>
        <p:spPr>
          <a:xfrm>
            <a:off x="848271" y="3308985"/>
            <a:ext cx="10850563" cy="1653539"/>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ctr"/>
            <a:r>
              <a:rPr lang="zh-CN" altLang="en-US" sz="6000" spc="600" dirty="0">
                <a:latin typeface="华文仿宋" panose="02010600040101010101" pitchFamily="2" charset="-122"/>
                <a:ea typeface="华文仿宋" panose="02010600040101010101" pitchFamily="2" charset="-122"/>
              </a:rPr>
              <a:t>谢谢聆听！</a:t>
            </a:r>
            <a:br>
              <a:rPr lang="en-US" altLang="zh-CN" sz="6000" spc="600" dirty="0">
                <a:latin typeface="华文仿宋" panose="02010600040101010101" pitchFamily="2" charset="-122"/>
                <a:ea typeface="华文仿宋" panose="02010600040101010101" pitchFamily="2" charset="-122"/>
              </a:rPr>
            </a:br>
            <a:r>
              <a:rPr lang="zh-CN" altLang="en-US" sz="6000" spc="600" dirty="0">
                <a:latin typeface="华文仿宋" panose="02010600040101010101" pitchFamily="2" charset="-122"/>
                <a:ea typeface="华文仿宋" panose="02010600040101010101" pitchFamily="2" charset="-122"/>
              </a:rPr>
              <a:t>欢迎提问与指正！</a:t>
            </a:r>
            <a:endParaRPr lang="en-US" altLang="zh-CN" sz="6000" spc="600" dirty="0">
              <a:latin typeface="华文仿宋" panose="02010600040101010101" pitchFamily="2" charset="-122"/>
              <a:ea typeface="华文仿宋" panose="02010600040101010101" pitchFamily="2" charset="-122"/>
            </a:endParaRPr>
          </a:p>
        </p:txBody>
      </p:sp>
    </p:spTree>
  </p:cSld>
  <p:clrMapOvr>
    <a:masterClrMapping/>
  </p:clrMapOvr>
  <p:transition>
    <p:fade/>
  </p:transition>
</p:sld>
</file>

<file path=ppt/tags/tag1.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2.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3.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4.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5.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6.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7.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8.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9.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0.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1.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2.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3.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4.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5.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6.xml><?xml version="1.0" encoding="utf-8"?>
<p:tagLst xmlns:p="http://schemas.openxmlformats.org/presentationml/2006/main">
  <p:tag name="KSO_WM_DIAGRAM_VIRTUALLY_FRAME" val="{&quot;height&quot;:315.4151181102362,&quot;left&quot;:344.0797637795275,&quot;top&quot;:155.27842519685038,&quot;width&quot;:291.22023622047243}"/>
</p:tagLst>
</file>

<file path=ppt/tags/tag17.xml><?xml version="1.0" encoding="utf-8"?>
<p:tagLst xmlns:p="http://schemas.openxmlformats.org/presentationml/2006/main">
  <p:tag name="KSO_WM_DIAGRAM_VIRTUALLY_FRAME" val="{&quot;height&quot;:79.88661417322828,&quot;left&quot;:340.5632283464567,&quot;top&quot;:371.3055905511811,&quot;width&quot;:220.7363779527559}"/>
</p:tagLst>
</file>

<file path=ppt/tags/tag18.xml><?xml version="1.0" encoding="utf-8"?>
<p:tagLst xmlns:p="http://schemas.openxmlformats.org/presentationml/2006/main">
  <p:tag name="KSO_WM_DIAGRAM_VIRTUALLY_FRAME" val="{&quot;height&quot;:79.88661417322828,&quot;left&quot;:340.5632283464567,&quot;top&quot;:371.3055905511811,&quot;width&quot;:220.7363779527559}"/>
</p:tagLst>
</file>

<file path=ppt/tags/tag19.xml><?xml version="1.0" encoding="utf-8"?>
<p:tagLst xmlns:p="http://schemas.openxmlformats.org/presentationml/2006/main">
  <p:tag name="KSO_WM_DIAGRAM_VIRTUALLY_FRAME" val="{&quot;height&quot;:79.88661417322828,&quot;left&quot;:340.5632283464567,&quot;top&quot;:371.3055905511811,&quot;width&quot;:220.7363779527559}"/>
</p:tagLst>
</file>

<file path=ppt/tags/tag20.xml><?xml version="1.0" encoding="utf-8"?>
<p:tagLst xmlns:p="http://schemas.openxmlformats.org/presentationml/2006/main">
  <p:tag name="KSO_WM_DIAGRAM_VIRTUALLY_FRAME" val="{&quot;height&quot;:79.88661417322828,&quot;left&quot;:340.5632283464567,&quot;top&quot;:371.3055905511811,&quot;width&quot;:220.7363779527559}"/>
</p:tagLst>
</file>

<file path=ppt/tags/tag21.xml><?xml version="1.0" encoding="utf-8"?>
<p:tagLst xmlns:p="http://schemas.openxmlformats.org/presentationml/2006/main">
  <p:tag name="KSO_WM_DIAGRAM_VIRTUALLY_FRAME" val="{&quot;height&quot;:79.88661417322828,&quot;left&quot;:340.5632283464567,&quot;top&quot;:371.3055905511811,&quot;width&quot;:220.7363779527559}"/>
</p:tagLst>
</file>

<file path=ppt/tags/tag22.xml><?xml version="1.0" encoding="utf-8"?>
<p:tagLst xmlns:p="http://schemas.openxmlformats.org/presentationml/2006/main">
  <p:tag name="KSO_WM_DIAGRAM_VIRTUALLY_FRAME" val="{&quot;height&quot;:79.88661417322828,&quot;left&quot;:340.5632283464567,&quot;top&quot;:371.3055905511811,&quot;width&quot;:220.7363779527559}"/>
</p:tagLst>
</file>

<file path=ppt/tags/tag23.xml><?xml version="1.0" encoding="utf-8"?>
<p:tagLst xmlns:p="http://schemas.openxmlformats.org/presentationml/2006/main">
  <p:tag name="TABLE_ENDDRAG_ORIGIN_RECT" val="860*379"/>
  <p:tag name="TABLE_ENDDRAG_RECT" val="64*92*860*379"/>
</p:tagLst>
</file>

<file path=ppt/tags/tag24.xml><?xml version="1.0" encoding="utf-8"?>
<p:tagLst xmlns:p="http://schemas.openxmlformats.org/presentationml/2006/main">
  <p:tag name="COMMONDATA" val="eyJoZGlkIjoiYjYwNzNhZWYxZGI3MWU3ODM1ODNkYzk4NjM5OTA2Nj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32577</Words>
  <Application>WPS 演示</Application>
  <PresentationFormat>宽屏</PresentationFormat>
  <Paragraphs>939</Paragraphs>
  <Slides>75</Slides>
  <Notes>75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75</vt:i4>
      </vt:variant>
    </vt:vector>
  </HeadingPairs>
  <TitlesOfParts>
    <vt:vector size="87" baseType="lpstr">
      <vt:lpstr>Arial</vt:lpstr>
      <vt:lpstr>宋体</vt:lpstr>
      <vt:lpstr>Wingdings</vt:lpstr>
      <vt:lpstr>Times New Roman</vt:lpstr>
      <vt:lpstr>微软雅黑</vt:lpstr>
      <vt:lpstr>等线</vt:lpstr>
      <vt:lpstr>Arial Unicode MS</vt:lpstr>
      <vt:lpstr>等线 Light</vt:lpstr>
      <vt:lpstr>Arial</vt:lpstr>
      <vt:lpstr>Consolas</vt:lpstr>
      <vt:lpstr>华文仿宋</vt:lpstr>
      <vt:lpstr>Office 主题​​</vt:lpstr>
      <vt:lpstr>PowerPoint 演示文稿</vt:lpstr>
      <vt:lpstr>PowerPoint 演示文稿</vt:lpstr>
      <vt:lpstr>PowerPoint 演示文稿</vt:lpstr>
      <vt:lpstr>背景介绍</vt:lpstr>
      <vt:lpstr>应用场景</vt:lpstr>
      <vt:lpstr>应用场景</vt:lpstr>
      <vt:lpstr>技术方法-功能性需求</vt:lpstr>
      <vt:lpstr>PowerPoint 演示文稿</vt:lpstr>
      <vt:lpstr>技术方法-建表语言</vt:lpstr>
      <vt:lpstr>技术方法-建表语言</vt:lpstr>
      <vt:lpstr>技术方法-数据库规范化验证</vt:lpstr>
      <vt:lpstr>技术方法-特色描述</vt:lpstr>
      <vt:lpstr>技术方法-系统整体功能框架</vt:lpstr>
      <vt:lpstr>技术方法-E-R图</vt:lpstr>
      <vt:lpstr>技术方法-系统架构简图</vt:lpstr>
      <vt:lpstr>技术方法-模块划分</vt:lpstr>
      <vt:lpstr>技术方法-模块划分</vt:lpstr>
      <vt:lpstr>技术方法-模块划分</vt:lpstr>
      <vt:lpstr>技术方法-模块划分的优势</vt:lpstr>
      <vt:lpstr>技术方法-数据处理模块</vt:lpstr>
      <vt:lpstr>技术方法-数据处理模块</vt:lpstr>
      <vt:lpstr>技术方法-简单的CVE编号查询</vt:lpstr>
      <vt:lpstr>技术方法-简单的CVE编号查询</vt:lpstr>
      <vt:lpstr>技术方法-根据厂商和版本查找</vt:lpstr>
      <vt:lpstr>技术方法-根据厂商和版本</vt:lpstr>
      <vt:lpstr>技术方法-高级查询功能实现</vt:lpstr>
      <vt:lpstr>技术方法-数据处理模块</vt:lpstr>
      <vt:lpstr>技术方法-统计图表与可视化实现</vt:lpstr>
      <vt:lpstr>技术方法-统计图表与可视化实现</vt:lpstr>
      <vt:lpstr>技术方法-统计图表与可视化实现</vt:lpstr>
      <vt:lpstr>技术方法-统计图表与可视化实现</vt:lpstr>
      <vt:lpstr>技术方法-统计图表与可视化实现</vt:lpstr>
      <vt:lpstr>技术方法-统计图表与可视化实现</vt:lpstr>
      <vt:lpstr>技术方法-JWT 鉴权机制</vt:lpstr>
      <vt:lpstr>技术方法-JWT 鉴权机制</vt:lpstr>
      <vt:lpstr>技术方法-用户管理板块实现</vt:lpstr>
      <vt:lpstr>技术方法-用户管理板块实现</vt:lpstr>
      <vt:lpstr>技术方法-用户管理板块实现</vt:lpstr>
      <vt:lpstr>技术方法-用户管理板块实现</vt:lpstr>
      <vt:lpstr>技术方法-安全机制设计</vt:lpstr>
      <vt:lpstr>技术方法-安全机制设计</vt:lpstr>
      <vt:lpstr>技术方法-安全机制设计</vt:lpstr>
      <vt:lpstr>技术方法-安全机制设计</vt:lpstr>
      <vt:lpstr>技术方法-安全机制设计</vt:lpstr>
      <vt:lpstr>技术方法-安全机制设计</vt:lpstr>
      <vt:lpstr>技术方法-安全机制设计</vt:lpstr>
      <vt:lpstr>技术方法-CA证书部署</vt:lpstr>
      <vt:lpstr>技术方法-测试用例</vt:lpstr>
      <vt:lpstr>技术方法-测试用例</vt:lpstr>
      <vt:lpstr>技术方法-测试用例</vt:lpstr>
      <vt:lpstr>技术方法-测试用例</vt:lpstr>
      <vt:lpstr>PowerPoint 演示文稿</vt:lpstr>
      <vt:lpstr>评分点-create</vt:lpstr>
      <vt:lpstr>评分点-insert</vt:lpstr>
      <vt:lpstr>评分点-update</vt:lpstr>
      <vt:lpstr>评分点-delete</vt:lpstr>
      <vt:lpstr>评分点-delete</vt:lpstr>
      <vt:lpstr>评分点-select</vt:lpstr>
      <vt:lpstr>评分点-select</vt:lpstr>
      <vt:lpstr>评分点-select</vt:lpstr>
      <vt:lpstr>评分点-select</vt:lpstr>
      <vt:lpstr>评分点-select</vt:lpstr>
      <vt:lpstr>评分点-TRIGGER</vt:lpstr>
      <vt:lpstr>评分点-view、order by、group by</vt:lpstr>
      <vt:lpstr>评分点-index</vt:lpstr>
      <vt:lpstr>评分点-SUBSTRING</vt:lpstr>
      <vt:lpstr>评分点-sum</vt:lpstr>
      <vt:lpstr>评分点-round</vt:lpstr>
      <vt:lpstr>评分点-case</vt:lpstr>
      <vt:lpstr>评分点-SUBSTRING_INDEX</vt:lpstr>
      <vt:lpstr>评分点-grant</vt:lpstr>
      <vt:lpstr>评分点-permission</vt:lpstr>
      <vt:lpstr>PowerPoint 演示文稿</vt:lpstr>
      <vt:lpstr>总结与展望</vt:lpstr>
      <vt:lpstr>谢谢聆听！ 欢迎提问与指正！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Rogann Te</dc:creator>
  <cp:lastModifiedBy>吴梓锋</cp:lastModifiedBy>
  <cp:revision>1061</cp:revision>
  <dcterms:created xsi:type="dcterms:W3CDTF">2023-09-10T06:51:00Z</dcterms:created>
  <dcterms:modified xsi:type="dcterms:W3CDTF">2025-06-13T02:04:19Z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7B59DC1610C24358AE9A15C01A58F0BE_13</vt:lpwstr>
  </property>
  <property fmtid="{D5CDD505-2E9C-101B-9397-08002B2CF9AE}" pid="3" name="KSOProductBuildVer">
    <vt:lpwstr>2052-12.1.0.20305</vt:lpwstr>
  </property>
</Properties>
</file>